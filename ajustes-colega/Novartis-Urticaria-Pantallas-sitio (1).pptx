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5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9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6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1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3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7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9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90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88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97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92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6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95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91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93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097280" y="1645920"/>
            <a:ext cx="10058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NOVARTIS · MÁS QUE URTICARIA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Catálogo Visual de Pantallas y Flujos</a:t>
            </a:r>
            <a:br>
              <a:rPr b="0" i="0" lang="en-US" sz="18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Home, información, recursos, quiz y directorio médico.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762000" y="457200"/>
            <a:ext cx="1066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ESTRUCTURA DEL SITIO WEB</a:t>
            </a:r>
            <a:endParaRPr b="1" sz="1100">
              <a:solidFill>
                <a:srgbClr val="E058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Índice de secciones y capturas</a:t>
            </a:r>
            <a:endParaRPr b="1" sz="2600">
              <a:solidFill>
                <a:srgbClr val="2238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14"/>
          <p:cNvGrpSpPr/>
          <p:nvPr/>
        </p:nvGrpSpPr>
        <p:grpSpPr>
          <a:xfrm>
            <a:off x="762000" y="1524000"/>
            <a:ext cx="1981200" cy="4667400"/>
            <a:chOff x="0" y="0"/>
            <a:chExt cx="1981200" cy="4667400"/>
          </a:xfrm>
        </p:grpSpPr>
        <p:sp>
          <p:nvSpPr>
            <p:cNvPr id="93" name="Google Shape;93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E058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0584D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28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HOME Y VARIANTES CONTEXTUALES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Inicio, contenido inferior y variantes según clima y hora.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4"/>
          <p:cNvGrpSpPr/>
          <p:nvPr/>
        </p:nvGrpSpPr>
        <p:grpSpPr>
          <a:xfrm>
            <a:off x="2933700" y="1524000"/>
            <a:ext cx="1981200" cy="4667400"/>
            <a:chOff x="0" y="0"/>
            <a:chExt cx="1981200" cy="4667400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0081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81A8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2800">
                <a:solidFill>
                  <a:srgbClr val="0081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LANDINGS INFORMATIVAS Y CLÍNICAS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Síntomas, tratamientos, institución, preguntas frecuentes y 404.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5105400" y="1524000"/>
            <a:ext cx="1981200" cy="4667400"/>
            <a:chOff x="0" y="0"/>
            <a:chExt cx="1981200" cy="4667400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5A6A6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28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RECURSOS Y HERRAMIENTAS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Diario, biblioteca visual y formulario de testimonios.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7277100" y="1524000"/>
            <a:ext cx="1981200" cy="4667400"/>
            <a:chOff x="0" y="0"/>
            <a:chExt cx="1981200" cy="466740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E058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0584D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28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QUIZ ORIENTATIVO Y URGENCIAS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Preguntas, urgencia, resultados, resumen y directorio.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9448800" y="1524000"/>
            <a:ext cx="1981200" cy="4667400"/>
            <a:chOff x="0" y="0"/>
            <a:chExt cx="1981200" cy="4667400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1981200" cy="4667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fmla="val 50000" name="adj"/>
              </a:avLst>
            </a:prstGeom>
            <a:solidFill>
              <a:srgbClr val="0081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171450" y="228600"/>
              <a:ext cx="1638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81A8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b="1" sz="2800">
                <a:solidFill>
                  <a:srgbClr val="0081A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383F"/>
                  </a:solidFill>
                  <a:latin typeface="Calibri"/>
                  <a:ea typeface="Calibri"/>
                  <a:cs typeface="Calibri"/>
                  <a:sym typeface="Calibri"/>
                </a:rPr>
                <a:t>DIRECTORIO MÉDICO Y BLOG EDITORIAL</a:t>
              </a:r>
              <a:endParaRPr b="1" sz="13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A6A6D"/>
                  </a:solidFill>
                  <a:latin typeface="Calibri"/>
                  <a:ea typeface="Calibri"/>
                  <a:cs typeface="Calibri"/>
                  <a:sym typeface="Calibri"/>
                </a:rPr>
                <a:t>Directorio médico y los cuatro artículos del blog.</a:t>
              </a:r>
              <a:endParaRPr sz="1000">
                <a:solidFill>
                  <a:srgbClr val="5A6A6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371600" y="2011680"/>
            <a:ext cx="9601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01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 Y VARIANTES CONTEXTUALES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Inicio, contenido inferior y variantes según clima y hora.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día: Captura 1 de 7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día: Captura 1 de 7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día: Captura 2 de 7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día: Captura 2 de 7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día: Captura 3 de 7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día: Captura 3 de 7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día: Captura 4 de 7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día: Captura 4 de 7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scenario día: Captura 5 de 7</a:t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día: Captura 5 de 7"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día: Captura 6 de 7</a:t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día: Captura 6 de 7" id="160" name="Google Shape;1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día: Captura 7 de 7</a:t>
            </a: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día: Captura 7 de 7" id="167" name="Google Shape;1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calor</a:t>
            </a:r>
            <a:endParaRPr/>
          </a:p>
        </p:txBody>
      </p:sp>
      <p:sp>
        <p:nvSpPr>
          <p:cNvPr id="173" name="Google Shape;173;p2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calor" id="174" name="Google Shape;1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frío</a:t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frío" id="181" name="Google Shape;1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madrugada</a:t>
            </a:r>
            <a:endParaRPr/>
          </a:p>
        </p:txBody>
      </p:sp>
      <p:sp>
        <p:nvSpPr>
          <p:cNvPr id="187" name="Google Shape;187;p2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madrugada" id="188" name="Google Shape;1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HOME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Inicio: escenario noche cálida</a:t>
            </a:r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icio: escenario noche cálida" id="195" name="Google Shape;1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1371600" y="2011680"/>
            <a:ext cx="9601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02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SINTOMAS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Síntomas, tratamientos, institución, preguntas frecuentes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1 de 7</a:t>
            </a:r>
            <a:endParaRPr/>
          </a:p>
        </p:txBody>
      </p:sp>
      <p:sp>
        <p:nvSpPr>
          <p:cNvPr id="208" name="Google Shape;208;p2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1 de 7" id="209" name="Google Shape;2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2 de 7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2 de 7" id="216" name="Google Shape;2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3 de 7</a:t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3 de 7" id="223" name="Google Shape;22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4 de 7</a:t>
            </a:r>
            <a:endParaRPr/>
          </a:p>
        </p:txBody>
      </p:sp>
      <p:sp>
        <p:nvSpPr>
          <p:cNvPr id="229" name="Google Shape;229;p3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4 de 7"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5 de 7</a:t>
            </a:r>
            <a:endParaRPr/>
          </a:p>
        </p:txBody>
      </p:sp>
      <p:sp>
        <p:nvSpPr>
          <p:cNvPr id="236" name="Google Shape;236;p3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5 de 7" id="237" name="Google Shape;23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6 de 7</a:t>
            </a:r>
            <a:endParaRPr/>
          </a:p>
        </p:txBody>
      </p:sp>
      <p:sp>
        <p:nvSpPr>
          <p:cNvPr id="243" name="Google Shape;243;p3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6 de 7" id="244" name="Google Shape;24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Síntomas de la UCE (/sintomas/): Captura 7 de 7</a:t>
            </a:r>
            <a:endParaRPr/>
          </a:p>
        </p:txBody>
      </p:sp>
      <p:sp>
        <p:nvSpPr>
          <p:cNvPr id="250" name="Google Shape;250;p3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íntomas de la UCE (/sintomas/): Captura 7 de 7" id="251" name="Google Shape;2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 · VISTA 20 DE 124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1 de 7</a:t>
            </a:r>
            <a:endParaRPr/>
          </a:p>
        </p:txBody>
      </p:sp>
      <p:sp>
        <p:nvSpPr>
          <p:cNvPr id="257" name="Google Shape;257;p3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1 de 7" id="258" name="Google Shape;2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2 de 7</a:t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2 de 7" id="265" name="Google Shape;26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3 de 7</a:t>
            </a:r>
            <a:endParaRPr/>
          </a:p>
        </p:txBody>
      </p:sp>
      <p:sp>
        <p:nvSpPr>
          <p:cNvPr id="271" name="Google Shape;271;p3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3 de 7" id="272" name="Google Shape;27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4 de 7</a:t>
            </a:r>
            <a:endParaRPr/>
          </a:p>
        </p:txBody>
      </p:sp>
      <p:sp>
        <p:nvSpPr>
          <p:cNvPr id="278" name="Google Shape;278;p3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4 de 7" id="279" name="Google Shape;2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/>
        </p:nvSpPr>
        <p:spPr>
          <a:xfrm>
            <a:off x="492715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5 de 7</a:t>
            </a:r>
            <a:endParaRPr/>
          </a:p>
        </p:txBody>
      </p:sp>
      <p:sp>
        <p:nvSpPr>
          <p:cNvPr id="285" name="Google Shape;285;p3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5 de 7" id="286" name="Google Shape;2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(/tratamiento/): Captura 6 de 7</a:t>
            </a:r>
            <a:endParaRPr/>
          </a:p>
        </p:txBody>
      </p:sp>
      <p:sp>
        <p:nvSpPr>
          <p:cNvPr id="292" name="Google Shape;292;p4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6 de 7" id="293" name="Google Shape;29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Tratamientos para la UCE 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(/tratamiento/): 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Captura 7 de 7</a:t>
            </a:r>
            <a:endParaRPr/>
          </a:p>
        </p:txBody>
      </p:sp>
      <p:sp>
        <p:nvSpPr>
          <p:cNvPr id="299" name="Google Shape;299;p4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atamientos para la UCE (/tratamiento/): Captura 7 de 7" id="300" name="Google Shape;30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Sobre nosotros (/sobre-nosotros/): Captura 1 de 5</a:t>
            </a:r>
            <a:endParaRPr/>
          </a:p>
        </p:txBody>
      </p:sp>
      <p:sp>
        <p:nvSpPr>
          <p:cNvPr id="306" name="Google Shape;306;p4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bre nosotros (/sobre-nosotros/): Captura 1 de 5" id="307" name="Google Shape;30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Sobre nosotros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 (/sobre-nosotros/)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: Captura 2 de 5</a:t>
            </a:r>
            <a:endParaRPr/>
          </a:p>
        </p:txBody>
      </p:sp>
      <p:sp>
        <p:nvSpPr>
          <p:cNvPr id="313" name="Google Shape;313;p4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bre nosotros (/sobre-nosotros/): Captura 2 de 5" id="314" name="Google Shape;31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</a:t>
            </a: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Sobre nosotros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 (/sobre-nosotros/)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: Captura 3 de 5</a:t>
            </a:r>
            <a:endParaRPr/>
          </a:p>
        </p:txBody>
      </p:sp>
      <p:sp>
        <p:nvSpPr>
          <p:cNvPr id="320" name="Google Shape;320;p4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bre nosotros (/sobre-nosotros/): Captura 3 de 5" id="321" name="Google Shape;32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LANDINGS INFORMATIVAS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Sobre nosotros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 (/sobre-nosotros/)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: Captura 4 de 5</a:t>
            </a:r>
            <a:endParaRPr/>
          </a:p>
        </p:txBody>
      </p:sp>
      <p:sp>
        <p:nvSpPr>
          <p:cNvPr id="327" name="Google Shape;327;p4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bre nosotros (/sobre-nosotros/): Captura 4 de 5" id="328" name="Google Shape;32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6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6"/>
          <p:cNvSpPr txBox="1"/>
          <p:nvPr/>
        </p:nvSpPr>
        <p:spPr>
          <a:xfrm>
            <a:off x="1371600" y="2011680"/>
            <a:ext cx="9601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03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RECURSOS Y HERRAMIENTAS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Diario, biblioteca visual y formulario de testimonios.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Hub de Recursos y Herramientas (/recursos-herramientas/): Captura 1 de 5</a:t>
            </a:r>
            <a:endParaRPr/>
          </a:p>
        </p:txBody>
      </p:sp>
      <p:sp>
        <p:nvSpPr>
          <p:cNvPr id="341" name="Google Shape;341;p4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ub de Recursos y Herramientas (/recursos-herramientas/): Captura 1 de 5" id="342" name="Google Shape;34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Hub de Recursos y Herramientas (/recursos-herramientas/): Captura 2 de 5</a:t>
            </a:r>
            <a:endParaRPr/>
          </a:p>
        </p:txBody>
      </p:sp>
      <p:sp>
        <p:nvSpPr>
          <p:cNvPr id="348" name="Google Shape;348;p4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ub de Recursos y Herramientas (/recursos-herramientas/): Captura 2 de 5" id="349" name="Google Shape;34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Hub de Recursos y Herramientas (/recursos-herramientas/): Captura 3 de 5</a:t>
            </a:r>
            <a:endParaRPr/>
          </a:p>
        </p:txBody>
      </p:sp>
      <p:sp>
        <p:nvSpPr>
          <p:cNvPr id="355" name="Google Shape;355;p4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ub de Recursos y Herramientas (/recursos-herramientas/): Captura 3 de 5" id="356" name="Google Shape;35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Biblioteca visual: Imagen ampliada</a:t>
            </a:r>
            <a:endParaRPr/>
          </a:p>
        </p:txBody>
      </p:sp>
      <p:sp>
        <p:nvSpPr>
          <p:cNvPr id="362" name="Google Shape;362;p5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iblioteca visual: Imagen ampliada" id="363" name="Google Shape;36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1 de 6</a:t>
            </a:r>
            <a:endParaRPr/>
          </a:p>
        </p:txBody>
      </p:sp>
      <p:sp>
        <p:nvSpPr>
          <p:cNvPr id="369" name="Google Shape;369;p5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1 de 6" id="370" name="Google Shape;37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2 de 6</a:t>
            </a:r>
            <a:endParaRPr/>
          </a:p>
        </p:txBody>
      </p:sp>
      <p:sp>
        <p:nvSpPr>
          <p:cNvPr id="376" name="Google Shape;376;p5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2 de 6" id="377" name="Google Shape;37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3 de 6</a:t>
            </a:r>
            <a:endParaRPr/>
          </a:p>
        </p:txBody>
      </p:sp>
      <p:sp>
        <p:nvSpPr>
          <p:cNvPr id="383" name="Google Shape;383;p5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3 de 6" id="384" name="Google Shape;3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4 de 6</a:t>
            </a:r>
            <a:endParaRPr/>
          </a:p>
        </p:txBody>
      </p:sp>
      <p:sp>
        <p:nvSpPr>
          <p:cNvPr id="390" name="Google Shape;390;p5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4 de 6" id="391" name="Google Shape;39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 de Síntomas (/diario/): Captura 5 de 6</a:t>
            </a:r>
            <a:endParaRPr/>
          </a:p>
        </p:txBody>
      </p:sp>
      <p:sp>
        <p:nvSpPr>
          <p:cNvPr id="397" name="Google Shape;397;p5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 de Síntomas (/diario/): Captura 5 de 6" id="398" name="Google Shape;39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Diario: Selector de fecha</a:t>
            </a:r>
            <a:endParaRPr/>
          </a:p>
        </p:txBody>
      </p:sp>
      <p:sp>
        <p:nvSpPr>
          <p:cNvPr id="404" name="Google Shape;404;p5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: Selector de fecha" id="405" name="Google Shape;40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</a:t>
            </a:r>
            <a: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Diario: Registro con datos de ejemplo y totales</a:t>
            </a:r>
            <a:endParaRPr/>
          </a:p>
        </p:txBody>
      </p:sp>
      <p:sp>
        <p:nvSpPr>
          <p:cNvPr id="411" name="Google Shape;411;p5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rio: Registro con datos de ejemplo y totales" id="412" name="Google Shape;4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1 de 6</a:t>
            </a:r>
            <a:endParaRPr/>
          </a:p>
        </p:txBody>
      </p:sp>
      <p:sp>
        <p:nvSpPr>
          <p:cNvPr id="418" name="Google Shape;418;p5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1 de 6" id="419" name="Google Shape;41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2 de 6</a:t>
            </a:r>
            <a:endParaRPr/>
          </a:p>
        </p:txBody>
      </p:sp>
      <p:sp>
        <p:nvSpPr>
          <p:cNvPr id="425" name="Google Shape;425;p5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2 de 6" id="426" name="Google Shape;4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b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3 de 6</a:t>
            </a:r>
            <a:endParaRPr/>
          </a:p>
        </p:txBody>
      </p:sp>
      <p:sp>
        <p:nvSpPr>
          <p:cNvPr id="432" name="Google Shape;432;p6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3 de 6" id="433" name="Google Shape;43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4 de 6</a:t>
            </a:r>
            <a:endParaRPr/>
          </a:p>
        </p:txBody>
      </p:sp>
      <p:sp>
        <p:nvSpPr>
          <p:cNvPr id="439" name="Google Shape;439;p6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4 de 6" id="440" name="Google Shape;44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 y comunidad (/testimonios/): Captura 5 de 6</a:t>
            </a:r>
            <a:endParaRPr/>
          </a:p>
        </p:txBody>
      </p:sp>
      <p:sp>
        <p:nvSpPr>
          <p:cNvPr id="446" name="Google Shape;446;p6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 y comunidad (/testimonios/): Captura 5 de 6" id="447" name="Google Shape;44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Testimonios: Formulario para compartir de forma anónima</a:t>
            </a:r>
            <a:endParaRPr/>
          </a:p>
        </p:txBody>
      </p:sp>
      <p:sp>
        <p:nvSpPr>
          <p:cNvPr id="453" name="Google Shape;453;p6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: Formulario para compartir de forma anónima" id="454" name="Google Shape;45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b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Testimonios: Formulario c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on nombre opcional</a:t>
            </a:r>
            <a:endParaRPr/>
          </a:p>
        </p:txBody>
      </p:sp>
      <p:sp>
        <p:nvSpPr>
          <p:cNvPr id="460" name="Google Shape;460;p6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: Formulario con nombre opcional" id="461" name="Google Shape;46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Testimonios: Consentimiento y envío de historia de ejemplo</a:t>
            </a:r>
            <a:endParaRPr/>
          </a:p>
        </p:txBody>
      </p:sp>
      <p:sp>
        <p:nvSpPr>
          <p:cNvPr id="467" name="Google Shape;467;p6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: Consentimiento y envío de historia de ejemplo" id="468" name="Google Shape;46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RECURSOS Y HERRAMIENTAS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Testimonios: Confirmación del registro en el prototipo</a:t>
            </a:r>
            <a:endParaRPr/>
          </a:p>
        </p:txBody>
      </p:sp>
      <p:sp>
        <p:nvSpPr>
          <p:cNvPr id="474" name="Google Shape;474;p6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stimonios: Confirmación del registro en el prototipo" id="475" name="Google Shape;4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6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7"/>
          <p:cNvSpPr txBox="1"/>
          <p:nvPr/>
        </p:nvSpPr>
        <p:spPr>
          <a:xfrm>
            <a:off x="1371600" y="2011680"/>
            <a:ext cx="9601200" cy="14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04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QUIZ ORIENTATIVO </a:t>
            </a:r>
            <a:b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Preguntas, urgencia, resultados, resumen y directorio.</a:t>
            </a:r>
            <a:b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</a:t>
            </a:r>
            <a:endParaRPr b="1" sz="1100">
              <a:solidFill>
                <a:srgbClr val="E058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Q0: Nombre opcional</a:t>
            </a:r>
            <a:endParaRPr/>
          </a:p>
        </p:txBody>
      </p:sp>
      <p:sp>
        <p:nvSpPr>
          <p:cNvPr id="488" name="Google Shape;488;p6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0: Nombre opcional" id="489" name="Google Shape;48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Q1: Síntomas presentados (selección múltiple)</a:t>
            </a:r>
            <a:endParaRPr/>
          </a:p>
        </p:txBody>
      </p:sp>
      <p:sp>
        <p:nvSpPr>
          <p:cNvPr id="495" name="Google Shape;495;p6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: Síntomas presentados (selección múltiple)" id="496" name="Google Shape;49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Q1b: Descarte de urgencia (solo si hay hinchazón)</a:t>
            </a:r>
            <a:endParaRPr/>
          </a:p>
        </p:txBody>
      </p:sp>
      <p:sp>
        <p:nvSpPr>
          <p:cNvPr id="502" name="Google Shape;502;p7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b: Descarte de urgencia (solo si hay hinchazón)" id="503" name="Google Shape;50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Urgencia: Interrupción del cuestionario y llamada al 911</a:t>
            </a:r>
            <a:endParaRPr/>
          </a:p>
        </p:txBody>
      </p:sp>
      <p:sp>
        <p:nvSpPr>
          <p:cNvPr id="509" name="Google Shape;509;p7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rgencia: Interrupción del cuestionario y llamada al 911" id="510" name="Google Shape;51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Q2: Tiempo con síntomas</a:t>
            </a:r>
            <a:endParaRPr/>
          </a:p>
        </p:txBody>
      </p:sp>
      <p:sp>
        <p:nvSpPr>
          <p:cNvPr id="516" name="Google Shape;516;p7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2: Tiempo con síntomas" id="517" name="Google Shape;5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Q3: Cantidad de ronchas (si Q1 incluye ronchas)</a:t>
            </a:r>
            <a:endParaRPr/>
          </a:p>
        </p:txBody>
      </p:sp>
      <p:sp>
        <p:nvSpPr>
          <p:cNvPr id="523" name="Google Shape;523;p7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3: Cantidad de ronchas (si Q1 incluye ronchas)" id="524" name="Google Shape;52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Q4: Intensidad de comezón (si Q1 incluye comezón)</a:t>
            </a:r>
            <a:endParaRPr/>
          </a:p>
        </p:txBody>
      </p:sp>
      <p:sp>
        <p:nvSpPr>
          <p:cNvPr id="530" name="Google Shape;530;p7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4: Intensidad de comezón (si Q1 incluye comezón)" id="531" name="Google Shape;53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Q5: Severidad de hinchazón (si Q1 incluye hinchazón)</a:t>
            </a:r>
            <a:endParaRPr/>
          </a:p>
        </p:txBody>
      </p:sp>
      <p:sp>
        <p:nvSpPr>
          <p:cNvPr id="537" name="Google Shape;537;p7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5: Severidad de hinchazón (si Q1 incluye hinchazón)" id="538" name="Google Shape;53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Q6: Áreas de vida afectadas (selección múltiple)</a:t>
            </a:r>
            <a:endParaRPr/>
          </a:p>
        </p:txBody>
      </p:sp>
      <p:sp>
        <p:nvSpPr>
          <p:cNvPr id="544" name="Google Shape;544;p7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6: Áreas de vida afectadas (selección múltiple)" id="545" name="Google Shape;54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Q7: Actividades diarias (si se seleccionó en Q6)</a:t>
            </a:r>
            <a:endParaRPr/>
          </a:p>
        </p:txBody>
      </p:sp>
      <p:sp>
        <p:nvSpPr>
          <p:cNvPr id="551" name="Google Shape;551;p7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7: Actividades diarias (si se seleccionó en Q6)" id="552" name="Google Shape;55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Q8: Relaciones familiares y sociales (si se seleccionó en Q6)</a:t>
            </a:r>
            <a:endParaRPr/>
          </a:p>
        </p:txBody>
      </p:sp>
      <p:sp>
        <p:nvSpPr>
          <p:cNvPr id="558" name="Google Shape;558;p7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8: Relaciones familiares y sociales (si se seleccionó en Q6)" id="559" name="Google Shape;55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Q8b: Vida sexual (si se seleccionó en Q6)</a:t>
            </a:r>
            <a:endParaRPr/>
          </a:p>
        </p:txBody>
      </p:sp>
      <p:sp>
        <p:nvSpPr>
          <p:cNvPr id="565" name="Google Shape;565;p7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8b: Vida sexual (si se seleccionó en Q6)" id="566" name="Google Shape;56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0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· VISTA 74 DE 124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Q9: Vestimenta (si se seleccionó en Q6)</a:t>
            </a:r>
            <a:endParaRPr/>
          </a:p>
        </p:txBody>
      </p:sp>
      <p:sp>
        <p:nvSpPr>
          <p:cNvPr id="572" name="Google Shape;572;p8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9: Vestimenta (si se seleccionó en Q6)" id="573" name="Google Shape;57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Q10: Trabajo o estudios (si se seleccionó en Q6)</a:t>
            </a:r>
            <a:endParaRPr/>
          </a:p>
        </p:txBody>
      </p:sp>
      <p:sp>
        <p:nvSpPr>
          <p:cNvPr id="579" name="Google Shape;579;p8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0: Trabajo o estudios (si se seleccionó en Q6)" id="580" name="Google Shape;58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Q11: Sueño (si se seleccionó en Q6)</a:t>
            </a:r>
            <a:endParaRPr/>
          </a:p>
        </p:txBody>
      </p:sp>
      <p:sp>
        <p:nvSpPr>
          <p:cNvPr id="586" name="Google Shape;586;p8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1: Sueño (si se seleccionó en Q6)" id="587" name="Google Shape;587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Q12: Posibles desencadenantes (selección múltiple)</a:t>
            </a:r>
            <a:endParaRPr/>
          </a:p>
        </p:txBody>
      </p:sp>
      <p:sp>
        <p:nvSpPr>
          <p:cNvPr id="593" name="Google Shape;593;p8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2: Posibles desencadenantes (selección múltiple)" id="594" name="Google Shape;59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Q13: Momento de mayor intensidad</a:t>
            </a:r>
            <a:endParaRPr/>
          </a:p>
        </p:txBody>
      </p:sp>
      <p:sp>
        <p:nvSpPr>
          <p:cNvPr id="600" name="Google Shape;600;p8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3: Momento de mayor intensidad" id="601" name="Google Shape;60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Q14: Consulta médica previa</a:t>
            </a:r>
            <a:endParaRPr/>
          </a:p>
        </p:txBody>
      </p:sp>
      <p:sp>
        <p:nvSpPr>
          <p:cNvPr id="607" name="Google Shape;607;p8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4: Consulta médica previa" id="608" name="Google Shape;608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Q15: Frecuencia de consulta (solo si Q14 = Sí)</a:t>
            </a:r>
            <a:endParaRPr/>
          </a:p>
        </p:txBody>
      </p:sp>
      <p:sp>
        <p:nvSpPr>
          <p:cNvPr id="614" name="Google Shape;614;p8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5: Frecuencia de consulta (solo si Q14 = Sí)" id="615" name="Google Shape;61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</a:t>
            </a:r>
            <a:r>
              <a:rPr b="1" lang="en-US" sz="1100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Q16: Especialistas consultados (solo si Q14 = Sí)</a:t>
            </a:r>
            <a:endParaRPr/>
          </a:p>
        </p:txBody>
      </p:sp>
      <p:sp>
        <p:nvSpPr>
          <p:cNvPr id="621" name="Google Shape;621;p8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6: Especialistas consultados (solo si Q14 = Sí)" id="622" name="Google Shape;62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8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Q17: Tratamiento previo</a:t>
            </a:r>
            <a:endParaRPr/>
          </a:p>
        </p:txBody>
      </p:sp>
      <p:sp>
        <p:nvSpPr>
          <p:cNvPr id="628" name="Google Shape;628;p8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7: Tratamiento previo" id="629" name="Google Shape;629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Q18: Tipos de tratamiento (solo si Q17 = Sí)</a:t>
            </a:r>
            <a:endParaRPr/>
          </a:p>
        </p:txBody>
      </p:sp>
      <p:sp>
        <p:nvSpPr>
          <p:cNvPr id="635" name="Google Shape;635;p8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8: Tipos de tratamiento (solo si Q17 = Sí)" id="636" name="Google Shape;63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9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Q19: Efectividad del tratamiento (solo si Q17 = Sí)</a:t>
            </a:r>
            <a:endParaRPr/>
          </a:p>
        </p:txBody>
      </p:sp>
      <p:sp>
        <p:nvSpPr>
          <p:cNvPr id="642" name="Google Shape;642;p9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19: Efectividad del tratamiento (solo si Q17 = Sí)" id="643" name="Google Shape;64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poco efectivo: Captura 1 de 4</a:t>
            </a:r>
            <a:endParaRPr/>
          </a:p>
        </p:txBody>
      </p:sp>
      <p:sp>
        <p:nvSpPr>
          <p:cNvPr id="649" name="Google Shape;649;p9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poco efectivo: Captura 1 de 4" id="650" name="Google Shape;650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9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poco efectivo: Captura 2 de 4</a:t>
            </a:r>
            <a:endParaRPr/>
          </a:p>
        </p:txBody>
      </p:sp>
      <p:sp>
        <p:nvSpPr>
          <p:cNvPr id="656" name="Google Shape;656;p9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poco efectivo: Captura 2 de 4" id="657" name="Google Shape;6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9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poco efectivo: Captura 3 de 4</a:t>
            </a:r>
            <a:endParaRPr/>
          </a:p>
        </p:txBody>
      </p:sp>
      <p:sp>
        <p:nvSpPr>
          <p:cNvPr id="663" name="Google Shape;663;p9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poco efectivo: Captura 3 de 4" id="664" name="Google Shape;66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4"/>
          <p:cNvSpPr txBox="1"/>
          <p:nvPr/>
        </p:nvSpPr>
        <p:spPr>
          <a:xfrm>
            <a:off x="548640" y="182880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 · VISTA 88 DE 124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poco efectivo: Captura 4 de 4</a:t>
            </a:r>
            <a:endParaRPr/>
          </a:p>
        </p:txBody>
      </p:sp>
      <p:sp>
        <p:nvSpPr>
          <p:cNvPr id="670" name="Google Shape;670;p9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poco efectivo: Captura 4 de 4" id="671" name="Google Shape;67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Confirmación de copia del resumen</a:t>
            </a:r>
            <a:endParaRPr/>
          </a:p>
        </p:txBody>
      </p:sp>
      <p:sp>
        <p:nvSpPr>
          <p:cNvPr id="677" name="Google Shape;677;p9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Confirmación de copia del resumen" id="678" name="Google Shape;678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9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Confirmación de descarga del resumen</a:t>
            </a:r>
            <a:endParaRPr/>
          </a:p>
        </p:txBody>
      </p:sp>
      <p:sp>
        <p:nvSpPr>
          <p:cNvPr id="684" name="Google Shape;684;p9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Confirmación de descarga del resumen" id="685" name="Google Shape;685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7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Quiz: directorio y botón Volver: Captura 1 de 2</a:t>
            </a:r>
            <a:endParaRPr/>
          </a:p>
        </p:txBody>
      </p:sp>
      <p:sp>
        <p:nvSpPr>
          <p:cNvPr id="691" name="Google Shape;691;p97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iz: directorio y botón Volver: Captura 1 de 2" id="692" name="Google Shape;69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Quiz: directorio y botón Volver: Captura 2 de 2</a:t>
            </a:r>
            <a:endParaRPr/>
          </a:p>
        </p:txBody>
      </p:sp>
      <p:sp>
        <p:nvSpPr>
          <p:cNvPr id="698" name="Google Shape;698;p9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iz: directorio y botón Volver: Captura 2 de 2" id="699" name="Google Shape;69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Ruta sin síntomas (Q1 = Ninguno): Captura 1 de 2</a:t>
            </a:r>
            <a:endParaRPr/>
          </a:p>
        </p:txBody>
      </p:sp>
      <p:sp>
        <p:nvSpPr>
          <p:cNvPr id="705" name="Google Shape;705;p9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Ruta sin síntomas (Q1 = Ninguno): Captura 1 de 2" id="706" name="Google Shape;70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0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Ruta sin síntomas (Q1 = Ninguno): Captura 2 de 2</a:t>
            </a:r>
            <a:endParaRPr/>
          </a:p>
        </p:txBody>
      </p:sp>
      <p:sp>
        <p:nvSpPr>
          <p:cNvPr id="712" name="Google Shape;712;p10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Ruta sin síntomas (Q1 = Ninguno): Captura 2 de 2" id="713" name="Google Shape;71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sin consulta ni tratamiento previo: Captura 1 de 3</a:t>
            </a:r>
            <a:endParaRPr/>
          </a:p>
        </p:txBody>
      </p:sp>
      <p:sp>
        <p:nvSpPr>
          <p:cNvPr id="719" name="Google Shape;719;p10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sin consulta ni tratamiento previo: Captura 1 de 3" id="720" name="Google Shape;720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0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sin consulta ni tratamiento previo: Captura 2 de 3</a:t>
            </a:r>
            <a:endParaRPr/>
          </a:p>
        </p:txBody>
      </p:sp>
      <p:sp>
        <p:nvSpPr>
          <p:cNvPr id="726" name="Google Shape;726;p10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sin consulta ni tratamiento previo: Captura 2 de 3" id="727" name="Google Shape;72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sin consulta ni tratamiento previo: Captura 3 de 3</a:t>
            </a:r>
            <a:endParaRPr/>
          </a:p>
        </p:txBody>
      </p:sp>
      <p:sp>
        <p:nvSpPr>
          <p:cNvPr id="733" name="Google Shape;733;p10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sin consulta ni tratamiento previo: Captura 3 de 3" id="734" name="Google Shape;73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muy efectivo: Captura 1 de 3</a:t>
            </a:r>
            <a:endParaRPr/>
          </a:p>
        </p:txBody>
      </p:sp>
      <p:sp>
        <p:nvSpPr>
          <p:cNvPr id="740" name="Google Shape;740;p10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muy efectivo: Captura 1 de 3" id="741" name="Google Shape;741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0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muy efectivo: Captura 2 de 3</a:t>
            </a:r>
            <a:endParaRPr/>
          </a:p>
        </p:txBody>
      </p:sp>
      <p:sp>
        <p:nvSpPr>
          <p:cNvPr id="747" name="Google Shape;747;p10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muy efectivo: Captura 2 de 3" id="748" name="Google Shape;74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06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QUIZ ORIENTATIVO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Resultado: tratamiento muy efectivo: Captura 3 de 3</a:t>
            </a:r>
            <a:endParaRPr/>
          </a:p>
        </p:txBody>
      </p:sp>
      <p:sp>
        <p:nvSpPr>
          <p:cNvPr id="754" name="Google Shape;754;p106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: tratamiento muy efectivo: Captura 3 de 3" id="755" name="Google Shape;75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0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8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07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8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07"/>
          <p:cNvSpPr txBox="1"/>
          <p:nvPr/>
        </p:nvSpPr>
        <p:spPr>
          <a:xfrm>
            <a:off x="1371600" y="2011680"/>
            <a:ext cx="9601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 05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DIRECTORIO MÉDICO Y BLOG EDITORIAL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8D7DC"/>
                </a:solidFill>
                <a:latin typeface="Calibri"/>
                <a:ea typeface="Calibri"/>
                <a:cs typeface="Calibri"/>
                <a:sym typeface="Calibri"/>
              </a:rPr>
              <a:t>Directorio médico y los cuatro artículos del blog.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8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Directorio médico (/directorio-medico/): Captura 1 de 5</a:t>
            </a:r>
            <a:endParaRPr/>
          </a:p>
        </p:txBody>
      </p:sp>
      <p:sp>
        <p:nvSpPr>
          <p:cNvPr id="768" name="Google Shape;768;p108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rectorio médico (/directorio-medico/): Captura 1 de 5" id="769" name="Google Shape;769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9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Directorio médico (/directorio-medico/): Captura 2 de 5</a:t>
            </a:r>
            <a:endParaRPr/>
          </a:p>
        </p:txBody>
      </p:sp>
      <p:sp>
        <p:nvSpPr>
          <p:cNvPr id="775" name="Google Shape;775;p109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rectorio médico (/directorio-medico/): Captura 2 de 5" id="776" name="Google Shape;776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0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Directorio: Resultados filtrados por dermatología</a:t>
            </a:r>
            <a:endParaRPr/>
          </a:p>
        </p:txBody>
      </p:sp>
      <p:sp>
        <p:nvSpPr>
          <p:cNvPr id="782" name="Google Shape;782;p110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rectorio: Resultados filtrados por dermatología" id="783" name="Google Shape;783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11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 Editorial: Catálogo de Temas (/blog/): Captura 1 de 3</a:t>
            </a:r>
            <a:endParaRPr/>
          </a:p>
        </p:txBody>
      </p:sp>
      <p:sp>
        <p:nvSpPr>
          <p:cNvPr id="789" name="Google Shape;789;p111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 Editorial: Catálogo de Temas (/blog/): Captura 1 de 3" id="790" name="Google Shape;790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12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 Editorial: Catálogo de Temas (/blog/): Captura 2 de 3</a:t>
            </a:r>
            <a:endParaRPr/>
          </a:p>
        </p:txBody>
      </p:sp>
      <p:sp>
        <p:nvSpPr>
          <p:cNvPr id="796" name="Google Shape;796;p112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 Editorial: Catálogo de Temas (/blog/): Captura 2 de 3" id="797" name="Google Shape;79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13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 Editorial: Catálogo de Temas (/blog/): Captura 3 de 3</a:t>
            </a:r>
            <a:endParaRPr/>
          </a:p>
        </p:txBody>
      </p:sp>
      <p:sp>
        <p:nvSpPr>
          <p:cNvPr id="803" name="Google Shape;803;p113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 Editorial: Catálogo de Temas (/blog/): Captura 3 de 3" id="804" name="Google Shape;80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14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Blog: ¿Qué significa UCE?: Captura 1 de </a:t>
            </a:r>
            <a:r>
              <a:rPr b="1" lang="en-US" sz="17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10" name="Google Shape;810;p114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: ¿Qué significa UCE?: Captura 1 de 4" id="811" name="Google Shape;81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15"/>
          <p:cNvSpPr txBox="1"/>
          <p:nvPr/>
        </p:nvSpPr>
        <p:spPr>
          <a:xfrm>
            <a:off x="548640" y="182880"/>
            <a:ext cx="11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0584D"/>
                </a:solidFill>
                <a:latin typeface="Calibri"/>
                <a:ea typeface="Calibri"/>
                <a:cs typeface="Calibri"/>
                <a:sym typeface="Calibri"/>
              </a:rPr>
              <a:t>SECCIÓN: DIRECTORIO &amp; 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Blog: Mitos sobre dietas restrictivas: Captura </a:t>
            </a:r>
            <a:r>
              <a:rPr b="1" lang="en-US" sz="17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700" u="none" cap="none" strike="noStrike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b="1" lang="en-US" sz="1700">
                <a:solidFill>
                  <a:srgbClr val="2238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17" name="Google Shape;817;p115"/>
          <p:cNvSpPr/>
          <p:nvPr/>
        </p:nvSpPr>
        <p:spPr>
          <a:xfrm>
            <a:off x="986595" y="934720"/>
            <a:ext cx="10215760" cy="5765800"/>
          </a:xfrm>
          <a:prstGeom prst="rect">
            <a:avLst/>
          </a:prstGeom>
          <a:solidFill>
            <a:srgbClr val="DCD8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og: Mitos sobre dietas restrictivas: Captura 1 de 3" id="818" name="Google Shape;81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995" y="960120"/>
            <a:ext cx="1016496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