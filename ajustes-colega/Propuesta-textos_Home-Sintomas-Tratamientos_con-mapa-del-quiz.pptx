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1800000"/>
          </a:xfrm>
          <a:prstGeom prst="rect">
            <a:avLst/>
          </a:prstGeom>
          <a:noFill/>
        </p:spPr>
        <p:txBody>
          <a:bodyPr wrap="square" anchor="t" lIns="0" rIns="0" tIns="0" bIns="0">
            <a:spAutoFit/>
          </a:bodyPr>
          <a:lstStyle/>
          <a:p>
            <a:pPr>
              <a:spcAft>
                <a:spcPts val="1000"/>
              </a:spcAft>
            </a:pPr>
            <a:r>
              <a:rPr sz="1200" b="1">
                <a:solidFill>
                  <a:srgbClr val="E0584D"/>
                </a:solidFill>
                <a:latin typeface="Calibri"/>
              </a:rPr>
              <a:t>NOVARTIS · MÁS QUE URTICARIA</a:t>
            </a:r>
          </a:p>
          <a:p>
            <a:pPr>
              <a:spcAft>
                <a:spcPts val="800"/>
              </a:spcAft>
            </a:pPr>
            <a:r>
              <a:rPr sz="3400" b="1">
                <a:solidFill>
                  <a:srgbClr val="FFFFFF"/>
                </a:solidFill>
                <a:latin typeface="Calibri"/>
              </a:rPr>
              <a:t>Catálogo Visual de Pantallas y Flujos</a:t>
            </a:r>
          </a:p>
          <a:p>
            <a:r>
              <a:rPr sz="1600" b="0">
                <a:solidFill>
                  <a:srgbClr val="CBD5E1"/>
                </a:solidFill>
                <a:latin typeface="Calibri"/>
              </a:rPr>
              <a:t>Home, información, recursos, quiz y directorio médico.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ÍNDICE</a:t>
            </a:r>
          </a:p>
          <a:p>
            <a:r>
              <a:rPr sz="2000" b="1">
                <a:solidFill>
                  <a:srgbClr val="22383F"/>
                </a:solidFill>
                <a:latin typeface="Calibri"/>
              </a:rPr>
              <a:t>Contenido de esta propuesta</a:t>
            </a:r>
          </a:p>
        </p:txBody>
      </p:sp>
      <p:sp>
        <p:nvSpPr>
          <p:cNvPr id="4" name="Rectangle 3"/>
          <p:cNvSpPr/>
          <p:nvPr/>
        </p:nvSpPr>
        <p:spPr>
          <a:xfrm>
            <a:off x="355000" y="105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0000" y="1130000"/>
            <a:ext cx="3500000" cy="450000"/>
          </a:xfrm>
          <a:prstGeom prst="rect">
            <a:avLst/>
          </a:prstGeom>
          <a:noFill/>
        </p:spPr>
        <p:txBody>
          <a:bodyPr wrap="square" anchor="t" lIns="0" rIns="0" tIns="0" bIns="0">
            <a:spAutoFit/>
          </a:bodyPr>
          <a:lstStyle/>
          <a:p>
            <a:r>
              <a:rPr sz="1500" b="1">
                <a:solidFill>
                  <a:srgbClr val="22383F"/>
                </a:solidFill>
                <a:latin typeface="Calibri"/>
              </a:rPr>
              <a:t>Mapa del sitio</a:t>
            </a:r>
          </a:p>
        </p:txBody>
      </p:sp>
      <p:sp>
        <p:nvSpPr>
          <p:cNvPr id="6" name="TextBox 5"/>
          <p:cNvSpPr txBox="1"/>
          <p:nvPr/>
        </p:nvSpPr>
        <p:spPr>
          <a:xfrm>
            <a:off x="4100000" y="1140000"/>
            <a:ext cx="6400000" cy="450000"/>
          </a:xfrm>
          <a:prstGeom prst="rect">
            <a:avLst/>
          </a:prstGeom>
          <a:noFill/>
        </p:spPr>
        <p:txBody>
          <a:bodyPr wrap="square" anchor="t" lIns="0" rIns="0" tIns="0" bIns="0">
            <a:spAutoFit/>
          </a:bodyPr>
          <a:lstStyle/>
          <a:p>
            <a:r>
              <a:rPr sz="1150" b="0">
                <a:solidFill>
                  <a:srgbClr val="5A6A6D"/>
                </a:solidFill>
                <a:latin typeface="Calibri"/>
              </a:rPr>
              <a:t>Cómo se organiza el sitio y qué partes cubre esta propuesta</a:t>
            </a:r>
          </a:p>
        </p:txBody>
      </p:sp>
      <p:sp>
        <p:nvSpPr>
          <p:cNvPr id="7" name="TextBox 6"/>
          <p:cNvSpPr txBox="1"/>
          <p:nvPr/>
        </p:nvSpPr>
        <p:spPr>
          <a:xfrm>
            <a:off x="10600000" y="1130000"/>
            <a:ext cx="1100000" cy="450000"/>
          </a:xfrm>
          <a:prstGeom prst="rect">
            <a:avLst/>
          </a:prstGeom>
          <a:noFill/>
        </p:spPr>
        <p:txBody>
          <a:bodyPr wrap="square" anchor="t" lIns="0" rIns="0" tIns="0" bIns="0">
            <a:spAutoFit/>
          </a:bodyPr>
          <a:lstStyle/>
          <a:p>
            <a:pPr algn="r"/>
            <a:r>
              <a:rPr sz="1500" b="1">
                <a:solidFill>
                  <a:srgbClr val="E0584D"/>
                </a:solidFill>
                <a:latin typeface="Calibri"/>
              </a:rPr>
              <a:t>3</a:t>
            </a:r>
          </a:p>
        </p:txBody>
      </p:sp>
      <p:sp>
        <p:nvSpPr>
          <p:cNvPr id="8" name="Rectangle 7"/>
          <p:cNvSpPr/>
          <p:nvPr/>
        </p:nvSpPr>
        <p:spPr>
          <a:xfrm>
            <a:off x="355000" y="169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0000" y="1770000"/>
            <a:ext cx="3500000" cy="450000"/>
          </a:xfrm>
          <a:prstGeom prst="rect">
            <a:avLst/>
          </a:prstGeom>
          <a:noFill/>
        </p:spPr>
        <p:txBody>
          <a:bodyPr wrap="square" anchor="t" lIns="0" rIns="0" tIns="0" bIns="0">
            <a:spAutoFit/>
          </a:bodyPr>
          <a:lstStyle/>
          <a:p>
            <a:r>
              <a:rPr sz="1500" b="1">
                <a:solidFill>
                  <a:srgbClr val="22383F"/>
                </a:solidFill>
                <a:latin typeface="Calibri"/>
              </a:rPr>
              <a:t>01  Home</a:t>
            </a:r>
          </a:p>
        </p:txBody>
      </p:sp>
      <p:sp>
        <p:nvSpPr>
          <p:cNvPr id="10" name="TextBox 9"/>
          <p:cNvSpPr txBox="1"/>
          <p:nvPr/>
        </p:nvSpPr>
        <p:spPr>
          <a:xfrm>
            <a:off x="4100000" y="1780000"/>
            <a:ext cx="6400000" cy="450000"/>
          </a:xfrm>
          <a:prstGeom prst="rect">
            <a:avLst/>
          </a:prstGeom>
          <a:noFill/>
        </p:spPr>
        <p:txBody>
          <a:bodyPr wrap="square" anchor="t" lIns="0" rIns="0" tIns="0" bIns="0">
            <a:spAutoFit/>
          </a:bodyPr>
          <a:lstStyle/>
          <a:p>
            <a:r>
              <a:rPr sz="1150" b="0">
                <a:solidFill>
                  <a:srgbClr val="5A6A6D"/>
                </a:solidFill>
                <a:latin typeface="Calibri"/>
              </a:rPr>
              <a:t>La cabecera de la página de inicio cambia según la hora, el clima y la ciudad. Aquí se proponen los textos de cada escenario.</a:t>
            </a:r>
          </a:p>
        </p:txBody>
      </p:sp>
      <p:sp>
        <p:nvSpPr>
          <p:cNvPr id="11" name="TextBox 10"/>
          <p:cNvSpPr txBox="1"/>
          <p:nvPr/>
        </p:nvSpPr>
        <p:spPr>
          <a:xfrm>
            <a:off x="10600000" y="1770000"/>
            <a:ext cx="1100000" cy="450000"/>
          </a:xfrm>
          <a:prstGeom prst="rect">
            <a:avLst/>
          </a:prstGeom>
          <a:noFill/>
        </p:spPr>
        <p:txBody>
          <a:bodyPr wrap="square" anchor="t" lIns="0" rIns="0" tIns="0" bIns="0">
            <a:spAutoFit/>
          </a:bodyPr>
          <a:lstStyle/>
          <a:p>
            <a:pPr algn="r"/>
            <a:r>
              <a:rPr sz="1500" b="1">
                <a:solidFill>
                  <a:srgbClr val="E0584D"/>
                </a:solidFill>
                <a:latin typeface="Calibri"/>
              </a:rPr>
              <a:t>4–12</a:t>
            </a:r>
          </a:p>
        </p:txBody>
      </p:sp>
      <p:sp>
        <p:nvSpPr>
          <p:cNvPr id="12" name="Rectangle 11"/>
          <p:cNvSpPr/>
          <p:nvPr/>
        </p:nvSpPr>
        <p:spPr>
          <a:xfrm>
            <a:off x="355000" y="233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0000" y="2410000"/>
            <a:ext cx="3500000" cy="450000"/>
          </a:xfrm>
          <a:prstGeom prst="rect">
            <a:avLst/>
          </a:prstGeom>
          <a:noFill/>
        </p:spPr>
        <p:txBody>
          <a:bodyPr wrap="square" anchor="t" lIns="0" rIns="0" tIns="0" bIns="0">
            <a:spAutoFit/>
          </a:bodyPr>
          <a:lstStyle/>
          <a:p>
            <a:r>
              <a:rPr sz="1500" b="1">
                <a:solidFill>
                  <a:srgbClr val="22383F"/>
                </a:solidFill>
                <a:latin typeface="Calibri"/>
              </a:rPr>
              <a:t>02  Síntomas</a:t>
            </a:r>
          </a:p>
        </p:txBody>
      </p:sp>
      <p:sp>
        <p:nvSpPr>
          <p:cNvPr id="14" name="TextBox 13"/>
          <p:cNvSpPr txBox="1"/>
          <p:nvPr/>
        </p:nvSpPr>
        <p:spPr>
          <a:xfrm>
            <a:off x="4100000" y="2420000"/>
            <a:ext cx="6400000" cy="450000"/>
          </a:xfrm>
          <a:prstGeom prst="rect">
            <a:avLst/>
          </a:prstGeom>
          <a:noFill/>
        </p:spPr>
        <p:txBody>
          <a:bodyPr wrap="square" anchor="t" lIns="0" rIns="0" tIns="0" bIns="0">
            <a:spAutoFit/>
          </a:bodyPr>
          <a:lstStyle/>
          <a:p>
            <a:r>
              <a:rPr sz="1150" b="0">
                <a:solidFill>
                  <a:srgbClr val="5A6A6D"/>
                </a:solidFill>
                <a:latin typeface="Calibri"/>
              </a:rPr>
              <a:t>La página que explica qué es la urticaria crónica espontánea y cómo se reconoce, sin diagnosticar.</a:t>
            </a:r>
          </a:p>
        </p:txBody>
      </p:sp>
      <p:sp>
        <p:nvSpPr>
          <p:cNvPr id="15" name="TextBox 14"/>
          <p:cNvSpPr txBox="1"/>
          <p:nvPr/>
        </p:nvSpPr>
        <p:spPr>
          <a:xfrm>
            <a:off x="10600000" y="2410000"/>
            <a:ext cx="1100000" cy="450000"/>
          </a:xfrm>
          <a:prstGeom prst="rect">
            <a:avLst/>
          </a:prstGeom>
          <a:noFill/>
        </p:spPr>
        <p:txBody>
          <a:bodyPr wrap="square" anchor="t" lIns="0" rIns="0" tIns="0" bIns="0">
            <a:spAutoFit/>
          </a:bodyPr>
          <a:lstStyle/>
          <a:p>
            <a:pPr algn="r"/>
            <a:r>
              <a:rPr sz="1500" b="1">
                <a:solidFill>
                  <a:srgbClr val="E0584D"/>
                </a:solidFill>
                <a:latin typeface="Calibri"/>
              </a:rPr>
              <a:t>13–19</a:t>
            </a:r>
          </a:p>
        </p:txBody>
      </p:sp>
      <p:sp>
        <p:nvSpPr>
          <p:cNvPr id="16" name="Rectangle 15"/>
          <p:cNvSpPr/>
          <p:nvPr/>
        </p:nvSpPr>
        <p:spPr>
          <a:xfrm>
            <a:off x="355000" y="297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0000" y="3050000"/>
            <a:ext cx="3500000" cy="450000"/>
          </a:xfrm>
          <a:prstGeom prst="rect">
            <a:avLst/>
          </a:prstGeom>
          <a:noFill/>
        </p:spPr>
        <p:txBody>
          <a:bodyPr wrap="square" anchor="t" lIns="0" rIns="0" tIns="0" bIns="0">
            <a:spAutoFit/>
          </a:bodyPr>
          <a:lstStyle/>
          <a:p>
            <a:r>
              <a:rPr sz="1500" b="1">
                <a:solidFill>
                  <a:srgbClr val="22383F"/>
                </a:solidFill>
                <a:latin typeface="Calibri"/>
              </a:rPr>
              <a:t>03  Tratamientos</a:t>
            </a:r>
          </a:p>
        </p:txBody>
      </p:sp>
      <p:sp>
        <p:nvSpPr>
          <p:cNvPr id="18" name="TextBox 17"/>
          <p:cNvSpPr txBox="1"/>
          <p:nvPr/>
        </p:nvSpPr>
        <p:spPr>
          <a:xfrm>
            <a:off x="4100000" y="3060000"/>
            <a:ext cx="6400000" cy="450000"/>
          </a:xfrm>
          <a:prstGeom prst="rect">
            <a:avLst/>
          </a:prstGeom>
          <a:noFill/>
        </p:spPr>
        <p:txBody>
          <a:bodyPr wrap="square" anchor="t" lIns="0" rIns="0" tIns="0" bIns="0">
            <a:spAutoFit/>
          </a:bodyPr>
          <a:lstStyle/>
          <a:p>
            <a:r>
              <a:rPr sz="1150" b="0">
                <a:solidFill>
                  <a:srgbClr val="5A6A6D"/>
                </a:solidFill>
                <a:latin typeface="Calibri"/>
              </a:rPr>
              <a:t>La página que orienta hacia el médico. Se eliminan los medicamentos y los remedios, y se redirige al directorio.</a:t>
            </a:r>
          </a:p>
        </p:txBody>
      </p:sp>
      <p:sp>
        <p:nvSpPr>
          <p:cNvPr id="19" name="TextBox 18"/>
          <p:cNvSpPr txBox="1"/>
          <p:nvPr/>
        </p:nvSpPr>
        <p:spPr>
          <a:xfrm>
            <a:off x="10600000" y="3050000"/>
            <a:ext cx="1100000" cy="450000"/>
          </a:xfrm>
          <a:prstGeom prst="rect">
            <a:avLst/>
          </a:prstGeom>
          <a:noFill/>
        </p:spPr>
        <p:txBody>
          <a:bodyPr wrap="square" anchor="t" lIns="0" rIns="0" tIns="0" bIns="0">
            <a:spAutoFit/>
          </a:bodyPr>
          <a:lstStyle/>
          <a:p>
            <a:pPr algn="r"/>
            <a:r>
              <a:rPr sz="1500" b="1">
                <a:solidFill>
                  <a:srgbClr val="E0584D"/>
                </a:solidFill>
                <a:latin typeface="Calibri"/>
              </a:rPr>
              <a:t>20–25</a:t>
            </a:r>
          </a:p>
        </p:txBody>
      </p:sp>
      <p:sp>
        <p:nvSpPr>
          <p:cNvPr id="20" name="Rectangle 19"/>
          <p:cNvSpPr/>
          <p:nvPr/>
        </p:nvSpPr>
        <p:spPr>
          <a:xfrm>
            <a:off x="355000" y="3610000"/>
            <a:ext cx="11480000" cy="5600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0000" y="3690000"/>
            <a:ext cx="3500000" cy="450000"/>
          </a:xfrm>
          <a:prstGeom prst="rect">
            <a:avLst/>
          </a:prstGeom>
          <a:noFill/>
        </p:spPr>
        <p:txBody>
          <a:bodyPr wrap="square" anchor="t" lIns="0" rIns="0" tIns="0" bIns="0">
            <a:spAutoFit/>
          </a:bodyPr>
          <a:lstStyle/>
          <a:p>
            <a:r>
              <a:rPr sz="1500" b="1">
                <a:solidFill>
                  <a:srgbClr val="22383F"/>
                </a:solidFill>
                <a:latin typeface="Calibri"/>
              </a:rPr>
              <a:t>Fuentes</a:t>
            </a:r>
          </a:p>
        </p:txBody>
      </p:sp>
      <p:sp>
        <p:nvSpPr>
          <p:cNvPr id="22" name="TextBox 21"/>
          <p:cNvSpPr txBox="1"/>
          <p:nvPr/>
        </p:nvSpPr>
        <p:spPr>
          <a:xfrm>
            <a:off x="4100000" y="3700000"/>
            <a:ext cx="6400000" cy="450000"/>
          </a:xfrm>
          <a:prstGeom prst="rect">
            <a:avLst/>
          </a:prstGeom>
          <a:noFill/>
        </p:spPr>
        <p:txBody>
          <a:bodyPr wrap="square" anchor="t" lIns="0" rIns="0" tIns="0" bIns="0">
            <a:spAutoFit/>
          </a:bodyPr>
          <a:lstStyle/>
          <a:p>
            <a:r>
              <a:rPr sz="1150" b="0">
                <a:solidFill>
                  <a:srgbClr val="5A6A6D"/>
                </a:solidFill>
                <a:latin typeface="Calibri"/>
              </a:rPr>
              <a:t>Referencias y citas textuales</a:t>
            </a:r>
          </a:p>
        </p:txBody>
      </p:sp>
      <p:sp>
        <p:nvSpPr>
          <p:cNvPr id="23" name="TextBox 22"/>
          <p:cNvSpPr txBox="1"/>
          <p:nvPr/>
        </p:nvSpPr>
        <p:spPr>
          <a:xfrm>
            <a:off x="10600000" y="3690000"/>
            <a:ext cx="1100000" cy="450000"/>
          </a:xfrm>
          <a:prstGeom prst="rect">
            <a:avLst/>
          </a:prstGeom>
          <a:noFill/>
        </p:spPr>
        <p:txBody>
          <a:bodyPr wrap="square" anchor="t" lIns="0" rIns="0" tIns="0" bIns="0">
            <a:spAutoFit/>
          </a:bodyPr>
          <a:lstStyle/>
          <a:p>
            <a:pPr algn="r"/>
            <a:r>
              <a:rPr sz="1500" b="1">
                <a:solidFill>
                  <a:srgbClr val="E0584D"/>
                </a:solidFill>
                <a:latin typeface="Calibri"/>
              </a:rPr>
              <a:t>26</a:t>
            </a:r>
          </a:p>
        </p:txBody>
      </p:sp>
      <p:sp>
        <p:nvSpPr>
          <p:cNvPr id="24" name="Rectangle 23"/>
          <p:cNvSpPr/>
          <p:nvPr/>
        </p:nvSpPr>
        <p:spPr>
          <a:xfrm>
            <a:off x="355000" y="4250000"/>
            <a:ext cx="11480000" cy="560000"/>
          </a:xfrm>
          <a:prstGeom prst="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0000" y="4330000"/>
            <a:ext cx="3500000" cy="450000"/>
          </a:xfrm>
          <a:prstGeom prst="rect">
            <a:avLst/>
          </a:prstGeom>
          <a:noFill/>
        </p:spPr>
        <p:txBody>
          <a:bodyPr wrap="square" anchor="t" lIns="0" rIns="0" tIns="0" bIns="0">
            <a:spAutoFit/>
          </a:bodyPr>
          <a:lstStyle/>
          <a:p>
            <a:r>
              <a:rPr sz="1500" b="1">
                <a:solidFill>
                  <a:srgbClr val="22383F"/>
                </a:solidFill>
                <a:latin typeface="Calibri"/>
              </a:rPr>
              <a:t>Aprobación</a:t>
            </a:r>
          </a:p>
        </p:txBody>
      </p:sp>
      <p:sp>
        <p:nvSpPr>
          <p:cNvPr id="26" name="TextBox 25"/>
          <p:cNvSpPr txBox="1"/>
          <p:nvPr/>
        </p:nvSpPr>
        <p:spPr>
          <a:xfrm>
            <a:off x="4100000" y="4340000"/>
            <a:ext cx="6400000" cy="450000"/>
          </a:xfrm>
          <a:prstGeom prst="rect">
            <a:avLst/>
          </a:prstGeom>
          <a:noFill/>
        </p:spPr>
        <p:txBody>
          <a:bodyPr wrap="square" anchor="t" lIns="0" rIns="0" tIns="0" bIns="0">
            <a:spAutoFit/>
          </a:bodyPr>
          <a:lstStyle/>
          <a:p>
            <a:r>
              <a:rPr sz="1150" b="0">
                <a:solidFill>
                  <a:srgbClr val="5A6A6D"/>
                </a:solidFill>
                <a:latin typeface="Calibri"/>
              </a:rPr>
              <a:t>Firma o respuesta por correo</a:t>
            </a:r>
          </a:p>
        </p:txBody>
      </p:sp>
      <p:sp>
        <p:nvSpPr>
          <p:cNvPr id="27" name="TextBox 26"/>
          <p:cNvSpPr txBox="1"/>
          <p:nvPr/>
        </p:nvSpPr>
        <p:spPr>
          <a:xfrm>
            <a:off x="10600000" y="4330000"/>
            <a:ext cx="1100000" cy="450000"/>
          </a:xfrm>
          <a:prstGeom prst="rect">
            <a:avLst/>
          </a:prstGeom>
          <a:noFill/>
        </p:spPr>
        <p:txBody>
          <a:bodyPr wrap="square" anchor="t" lIns="0" rIns="0" tIns="0" bIns="0">
            <a:spAutoFit/>
          </a:bodyPr>
          <a:lstStyle/>
          <a:p>
            <a:pPr algn="r"/>
            <a:r>
              <a:rPr sz="1500" b="1">
                <a:solidFill>
                  <a:srgbClr val="E0584D"/>
                </a:solidFill>
                <a:latin typeface="Calibri"/>
              </a:rPr>
              <a:t>27</a:t>
            </a:r>
          </a:p>
        </p:txBody>
      </p:sp>
      <p:sp>
        <p:nvSpPr>
          <p:cNvPr id="28" name="Rounded Rectangle 27"/>
          <p:cNvSpPr/>
          <p:nvPr/>
        </p:nvSpPr>
        <p:spPr>
          <a:xfrm>
            <a:off x="355000" y="5050000"/>
            <a:ext cx="11480000" cy="125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0000" y="5170000"/>
            <a:ext cx="11000000" cy="1100000"/>
          </a:xfrm>
          <a:prstGeom prst="rect">
            <a:avLst/>
          </a:prstGeom>
          <a:noFill/>
        </p:spPr>
        <p:txBody>
          <a:bodyPr wrap="square" anchor="t" lIns="0" rIns="0" tIns="0" bIns="0">
            <a:spAutoFit/>
          </a:bodyPr>
          <a:lstStyle/>
          <a:p>
            <a:pPr>
              <a:spcAft>
                <a:spcPts val="300"/>
              </a:spcAft>
            </a:pPr>
            <a:r>
              <a:rPr sz="1200" b="1">
                <a:solidFill>
                  <a:srgbClr val="F0A69F"/>
                </a:solidFill>
                <a:latin typeface="Calibri"/>
              </a:rPr>
              <a:t>Cómo responder</a:t>
            </a:r>
          </a:p>
          <a:p>
            <a:pPr>
              <a:spcAft>
                <a:spcPts val="200"/>
              </a:spcAft>
            </a:pPr>
            <a:r>
              <a:rPr sz="1200" b="0">
                <a:solidFill>
                  <a:srgbClr val="FFFFFF"/>
                </a:solidFill>
                <a:latin typeface="Calibri"/>
              </a:rPr>
              <a:t>Comenten solo lo que quieran corregir. Lo que no tenga comentario lo tomaremos como aprobado.</a:t>
            </a:r>
          </a:p>
          <a:p>
            <a:pPr>
              <a:spcAft>
                <a:spcPts val="200"/>
              </a:spcAft>
            </a:pPr>
            <a:r>
              <a:rPr sz="1200" b="0">
                <a:solidFill>
                  <a:srgbClr val="FFFFFF"/>
                </a:solidFill>
                <a:latin typeface="Calibri"/>
              </a:rPr>
              <a:t>Los números rojos de la captura son los números de las filas. «✕» indica algo que se elimina.</a:t>
            </a:r>
          </a:p>
          <a:p>
            <a:r>
              <a:rPr sz="1200" b="1">
                <a:solidFill>
                  <a:srgbClr val="FFFFFF"/>
                </a:solidFill>
                <a:latin typeface="Calibri"/>
              </a:rPr>
              <a:t>Las capturas muestran los textos propuestos, que redactamos nosotros y necesitan validación médica.</a:t>
            </a:r>
          </a:p>
        </p:txBody>
      </p:sp>
      <p:sp>
        <p:nvSpPr>
          <p:cNvPr id="30" name="TextBox 29"/>
          <p:cNvSpPr txBox="1"/>
          <p:nvPr/>
        </p:nvSpPr>
        <p:spPr>
          <a:xfrm>
            <a:off x="355000" y="6400000"/>
            <a:ext cx="10500000" cy="300000"/>
          </a:xfrm>
          <a:prstGeom prst="rect">
            <a:avLst/>
          </a:prstGeom>
          <a:noFill/>
        </p:spPr>
        <p:txBody>
          <a:bodyPr wrap="square" anchor="t" lIns="0" rIns="0" tIns="0" bIns="0">
            <a:spAutoFit/>
          </a:bodyPr>
          <a:lstStyle/>
          <a:p>
            <a:r>
              <a:rPr sz="1000" b="0">
                <a:solidFill>
                  <a:srgbClr val="5A6A6D"/>
                </a:solidFill>
                <a:latin typeface="Calibri"/>
              </a:rPr>
              <a:t>Quedan para una siguiente entrega: Recursos y Diario, Testimonios, Directorio médico, Blog, Acerca de y el Quiz orientativo.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3</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MAPA DEL SITIO</a:t>
            </a:r>
          </a:p>
          <a:p>
            <a:r>
              <a:rPr sz="2000" b="1">
                <a:solidFill>
                  <a:srgbClr val="22383F"/>
                </a:solidFill>
                <a:latin typeface="Calibri"/>
              </a:rPr>
              <a:t>Cómo se organiza masqueurticaria.org</a:t>
            </a:r>
          </a:p>
        </p:txBody>
      </p:sp>
      <p:sp>
        <p:nvSpPr>
          <p:cNvPr id="4" name="Rounded Rectangle 3"/>
          <p:cNvSpPr/>
          <p:nvPr/>
        </p:nvSpPr>
        <p:spPr>
          <a:xfrm>
            <a:off x="4595000" y="1000000"/>
            <a:ext cx="3000000" cy="42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5" name="Connector 4"/>
          <p:cNvCxnSpPr/>
          <p:nvPr/>
        </p:nvCxnSpPr>
        <p:spPr>
          <a:xfrm>
            <a:off x="6095000" y="14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3125" y="1620000"/>
            <a:ext cx="10123750" cy="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31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50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Inicio</a:t>
            </a:r>
          </a:p>
        </p:txBody>
      </p:sp>
      <p:sp>
        <p:nvSpPr>
          <p:cNvPr id="9" name="Rounded Rectangle 8"/>
          <p:cNvSpPr/>
          <p:nvPr/>
        </p:nvSpPr>
        <p:spPr>
          <a:xfrm>
            <a:off x="97312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50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Cabecera por hora y clima</a:t>
            </a:r>
          </a:p>
        </p:txBody>
      </p:sp>
      <p:sp>
        <p:nvSpPr>
          <p:cNvPr id="11" name="Rounded Rectangle 10"/>
          <p:cNvSpPr/>
          <p:nvPr/>
        </p:nvSpPr>
        <p:spPr>
          <a:xfrm>
            <a:off x="35500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Contenido inferior</a:t>
            </a:r>
          </a:p>
        </p:txBody>
      </p:sp>
      <p:cxnSp>
        <p:nvCxnSpPr>
          <p:cNvPr id="12" name="Connector 11"/>
          <p:cNvCxnSpPr/>
          <p:nvPr/>
        </p:nvCxnSpPr>
        <p:spPr>
          <a:xfrm>
            <a:off x="24793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012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Recursos</a:t>
            </a:r>
          </a:p>
        </p:txBody>
      </p:sp>
      <p:sp>
        <p:nvSpPr>
          <p:cNvPr id="14" name="Rounded Rectangle 13"/>
          <p:cNvSpPr/>
          <p:nvPr/>
        </p:nvSpPr>
        <p:spPr>
          <a:xfrm>
            <a:off x="180125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Test orientativo</a:t>
            </a:r>
          </a:p>
        </p:txBody>
      </p:sp>
      <p:sp>
        <p:nvSpPr>
          <p:cNvPr id="15" name="Rounded Rectangle 14"/>
          <p:cNvSpPr/>
          <p:nvPr/>
        </p:nvSpPr>
        <p:spPr>
          <a:xfrm>
            <a:off x="180125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Diario de síntomas</a:t>
            </a:r>
          </a:p>
        </p:txBody>
      </p:sp>
      <p:sp>
        <p:nvSpPr>
          <p:cNvPr id="16" name="Rounded Rectangle 15"/>
          <p:cNvSpPr/>
          <p:nvPr/>
        </p:nvSpPr>
        <p:spPr>
          <a:xfrm>
            <a:off x="1801250" y="322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Biblioteca visual</a:t>
            </a:r>
          </a:p>
        </p:txBody>
      </p:sp>
      <p:cxnSp>
        <p:nvCxnSpPr>
          <p:cNvPr id="17" name="Connector 16"/>
          <p:cNvCxnSpPr/>
          <p:nvPr/>
        </p:nvCxnSpPr>
        <p:spPr>
          <a:xfrm>
            <a:off x="39256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2475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Síntomas</a:t>
            </a:r>
          </a:p>
        </p:txBody>
      </p:sp>
      <p:sp>
        <p:nvSpPr>
          <p:cNvPr id="19" name="Rounded Rectangle 18"/>
          <p:cNvSpPr/>
          <p:nvPr/>
        </p:nvSpPr>
        <p:spPr>
          <a:xfrm>
            <a:off x="386562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53718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937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Tratamientos</a:t>
            </a:r>
          </a:p>
        </p:txBody>
      </p:sp>
      <p:sp>
        <p:nvSpPr>
          <p:cNvPr id="22" name="Rounded Rectangle 21"/>
          <p:cNvSpPr/>
          <p:nvPr/>
        </p:nvSpPr>
        <p:spPr>
          <a:xfrm>
            <a:off x="5311875" y="2270000"/>
            <a:ext cx="120000" cy="12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68181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400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Directorio médico</a:t>
            </a:r>
          </a:p>
        </p:txBody>
      </p:sp>
      <p:sp>
        <p:nvSpPr>
          <p:cNvPr id="25" name="Rounded Rectangle 24"/>
          <p:cNvSpPr/>
          <p:nvPr/>
        </p:nvSpPr>
        <p:spPr>
          <a:xfrm>
            <a:off x="61400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Mapa y listado</a:t>
            </a:r>
          </a:p>
        </p:txBody>
      </p:sp>
      <p:cxnSp>
        <p:nvCxnSpPr>
          <p:cNvPr id="26" name="Connector 25"/>
          <p:cNvCxnSpPr/>
          <p:nvPr/>
        </p:nvCxnSpPr>
        <p:spPr>
          <a:xfrm>
            <a:off x="82643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5862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Testimonios</a:t>
            </a:r>
          </a:p>
        </p:txBody>
      </p:sp>
      <p:sp>
        <p:nvSpPr>
          <p:cNvPr id="28" name="Rounded Rectangle 27"/>
          <p:cNvSpPr/>
          <p:nvPr/>
        </p:nvSpPr>
        <p:spPr>
          <a:xfrm>
            <a:off x="758625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Compartir mi historia</a:t>
            </a:r>
          </a:p>
        </p:txBody>
      </p:sp>
      <p:cxnSp>
        <p:nvCxnSpPr>
          <p:cNvPr id="29" name="Connector 28"/>
          <p:cNvCxnSpPr/>
          <p:nvPr/>
        </p:nvCxnSpPr>
        <p:spPr>
          <a:xfrm>
            <a:off x="971062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03250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Blog</a:t>
            </a:r>
          </a:p>
        </p:txBody>
      </p:sp>
      <p:sp>
        <p:nvSpPr>
          <p:cNvPr id="31" name="Rounded Rectangle 30"/>
          <p:cNvSpPr/>
          <p:nvPr/>
        </p:nvSpPr>
        <p:spPr>
          <a:xfrm>
            <a:off x="9032500" y="240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Qué es la urticaria crónica espontánea</a:t>
            </a:r>
          </a:p>
        </p:txBody>
      </p:sp>
      <p:sp>
        <p:nvSpPr>
          <p:cNvPr id="32" name="Rounded Rectangle 31"/>
          <p:cNvSpPr/>
          <p:nvPr/>
        </p:nvSpPr>
        <p:spPr>
          <a:xfrm>
            <a:off x="9032500" y="281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Preparar tu consulta</a:t>
            </a:r>
          </a:p>
        </p:txBody>
      </p:sp>
      <p:sp>
        <p:nvSpPr>
          <p:cNvPr id="33" name="Rounded Rectangle 32"/>
          <p:cNvSpPr/>
          <p:nvPr/>
        </p:nvSpPr>
        <p:spPr>
          <a:xfrm>
            <a:off x="9032500" y="322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¿La urticaria empeora con el estrés?</a:t>
            </a:r>
          </a:p>
        </p:txBody>
      </p:sp>
      <p:sp>
        <p:nvSpPr>
          <p:cNvPr id="34" name="Rounded Rectangle 33"/>
          <p:cNvSpPr/>
          <p:nvPr/>
        </p:nvSpPr>
        <p:spPr>
          <a:xfrm>
            <a:off x="9032500" y="3630000"/>
            <a:ext cx="1356250" cy="36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850" b="0">
                <a:solidFill>
                  <a:srgbClr val="5A6A6D"/>
                </a:solidFill>
                <a:latin typeface="Calibri"/>
              </a:rPr>
              <a:t>Dietas restrictivas</a:t>
            </a:r>
          </a:p>
        </p:txBody>
      </p:sp>
      <p:cxnSp>
        <p:nvCxnSpPr>
          <p:cNvPr id="35" name="Connector 34"/>
          <p:cNvCxnSpPr/>
          <p:nvPr/>
        </p:nvCxnSpPr>
        <p:spPr>
          <a:xfrm>
            <a:off x="11156875" y="1620000"/>
            <a:ext cx="0" cy="200000"/>
          </a:xfrm>
          <a:prstGeom prst="line">
            <a:avLst/>
          </a:prstGeom>
          <a:ln w="12700">
            <a:solidFill>
              <a:srgbClr val="CBD5E1"/>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0478750" y="1820000"/>
            <a:ext cx="1356250" cy="43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22383F"/>
                </a:solidFill>
                <a:latin typeface="Calibri"/>
              </a:rPr>
              <a:t>Acerca de</a:t>
            </a:r>
          </a:p>
        </p:txBody>
      </p:sp>
      <p:sp>
        <p:nvSpPr>
          <p:cNvPr id="37" name="Rounded Rectangle 36"/>
          <p:cNvSpPr/>
          <p:nvPr/>
        </p:nvSpPr>
        <p:spPr>
          <a:xfrm>
            <a:off x="355000" y="4800000"/>
            <a:ext cx="11480000" cy="520000"/>
          </a:xfrm>
          <a:prstGeom prst="roundRect">
            <a:avLst>
              <a:gd name="adj" fmla="val 12000"/>
            </a:avLst>
          </a:prstGeom>
          <a:solidFill>
            <a:srgbClr val="F8FAFC"/>
          </a:solidFill>
          <a:ln w="12700">
            <a:solidFill>
              <a:srgbClr val="E2E8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0">
                <a:solidFill>
                  <a:srgbClr val="5A6A6D"/>
                </a:solidFill>
                <a:latin typeface="Calibri"/>
              </a:rPr>
              <a:t>Ventana flotante: Quiz orientativo (se abre desde los botones «Hacer el test orientativo» de varias páginas; incluye pregunta de urgencia y resumen para el médico)</a:t>
            </a:r>
          </a:p>
        </p:txBody>
      </p:sp>
      <p:sp>
        <p:nvSpPr>
          <p:cNvPr id="38" name="Rounded Rectangle 37"/>
          <p:cNvSpPr/>
          <p:nvPr/>
        </p:nvSpPr>
        <p:spPr>
          <a:xfrm>
            <a:off x="355000" y="5500000"/>
            <a:ext cx="160000" cy="160000"/>
          </a:xfrm>
          <a:prstGeom prst="roundRect">
            <a:avLst>
              <a:gd name="adj" fmla="val 12000"/>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000" y="5470000"/>
            <a:ext cx="6000000" cy="250000"/>
          </a:xfrm>
          <a:prstGeom prst="rect">
            <a:avLst/>
          </a:prstGeom>
          <a:noFill/>
        </p:spPr>
        <p:txBody>
          <a:bodyPr wrap="square" anchor="t" lIns="0" rIns="0" tIns="0" bIns="0">
            <a:spAutoFit/>
          </a:bodyPr>
          <a:lstStyle/>
          <a:p>
            <a:r>
              <a:rPr sz="1100" b="1">
                <a:solidFill>
                  <a:srgbClr val="22383F"/>
                </a:solidFill>
                <a:latin typeface="Calibri"/>
              </a:rPr>
              <a:t>Incluida en esta propuesta</a:t>
            </a:r>
          </a:p>
        </p:txBody>
      </p:sp>
      <p:sp>
        <p:nvSpPr>
          <p:cNvPr id="40" name="Rounded Rectangle 39"/>
          <p:cNvSpPr/>
          <p:nvPr/>
        </p:nvSpPr>
        <p:spPr>
          <a:xfrm>
            <a:off x="4200000" y="5500000"/>
            <a:ext cx="160000" cy="16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50000" y="5470000"/>
            <a:ext cx="6000000" cy="250000"/>
          </a:xfrm>
          <a:prstGeom prst="rect">
            <a:avLst/>
          </a:prstGeom>
          <a:noFill/>
        </p:spPr>
        <p:txBody>
          <a:bodyPr wrap="square" anchor="t" lIns="0" rIns="0" tIns="0" bIns="0">
            <a:spAutoFit/>
          </a:bodyPr>
          <a:lstStyle/>
          <a:p>
            <a:r>
              <a:rPr sz="1100" b="1">
                <a:solidFill>
                  <a:srgbClr val="22383F"/>
                </a:solidFill>
                <a:latin typeface="Calibri"/>
              </a:rPr>
              <a:t>Sección que se está mostrando (en las diapositivas de cada bloque)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01</a:t>
            </a:r>
          </a:p>
          <a:p>
            <a:pPr>
              <a:spcAft>
                <a:spcPts val="600"/>
              </a:spcAft>
            </a:pPr>
            <a:r>
              <a:rPr sz="4000" b="1">
                <a:solidFill>
                  <a:srgbClr val="FFFFFF"/>
                </a:solidFill>
                <a:latin typeface="Calibri"/>
              </a:rPr>
              <a:t>HOME</a:t>
            </a:r>
          </a:p>
          <a:p>
            <a:pPr>
              <a:spcAft>
                <a:spcPts val="1600"/>
              </a:spcAft>
            </a:pPr>
            <a:r>
              <a:rPr sz="1300" b="0">
                <a:solidFill>
                  <a:srgbClr val="CBD5E1"/>
                </a:solidFill>
                <a:latin typeface="Calibri"/>
              </a:rPr>
              <a:t>masqueurticaria.org</a:t>
            </a:r>
          </a:p>
          <a:p>
            <a:r>
              <a:rPr sz="1500" b="0">
                <a:solidFill>
                  <a:srgbClr val="FFFFFF"/>
                </a:solidFill>
                <a:latin typeface="Calibri"/>
              </a:rPr>
              <a:t>La cabecera de la página de inicio cambia según la hora, el clima y la ciudad. Aquí se proponen los textos de cada escenario.</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Cómo se personaliza el sitio</a:t>
            </a:r>
          </a:p>
          <a:p>
            <a:pPr>
              <a:spcAft>
                <a:spcPts val="500"/>
              </a:spcAft>
            </a:pPr>
            <a:r>
              <a:rPr sz="1400" b="0">
                <a:solidFill>
                  <a:srgbClr val="FFFFFF"/>
                </a:solidFill>
                <a:latin typeface="Calibri"/>
              </a:rPr>
              <a:t>•  Mañana y tarde</a:t>
            </a:r>
          </a:p>
          <a:p>
            <a:pPr>
              <a:spcAft>
                <a:spcPts val="500"/>
              </a:spcAft>
            </a:pPr>
            <a:r>
              <a:rPr sz="1400" b="0">
                <a:solidFill>
                  <a:srgbClr val="FFFFFF"/>
                </a:solidFill>
                <a:latin typeface="Calibri"/>
              </a:rPr>
              <a:t>•  Tarde con calor y con frío</a:t>
            </a:r>
          </a:p>
          <a:p>
            <a:pPr>
              <a:spcAft>
                <a:spcPts val="500"/>
              </a:spcAft>
            </a:pPr>
            <a:r>
              <a:rPr sz="1400" b="0">
                <a:solidFill>
                  <a:srgbClr val="FFFFFF"/>
                </a:solidFill>
                <a:latin typeface="Calibri"/>
              </a:rPr>
              <a:t>•  Noche y madrugada</a:t>
            </a:r>
          </a:p>
          <a:p>
            <a:pPr>
              <a:spcAft>
                <a:spcPts val="500"/>
              </a:spcAft>
            </a:pPr>
            <a:r>
              <a:rPr sz="1400" b="0">
                <a:solidFill>
                  <a:srgbClr val="FFFFFF"/>
                </a:solidFill>
                <a:latin typeface="Calibri"/>
              </a:rPr>
              <a:t>•  Noche cálida</a:t>
            </a:r>
          </a:p>
          <a:p>
            <a:pPr>
              <a:spcAft>
                <a:spcPts val="500"/>
              </a:spcAft>
            </a:pPr>
            <a:r>
              <a:rPr sz="1400" b="0">
                <a:solidFill>
                  <a:srgbClr val="FFFFFF"/>
                </a:solidFill>
                <a:latin typeface="Calibri"/>
              </a:rPr>
              <a:t>•  Otras variantes con calor, frío y ciudad</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Un sitio que acompaña: se personaliza según la hora, el clima y la ciudad</a:t>
            </a:r>
          </a:p>
        </p:txBody>
      </p:sp>
      <p:sp>
        <p:nvSpPr>
          <p:cNvPr id="4" name="TextBox 3"/>
          <p:cNvSpPr txBox="1"/>
          <p:nvPr/>
        </p:nvSpPr>
        <p:spPr>
          <a:xfrm>
            <a:off x="355000" y="900000"/>
            <a:ext cx="11480000" cy="600000"/>
          </a:xfrm>
          <a:prstGeom prst="rect">
            <a:avLst/>
          </a:prstGeom>
          <a:noFill/>
        </p:spPr>
        <p:txBody>
          <a:bodyPr wrap="square" anchor="t" lIns="0" rIns="0" tIns="0" bIns="0">
            <a:spAutoFit/>
          </a:bodyPr>
          <a:lstStyle/>
          <a:p>
            <a:r>
              <a:rPr sz="1400" b="0">
                <a:solidFill>
                  <a:srgbClr val="5A6A6D"/>
                </a:solidFill>
                <a:latin typeface="Calibri"/>
              </a:rPr>
              <a:t>Cuando alguien entra al sitio, la cabecera se ajusta a su momento. Es un detalle de experiencia (UX) para que la persona se sienta acompañada, sin pedirle ningún dato.</a:t>
            </a:r>
          </a:p>
        </p:txBody>
      </p:sp>
      <p:sp>
        <p:nvSpPr>
          <p:cNvPr id="5" name="Rounded Rectangle 4"/>
          <p:cNvSpPr/>
          <p:nvPr/>
        </p:nvSpPr>
        <p:spPr>
          <a:xfrm>
            <a:off x="355000"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5000" y="1820000"/>
            <a:ext cx="640000" cy="550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5000"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Hora del día</a:t>
            </a:r>
          </a:p>
          <a:p>
            <a:pPr>
              <a:spcAft>
                <a:spcPts val="800"/>
              </a:spcAft>
            </a:pPr>
            <a:r>
              <a:rPr sz="1250" b="0">
                <a:solidFill>
                  <a:srgbClr val="5A6A6D"/>
                </a:solidFill>
                <a:latin typeface="Calibri"/>
              </a:rPr>
              <a:t>Se toma la hora del dispositivo de la persona.</a:t>
            </a:r>
          </a:p>
          <a:p>
            <a:pPr>
              <a:spcAft>
                <a:spcPts val="400"/>
              </a:spcAft>
            </a:pPr>
            <a:r>
              <a:rPr sz="1150" b="0">
                <a:solidFill>
                  <a:srgbClr val="22383F"/>
                </a:solidFill>
                <a:latin typeface="Calibri"/>
              </a:rPr>
              <a:t>•  Mañana: 6:00 a 11:59 h</a:t>
            </a:r>
          </a:p>
          <a:p>
            <a:pPr>
              <a:spcAft>
                <a:spcPts val="400"/>
              </a:spcAft>
            </a:pPr>
            <a:r>
              <a:rPr sz="1150" b="0">
                <a:solidFill>
                  <a:srgbClr val="22383F"/>
                </a:solidFill>
                <a:latin typeface="Calibri"/>
              </a:rPr>
              <a:t>•  Tarde: 12:00 a 21:59 h</a:t>
            </a:r>
          </a:p>
          <a:p>
            <a:pPr>
              <a:spcAft>
                <a:spcPts val="400"/>
              </a:spcAft>
            </a:pPr>
            <a:r>
              <a:rPr sz="1150" b="0">
                <a:solidFill>
                  <a:srgbClr val="22383F"/>
                </a:solidFill>
                <a:latin typeface="Calibri"/>
              </a:rPr>
              <a:t>•  Noche y madrugada: 22:00 a 5:59 h</a:t>
            </a:r>
          </a:p>
          <a:p>
            <a:r>
              <a:rPr sz="1150" b="1">
                <a:solidFill>
                  <a:srgbClr val="E0584D"/>
                </a:solidFill>
                <a:latin typeface="Calibri"/>
              </a:rPr>
              <a:t>Cambia el titular, el texto y la imagen.</a:t>
            </a:r>
          </a:p>
        </p:txBody>
      </p:sp>
      <p:sp>
        <p:nvSpPr>
          <p:cNvPr id="8" name="Rounded Rectangle 7"/>
          <p:cNvSpPr/>
          <p:nvPr/>
        </p:nvSpPr>
        <p:spPr>
          <a:xfrm>
            <a:off x="4253333"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43333" y="1820000"/>
            <a:ext cx="640000" cy="55000"/>
          </a:xfrm>
          <a:prstGeom prst="rect">
            <a:avLst/>
          </a:prstGeom>
          <a:solidFill>
            <a:srgbClr val="0081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43333"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Clima</a:t>
            </a:r>
          </a:p>
          <a:p>
            <a:pPr>
              <a:spcAft>
                <a:spcPts val="800"/>
              </a:spcAft>
            </a:pPr>
            <a:r>
              <a:rPr sz="1250" b="0">
                <a:solidFill>
                  <a:srgbClr val="5A6A6D"/>
                </a:solidFill>
                <a:latin typeface="Calibri"/>
              </a:rPr>
              <a:t>Se consulta la temperatura actual de la zona.</a:t>
            </a:r>
          </a:p>
          <a:p>
            <a:pPr>
              <a:spcAft>
                <a:spcPts val="400"/>
              </a:spcAft>
            </a:pPr>
            <a:r>
              <a:rPr sz="1150" b="0">
                <a:solidFill>
                  <a:srgbClr val="22383F"/>
                </a:solidFill>
                <a:latin typeface="Calibri"/>
              </a:rPr>
              <a:t>•  Calor: 27 °C o más de día, 24 °C o más de noche</a:t>
            </a:r>
          </a:p>
          <a:p>
            <a:pPr>
              <a:spcAft>
                <a:spcPts val="400"/>
              </a:spcAft>
            </a:pPr>
            <a:r>
              <a:rPr sz="1150" b="0">
                <a:solidFill>
                  <a:srgbClr val="22383F"/>
                </a:solidFill>
                <a:latin typeface="Calibri"/>
              </a:rPr>
              <a:t>•  Frío: 15 °C o menos</a:t>
            </a:r>
          </a:p>
          <a:p>
            <a:pPr>
              <a:spcAft>
                <a:spcPts val="400"/>
              </a:spcAft>
            </a:pPr>
            <a:r>
              <a:rPr sz="1150" b="0">
                <a:solidFill>
                  <a:srgbClr val="22383F"/>
                </a:solidFill>
                <a:latin typeface="Calibri"/>
              </a:rPr>
              <a:t>•  Sin dato de clima: se usa la estación del año</a:t>
            </a:r>
          </a:p>
          <a:p>
            <a:r>
              <a:rPr sz="1150" b="1">
                <a:solidFill>
                  <a:srgbClr val="0081A8"/>
                </a:solidFill>
                <a:latin typeface="Calibri"/>
              </a:rPr>
              <a:t>Cambia los colores y el texto.</a:t>
            </a:r>
          </a:p>
        </p:txBody>
      </p:sp>
      <p:sp>
        <p:nvSpPr>
          <p:cNvPr id="11" name="Rounded Rectangle 10"/>
          <p:cNvSpPr/>
          <p:nvPr/>
        </p:nvSpPr>
        <p:spPr>
          <a:xfrm>
            <a:off x="8151666" y="1650000"/>
            <a:ext cx="3683333" cy="2750000"/>
          </a:xfrm>
          <a:prstGeom prst="roundRect">
            <a:avLst>
              <a:gd name="adj" fmla="val 12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41666" y="1820000"/>
            <a:ext cx="640000" cy="55000"/>
          </a:xfrm>
          <a:prstGeom prst="rect">
            <a:avLst/>
          </a:prstGeom>
          <a:solidFill>
            <a:srgbClr val="E9A2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41666" y="1980000"/>
            <a:ext cx="3303333" cy="2350000"/>
          </a:xfrm>
          <a:prstGeom prst="rect">
            <a:avLst/>
          </a:prstGeom>
          <a:noFill/>
        </p:spPr>
        <p:txBody>
          <a:bodyPr wrap="square" anchor="t" lIns="0" rIns="0" tIns="0" bIns="0">
            <a:spAutoFit/>
          </a:bodyPr>
          <a:lstStyle/>
          <a:p>
            <a:pPr>
              <a:spcAft>
                <a:spcPts val="600"/>
              </a:spcAft>
            </a:pPr>
            <a:r>
              <a:rPr sz="2000" b="1">
                <a:solidFill>
                  <a:srgbClr val="22383F"/>
                </a:solidFill>
                <a:latin typeface="Calibri"/>
              </a:rPr>
              <a:t>Ciudad</a:t>
            </a:r>
          </a:p>
          <a:p>
            <a:pPr>
              <a:spcAft>
                <a:spcPts val="800"/>
              </a:spcAft>
            </a:pPr>
            <a:r>
              <a:rPr sz="1250" b="0">
                <a:solidFill>
                  <a:srgbClr val="5A6A6D"/>
                </a:solidFill>
                <a:latin typeface="Calibri"/>
              </a:rPr>
              <a:t>Se estima por la conexión a internet, sin usar el GPS.</a:t>
            </a:r>
          </a:p>
          <a:p>
            <a:pPr>
              <a:spcAft>
                <a:spcPts val="400"/>
              </a:spcAft>
            </a:pPr>
            <a:r>
              <a:rPr sz="1150" b="0">
                <a:solidFill>
                  <a:srgbClr val="22383F"/>
                </a:solidFill>
                <a:latin typeface="Calibri"/>
              </a:rPr>
              <a:t>•  Aparece en el titular: «Tarde de calor en tu ciudad»</a:t>
            </a:r>
          </a:p>
          <a:p>
            <a:pPr>
              <a:spcAft>
                <a:spcPts val="400"/>
              </a:spcAft>
            </a:pPr>
            <a:r>
              <a:rPr sz="1150" b="0">
                <a:solidFill>
                  <a:srgbClr val="22383F"/>
                </a:solidFill>
                <a:latin typeface="Calibri"/>
              </a:rPr>
              <a:t>•  Si no se detecta, dice «tu ciudad»</a:t>
            </a:r>
          </a:p>
          <a:p>
            <a:pPr>
              <a:spcAft>
                <a:spcPts val="400"/>
              </a:spcAft>
            </a:pPr>
            <a:r>
              <a:rPr sz="1150" b="0">
                <a:solidFill>
                  <a:srgbClr val="22383F"/>
                </a:solidFill>
                <a:latin typeface="Calibri"/>
              </a:rPr>
              <a:t>•  No se guarda en ningún servidor</a:t>
            </a:r>
          </a:p>
          <a:p>
            <a:r>
              <a:rPr sz="1150" b="1">
                <a:solidFill>
                  <a:srgbClr val="E9A23B"/>
                </a:solidFill>
                <a:latin typeface="Calibri"/>
              </a:rPr>
              <a:t>Cambia solo el texto del titular.</a:t>
            </a:r>
          </a:p>
        </p:txBody>
      </p:sp>
      <p:sp>
        <p:nvSpPr>
          <p:cNvPr id="14" name="Rounded Rectangle 13"/>
          <p:cNvSpPr/>
          <p:nvPr/>
        </p:nvSpPr>
        <p:spPr>
          <a:xfrm>
            <a:off x="355000" y="4600000"/>
            <a:ext cx="5600000" cy="1500000"/>
          </a:xfrm>
          <a:prstGeom prst="roundRect">
            <a:avLst>
              <a:gd name="adj" fmla="val 12000"/>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0000" y="4720000"/>
            <a:ext cx="5200000" cy="1300000"/>
          </a:xfrm>
          <a:prstGeom prst="rect">
            <a:avLst/>
          </a:prstGeom>
          <a:noFill/>
        </p:spPr>
        <p:txBody>
          <a:bodyPr wrap="square" anchor="t" lIns="0" rIns="0" tIns="0" bIns="0">
            <a:spAutoFit/>
          </a:bodyPr>
          <a:lstStyle/>
          <a:p>
            <a:pPr>
              <a:spcAft>
                <a:spcPts val="400"/>
              </a:spcAft>
            </a:pPr>
            <a:r>
              <a:rPr sz="1200" b="1">
                <a:solidFill>
                  <a:srgbClr val="F0A69F"/>
                </a:solidFill>
                <a:latin typeface="Calibri"/>
              </a:rPr>
              <a:t>Para qué sirve</a:t>
            </a:r>
          </a:p>
          <a:p>
            <a:r>
              <a:rPr sz="1250" b="0">
                <a:solidFill>
                  <a:srgbClr val="FFFFFF"/>
                </a:solidFill>
                <a:latin typeface="Calibri"/>
              </a:rPr>
              <a:t>Que quien llega a las 3 de la mañana con comezón, o en una tarde de calor, encuentre un mensaje pensado para su momento y no uno genérico.</a:t>
            </a:r>
          </a:p>
        </p:txBody>
      </p:sp>
      <p:sp>
        <p:nvSpPr>
          <p:cNvPr id="16" name="Rounded Rectangle 15"/>
          <p:cNvSpPr/>
          <p:nvPr/>
        </p:nvSpPr>
        <p:spPr>
          <a:xfrm>
            <a:off x="6235000" y="4600000"/>
            <a:ext cx="5600000" cy="1500000"/>
          </a:xfrm>
          <a:prstGeom prst="roundRect">
            <a:avLst>
              <a:gd name="adj" fmla="val 12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0000" y="4720000"/>
            <a:ext cx="5200000" cy="130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Qué no hace</a:t>
            </a:r>
          </a:p>
          <a:p>
            <a:r>
              <a:rPr sz="1250" b="0">
                <a:solidFill>
                  <a:srgbClr val="22383F"/>
                </a:solidFill>
                <a:latin typeface="Calibri"/>
              </a:rPr>
              <a:t>No diagnostica ni recomienda tratamientos, y no guarda datos de la persona. La hora y el clima no son causa de la urticaria crónica espontánea: solo cambian la imagen, los colores y el texto de la cabecera.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Mañana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manana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«¿Empiezas el día con comezón? Haz de la Urticaria la Parte Más Pequeña de tu Vida». Antes: «Empieza tu Día Libre de Comezón…»</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«Comenzar la mañana con ronchas o comezón puede afectar tu día. Un profesional de la salud puede valorar tus síntomas.»</a:t>
                      </a:r>
                    </a:p>
                  </a:txBody>
                  <a:tcPr marL="60000" marR="60000" marT="40000" marB="40000" anchor="t">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tard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te interrumpe por la tarde? Haz de la Urticaria la Parte Más Pequeña de tu Vida»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la comezón interfiere con tu trabajo o tu rutina, un profesional de la salud puede valorar tus síntomas.»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Botones: «Hacer el test orientativo» y «Encuentra a un especialista cerca de ti».</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Leyenda abajo a la derecha: «Imagen ilustrativa: no representa a una persona real.»</a:t>
                      </a:r>
                    </a:p>
                  </a:txBody>
                  <a:tcPr marL="60000" marR="60000" marT="40000" marB="40000" anchor="t">
                    <a:solidFill>
                      <a:srgbClr val="F8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8</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 con calor</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calor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«Tarde de calor en [ciudad]: Haz de la Urticaria la Parte Más Pequeña de tu Vida». Antes: «Que el Calor de la Tarde No Detenga tu Día…»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tienes ronchas o comezón, conversa con un profesional de la salud.» Antes: «El calor sofocante de la tarde suele empeorar la hinchazón y las ronchas…»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Opción para los asesores: agregar la línea «El clima no es la causa de la urticaria crónica espontánea».</a:t>
                      </a:r>
                    </a:p>
                  </a:txBody>
                  <a:tcPr marL="60000" marR="60000" marT="40000" marB="40000" anchor="t">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9</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Tarde con frío</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frio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«Tarde fría en [ciudad]: Haz de la Urticaria la Parte Más Pequeña de tu Vida». Antes: «Protégete del Frío de la Tarde…»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tienes ronchas o comezón, conversa con un profesional de la salud.» Antes: «…la piel sensible puede reaccionar con mayor ardor. Descubre opciones de tratamiento médico aprobadas…»</a:t>
                      </a:r>
                    </a:p>
                  </a:txBody>
                  <a:tcPr marL="60000" marR="60000" marT="40000" marB="40000" anchor="t">
                    <a:solidFill>
                      <a:srgbClr val="F8FAFC"/>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10</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Noche y madrugada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noch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no te deja dormir? Haz de la Urticaria la Parte Más Pequeña de tu Vida». La captura anterior mostraba un titular de la tarde con una foto de una persona durmiendo.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«La comezón de noche puede afectar tu descanso. Anota cuándo aparece y conversa con un profesional de la salud.» Se quita la explicación de la histamina.</a:t>
                      </a:r>
                    </a:p>
                  </a:txBody>
                  <a:tcPr marL="60000" marR="60000" marT="40000" marB="40000" anchor="t">
                    <a:solidFill>
                      <a:srgbClr val="F8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11</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Noche cálida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_ncalida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«Noche calurosa en [ciudad]: ¿la comezón no te deja dormir?». La captura anterior mostraba el titular «Que el Calor de la Tarde No Detenga tu Día…» con una escena de noche.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«Si la comezón afecta tu descanso, anota cuándo aparece y conversa con un profesional de la salud.»</a:t>
                      </a:r>
                    </a:p>
                  </a:txBody>
                  <a:tcPr marL="60000" marR="60000" marT="40000" marB="40000" anchor="t">
                    <a:solidFill>
                      <a:srgbClr val="F8FA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01 · HOME</a:t>
            </a:r>
          </a:p>
          <a:p>
            <a:r>
              <a:rPr sz="2000" b="1">
                <a:solidFill>
                  <a:srgbClr val="22383F"/>
                </a:solidFill>
                <a:latin typeface="Calibri"/>
              </a:rPr>
              <a:t>Cabecera · Otras variantes (calor, frío y ciudad)</a:t>
            </a:r>
          </a:p>
        </p:txBody>
      </p:sp>
      <p:graphicFrame>
        <p:nvGraphicFramePr>
          <p:cNvPr id="4" name="Table 3"/>
          <p:cNvGraphicFramePr>
            <a:graphicFrameLocks noGrp="1"/>
          </p:cNvGraphicFramePr>
          <p:nvPr/>
        </p:nvGraphicFramePr>
        <p:xfrm>
          <a:off x="355000" y="930000"/>
          <a:ext cx="11480000" cy="2160000"/>
        </p:xfrm>
        <a:graphic>
          <a:graphicData uri="http://schemas.openxmlformats.org/drawingml/2006/table">
            <a:tbl>
              <a:tblPr firstRow="1" bandRow="1">
                <a:tableStyleId>{5C22544A-7EE6-4342-B048-85BDC9FD1C3A}</a:tableStyleId>
              </a:tblPr>
              <a:tblGrid>
                <a:gridCol w="330000"/>
                <a:gridCol w="11150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Mañana con calor · «Mañana de calor en [ciudad]: Haz de la Urticaria la Parte Más Pequeña de tu Vida». Texto: «Si tienes ronchas o comezón, conversa con un profesional de la salud.» Antes: «Afronta el Calor de la Mañana Sin Ronchas… las altas temperaturas matutinas ya están detonando ardor…»</a:t>
                      </a:r>
                    </a:p>
                  </a:txBody>
                  <a:tcPr marL="60000" marR="60000" marT="40000" marB="40000" anchor="t">
                    <a:solidFill>
                      <a:srgbClr val="FFFFF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8FAFC"/>
                    </a:solidFill>
                  </a:tcPr>
                </a:tc>
                <a:tc>
                  <a:txBody>
                    <a:bodyPr wrap="square"/>
                    <a:lstStyle/>
                    <a:p>
                      <a:r>
                        <a:rPr sz="1100" b="0">
                          <a:solidFill>
                            <a:srgbClr val="22383F"/>
                          </a:solidFill>
                          <a:latin typeface="Calibri"/>
                        </a:rPr>
                        <a:t>Mañana con frío · «Mañana fría en [ciudad]: Haz de la Urticaria la Parte Más Pequeña de tu Vida». Texto: «Si tienes ronchas o comezón, conversa con un profesional de la salud.» Antes: «…Te orientamos para identificar si tus brotes matutinos son Urticaria Crónica y cómo tratarlos.»</a:t>
                      </a:r>
                    </a:p>
                  </a:txBody>
                  <a:tcPr marL="60000" marR="60000" marT="40000" marB="40000" anchor="t">
                    <a:solidFill>
                      <a:srgbClr val="F8FAFC"/>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Noche fría · «Noche fría en [ciudad]: Haz de la Urticaria la Parte Más Pequeña de tu Vida». Texto: «Si tienes ronchas o comezón, conversa con un profesional de la salud.» Antes: «Las bajas temperaturas nocturnas pueden aumentar la sensibilidad en tu piel y desencadenar picazón…»</a:t>
                      </a:r>
                    </a:p>
                  </a:txBody>
                  <a:tcPr marL="60000" marR="60000" marT="40000" marB="40000" anchor="t">
                    <a:solidFill>
                      <a:srgbClr val="FFFFFF"/>
                    </a:solidFill>
                  </a:tcPr>
                </a:tc>
              </a:tr>
              <a:tr h="380000">
                <a:tc>
                  <a:txBody>
                    <a:bodyPr wrap="square"/>
                    <a:lstStyle/>
                    <a:p>
                      <a:pPr algn="ctr"/>
                      <a:r>
                        <a:rPr sz="1200" b="1">
                          <a:solidFill>
                            <a:srgbClr val="E0584D"/>
                          </a:solidFill>
                          <a:latin typeface="Calibri"/>
                        </a:rPr>
                        <a:t>·</a:t>
                      </a:r>
                    </a:p>
                  </a:txBody>
                  <a:tcPr marL="60000" marR="60000" marT="40000" marB="40000" anchor="t">
                    <a:solidFill>
                      <a:srgbClr val="F8FAFC"/>
                    </a:solidFill>
                  </a:tcPr>
                </a:tc>
                <a:tc>
                  <a:txBody>
                    <a:bodyPr wrap="square"/>
                    <a:lstStyle/>
                    <a:p>
                      <a:r>
                        <a:rPr sz="1100" b="0">
                          <a:solidFill>
                            <a:srgbClr val="22383F"/>
                          </a:solidFill>
                          <a:latin typeface="Calibri"/>
                        </a:rPr>
                        <a:t>Calor con ciudad · «Calor en [ciudad]: Haz de las Ronchas la Parte Más Pequeña de tu Vida». Texto: «Si tienes ronchas o comezón, conversa con un profesional de la salud.» Antes: «…pueden intensificar la picazón y los habones. Te acompañamos a comprender tus brotes por calor…»</a:t>
                      </a:r>
                    </a:p>
                  </a:txBody>
                  <a:tcPr marL="60000" marR="60000" marT="40000" marB="40000" anchor="t">
                    <a:solidFill>
                      <a:srgbClr val="F8FAFC"/>
                    </a:solidFill>
                  </a:tcPr>
                </a:tc>
              </a:tr>
              <a:tr h="380000">
                <a:tc>
                  <a:txBody>
                    <a:bodyPr wrap="square"/>
                    <a:lstStyle/>
                    <a:p>
                      <a:pPr algn="ctr"/>
                      <a:r>
                        <a:rPr sz="1200" b="1">
                          <a:solidFill>
                            <a:srgbClr val="E0584D"/>
                          </a:solidFill>
                          <a:latin typeface="Calibri"/>
                        </a:rPr>
                        <a:t>·</a:t>
                      </a:r>
                    </a:p>
                  </a:txBody>
                  <a:tcPr marL="60000" marR="60000" marT="40000" marB="40000" anchor="t">
                    <a:solidFill>
                      <a:srgbClr val="FFFFFF"/>
                    </a:solidFill>
                  </a:tcPr>
                </a:tc>
                <a:tc>
                  <a:txBody>
                    <a:bodyPr wrap="square"/>
                    <a:lstStyle/>
                    <a:p>
                      <a:r>
                        <a:rPr sz="1100" b="0">
                          <a:solidFill>
                            <a:srgbClr val="22383F"/>
                          </a:solidFill>
                          <a:latin typeface="Calibri"/>
                        </a:rPr>
                        <a:t>Frío con ciudad · «Frío en [ciudad]: Haz de la Urticaria la Parte Más Pequeña de tu Vida». Texto: «Si tienes ronchas o comezón, conversa con un profesional de la salud.» Antes: «…pueden reactivar las ronchas y el ardor…»</a:t>
                      </a:r>
                    </a:p>
                  </a:txBody>
                  <a:tcPr marL="60000" marR="60000" marT="40000" marB="40000" anchor="t">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02</a:t>
            </a:r>
          </a:p>
          <a:p>
            <a:pPr>
              <a:spcAft>
                <a:spcPts val="600"/>
              </a:spcAft>
            </a:pPr>
            <a:r>
              <a:rPr sz="4000" b="1">
                <a:solidFill>
                  <a:srgbClr val="FFFFFF"/>
                </a:solidFill>
                <a:latin typeface="Calibri"/>
              </a:rPr>
              <a:t>SÍNTOMAS</a:t>
            </a:r>
          </a:p>
          <a:p>
            <a:pPr>
              <a:spcAft>
                <a:spcPts val="1600"/>
              </a:spcAft>
            </a:pPr>
            <a:r>
              <a:rPr sz="1300" b="0">
                <a:solidFill>
                  <a:srgbClr val="CBD5E1"/>
                </a:solidFill>
                <a:latin typeface="Calibri"/>
              </a:rPr>
              <a:t>masqueurticaria.org/sintomas/</a:t>
            </a:r>
          </a:p>
          <a:p>
            <a:r>
              <a:rPr sz="1500" b="0">
                <a:solidFill>
                  <a:srgbClr val="FFFFFF"/>
                </a:solidFill>
                <a:latin typeface="Calibri"/>
              </a:rPr>
              <a:t>La página que explica qué es la urticaria crónica espontánea y cómo se reconoce, sin diagnosticar.</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Encabezado</a:t>
            </a:r>
          </a:p>
          <a:p>
            <a:pPr>
              <a:spcAft>
                <a:spcPts val="500"/>
              </a:spcAft>
            </a:pPr>
            <a:r>
              <a:rPr sz="1400" b="0">
                <a:solidFill>
                  <a:srgbClr val="FFFFFF"/>
                </a:solidFill>
                <a:latin typeface="Calibri"/>
              </a:rPr>
              <a:t>•  Síntomas principales</a:t>
            </a:r>
          </a:p>
          <a:p>
            <a:pPr>
              <a:spcAft>
                <a:spcPts val="500"/>
              </a:spcAft>
            </a:pPr>
            <a:r>
              <a:rPr sz="1400" b="0">
                <a:solidFill>
                  <a:srgbClr val="FFFFFF"/>
                </a:solidFill>
                <a:latin typeface="Calibri"/>
              </a:rPr>
              <a:t>•  Diferencias con otros tipos de urticaria</a:t>
            </a:r>
          </a:p>
          <a:p>
            <a:pPr>
              <a:spcAft>
                <a:spcPts val="500"/>
              </a:spcAft>
            </a:pPr>
            <a:r>
              <a:rPr sz="1400" b="0">
                <a:solidFill>
                  <a:srgbClr val="FFFFFF"/>
                </a:solidFill>
                <a:latin typeface="Calibri"/>
              </a:rPr>
              <a:t>•  Guía visual</a:t>
            </a:r>
          </a:p>
          <a:p>
            <a:pPr>
              <a:spcAft>
                <a:spcPts val="500"/>
              </a:spcAft>
            </a:pPr>
            <a:r>
              <a:rPr sz="1400" b="0">
                <a:solidFill>
                  <a:srgbClr val="FFFFFF"/>
                </a:solidFill>
                <a:latin typeface="Calibri"/>
              </a:rPr>
              <a:t>•  Preguntas frecuentes</a:t>
            </a:r>
          </a:p>
          <a:p>
            <a:pPr>
              <a:spcAft>
                <a:spcPts val="500"/>
              </a:spcAft>
            </a:pPr>
            <a:r>
              <a:rPr sz="1400" b="0">
                <a:solidFill>
                  <a:srgbClr val="FFFFFF"/>
                </a:solidFill>
                <a:latin typeface="Calibri"/>
              </a:rPr>
              <a:t>•  Cierre y pie de página</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14</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Encabezado de la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head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«¿Comezón por la tarde? Conoce los síntomas de la urticaria crónica espontánea». Antes: «¿Picazón por la tarde? Conoce los síntomas y sus causas»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«Llegar a la tarde con la piel irritada o con comezón puede dificultar tus actividades. Conocer los signos te ayuda a conversarlos con un profesional de la salud.»</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Botón «Hacer el test orientativo», con la nota «Este test no es un diagnóstico». Antes: «Comenzar Test de Síntomas»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El índice queda con 4 secciones. Se elimina la de perfiles (mujeres, niños, hombres).</a:t>
                      </a:r>
                    </a:p>
                  </a:txBody>
                  <a:tcPr marL="60000" marR="60000" marT="40000" marB="40000" anchor="t">
                    <a:solidFill>
                      <a:srgbClr val="F8FA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01: síntomas principales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1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Intro: «La urticaria crónica espontánea se caracteriza por ronchas, hinchazón (angioedema) o ambas, que reaparecen durante más de seis semanas sin un desencadenante identificable. Solo un profesional de la salud puede diagnosticarla.»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Ronchas (habones): elevaciones rojizas o rosadas en la piel que dan comezón. Irá con una imagen y el nombre debajo.</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Comezón: puede afectar las actividades diarias, el sueño y el trabajo. Antes: «sensación de prurito que puede interferir con el descanso y las actividades»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Ardor: sensación de quemazón en la zona afectada. Antes: «sensación de quemazón, calor o dolor»</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5</a:t>
                      </a:r>
                    </a:p>
                  </a:txBody>
                  <a:tcPr marL="60000" marR="60000" marT="40000" marB="40000" anchor="t">
                    <a:solidFill>
                      <a:srgbClr val="FFFFFF"/>
                    </a:solidFill>
                  </a:tcPr>
                </a:tc>
                <a:tc>
                  <a:txBody>
                    <a:bodyPr wrap="square"/>
                    <a:lstStyle/>
                    <a:p>
                      <a:r>
                        <a:rPr sz="1050" b="0">
                          <a:solidFill>
                            <a:srgbClr val="22383F"/>
                          </a:solidFill>
                          <a:latin typeface="Calibri"/>
                        </a:rPr>
                        <a:t>Ronchas que cambian: cambian de forma, desaparecen y reaparecen en minutos u horas. Es poco común que una dure más de 48 horas. Antes: «menos de 24 horas»</a:t>
                      </a:r>
                    </a:p>
                  </a:txBody>
                  <a:tcPr marL="60000" marR="60000" marT="40000" marB="40000" anchor="t">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02: diferencias con otros tipos de urticaria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2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Texto de apoyo: «Esta comparación es una orientación general. Solo un profesional de la salud puede determinar qué tipo de urticaria tienes.»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Detonante. Crónica espontánea: «Aparece sin un desencadenante identificable». Inducible: «Se provoca por un estímulo físico específico», sin listar frío ni calor. Antes: «frío, calor, fricción o presión»</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Duración. Crónica espontánea: «Más de seis semanas, con ronchas que reaparecen». Aguda: menos de seis semanas.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Evaluación: una sola frase en las tres columnas: «Solo un profesional de la salud puede determinar el tipo y el manejo».</a:t>
                      </a:r>
                    </a:p>
                  </a:txBody>
                  <a:tcPr marL="60000" marR="60000" marT="40000" marB="40000" anchor="t">
                    <a:solidFill>
                      <a:srgbClr val="F8FA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Sección 03: guía visual (y perfiles)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03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Ronchas (habones): una imagen con el nombre debajo, sin texto pequeño. Antes: «pueden aparecer en distintas partes del cuerpo y variar de tamaño»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Hinchazón (angioedema): puede afectar párpados, labios, manos o pies. Si afecta la lengua o la garganta, o te cuesta respirar, llama a emergencias (911).</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retira la tarjeta «Reacción al roce». Decisión médica.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Se elimina la sección «Síntomas en distintas etapas y perfiles» (Mujeres, Niños, Hombres).</a:t>
                      </a:r>
                    </a:p>
                  </a:txBody>
                  <a:tcPr marL="60000" marR="60000" marT="40000" marB="40000" anchor="t">
                    <a:solidFill>
                      <a:srgbClr val="F8FAFC"/>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18</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Preguntas frecuentes (desplegadas)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faq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«¿Por qué la comezón empeora por la noche?» hasta tener una fuente confiable.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8FAFC"/>
                    </a:solidFill>
                  </a:tcPr>
                </a:tc>
                <a:tc>
                  <a:txBody>
                    <a:bodyPr wrap="square"/>
                    <a:lstStyle/>
                    <a:p>
                      <a:r>
                        <a:rPr sz="1050" b="0">
                          <a:solidFill>
                            <a:srgbClr val="22383F"/>
                          </a:solidFill>
                          <a:latin typeface="Calibri"/>
                        </a:rPr>
                        <a:t>P: «¿El estrés causa la urticaria crónica espontánea?» R: «No se identifica un desencadenante en esta enfermedad. Vivir con ronchas y comezón sí puede generar estrés. Coméntalo con tu médico.» Antes: «¿El estrés puede causar los brotes?»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FFFFF"/>
                    </a:solidFill>
                  </a:tcPr>
                </a:tc>
                <a:tc>
                  <a:txBody>
                    <a:bodyPr wrap="square"/>
                    <a:lstStyle/>
                    <a:p>
                      <a:r>
                        <a:rPr sz="1050" b="0">
                          <a:solidFill>
                            <a:srgbClr val="22383F"/>
                          </a:solidFill>
                          <a:latin typeface="Calibri"/>
                        </a:rPr>
                        <a:t>P: «¿Cuánto dura una roncha?» R: «Las ronchas cambian, desaparecen y reaparecen en minutos u horas; es poco común que una dure más de 48 horas. Si los síntomas duran más de seis semanas, se considera urticaria crónica.» Antes: «¿Cuánto dura un brote?»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8FAFC"/>
                    </a:solidFill>
                  </a:tcPr>
                </a:tc>
                <a:tc>
                  <a:txBody>
                    <a:bodyPr wrap="square"/>
                    <a:lstStyle/>
                    <a:p>
                      <a:r>
                        <a:rPr sz="1050" b="0">
                          <a:solidFill>
                            <a:srgbClr val="5A6A6D"/>
                          </a:solidFill>
                          <a:latin typeface="Calibri"/>
                        </a:rPr>
                        <a:t>Sin cambio: «¿La urticaria deja cicatrices?» No se afirma nada sobre cicatrices.</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FFFFF"/>
                    </a:solidFill>
                  </a:tcPr>
                </a:tc>
                <a:tc>
                  <a:txBody>
                    <a:bodyPr wrap="square"/>
                    <a:lstStyle/>
                    <a:p>
                      <a:r>
                        <a:rPr sz="1050" b="0">
                          <a:solidFill>
                            <a:srgbClr val="5A6A6D"/>
                          </a:solidFill>
                          <a:latin typeface="Calibri"/>
                        </a:rPr>
                        <a:t>Sin cambio: «¿Es contagiosa?», pendiente de cita.</a:t>
                      </a:r>
                    </a:p>
                  </a:txBody>
                  <a:tcPr marL="60000" marR="60000" marT="40000" marB="40000" anchor="t">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19</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02 · SÍNTOMAS</a:t>
            </a:r>
          </a:p>
          <a:p>
            <a:r>
              <a:rPr sz="2000" b="1">
                <a:solidFill>
                  <a:srgbClr val="22383F"/>
                </a:solidFill>
                <a:latin typeface="Calibri"/>
              </a:rPr>
              <a:t>Cierre y pie de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_cierr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«Lleva un registro para tu próxima consulta. Anota cuándo aparecen las ronchas, su intensidad y cómo afectan tu día a día. Llegar a tu cita con tus síntomas anotados facilita que tu médico los valore.»</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Pie con: logotipo de Novartis y «Una iniciativa de Novartis Reimagining Medicine»; «Consulte a su médico»; «Recuerda: únicamente un profesional de la salud puede hacer un diagnóstico de esta enfermedad y sugerir un tratamiento específico»; ID de contenido; fecha de vigencia; «Imágenes ilustrativas: no corresponden a pacientes reales».</a:t>
                      </a:r>
                    </a:p>
                  </a:txBody>
                  <a:tcPr marL="60000" marR="60000" marT="40000" marB="40000" anchor="t">
                    <a:solidFill>
                      <a:srgbClr val="F8FAFC"/>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238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228600"/>
          </a:xfrm>
          <a:prstGeom prst="rect">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0000" y="800000"/>
            <a:ext cx="5600000" cy="3000000"/>
          </a:xfrm>
          <a:prstGeom prst="rect">
            <a:avLst/>
          </a:prstGeom>
          <a:noFill/>
        </p:spPr>
        <p:txBody>
          <a:bodyPr wrap="square" anchor="t" lIns="0" rIns="0" tIns="0" bIns="0">
            <a:spAutoFit/>
          </a:bodyPr>
          <a:lstStyle/>
          <a:p>
            <a:pPr>
              <a:spcAft>
                <a:spcPts val="400"/>
              </a:spcAft>
            </a:pPr>
            <a:r>
              <a:rPr sz="1300" b="1">
                <a:solidFill>
                  <a:srgbClr val="F0A69F"/>
                </a:solidFill>
                <a:latin typeface="Calibri"/>
              </a:rPr>
              <a:t>SECCIÓN 03</a:t>
            </a:r>
          </a:p>
          <a:p>
            <a:pPr>
              <a:spcAft>
                <a:spcPts val="600"/>
              </a:spcAft>
            </a:pPr>
            <a:r>
              <a:rPr sz="4000" b="1">
                <a:solidFill>
                  <a:srgbClr val="FFFFFF"/>
                </a:solidFill>
                <a:latin typeface="Calibri"/>
              </a:rPr>
              <a:t>TRATAMIENTOS</a:t>
            </a:r>
          </a:p>
          <a:p>
            <a:pPr>
              <a:spcAft>
                <a:spcPts val="1600"/>
              </a:spcAft>
            </a:pPr>
            <a:r>
              <a:rPr sz="1300" b="0">
                <a:solidFill>
                  <a:srgbClr val="CBD5E1"/>
                </a:solidFill>
                <a:latin typeface="Calibri"/>
              </a:rPr>
              <a:t>masqueurticaria.org/tratamiento/</a:t>
            </a:r>
          </a:p>
          <a:p>
            <a:r>
              <a:rPr sz="1500" b="0">
                <a:solidFill>
                  <a:srgbClr val="FFFFFF"/>
                </a:solidFill>
                <a:latin typeface="Calibri"/>
              </a:rPr>
              <a:t>La página que orienta hacia el médico. Se eliminan los medicamentos y los remedios, y se redirige al directorio.</a:t>
            </a:r>
          </a:p>
        </p:txBody>
      </p:sp>
      <p:sp>
        <p:nvSpPr>
          <p:cNvPr id="5" name="TextBox 4"/>
          <p:cNvSpPr txBox="1"/>
          <p:nvPr/>
        </p:nvSpPr>
        <p:spPr>
          <a:xfrm>
            <a:off x="7200000" y="800000"/>
            <a:ext cx="4500000" cy="3000000"/>
          </a:xfrm>
          <a:prstGeom prst="rect">
            <a:avLst/>
          </a:prstGeom>
          <a:noFill/>
        </p:spPr>
        <p:txBody>
          <a:bodyPr wrap="square" anchor="t" lIns="0" rIns="0" tIns="0" bIns="0">
            <a:spAutoFit/>
          </a:bodyPr>
          <a:lstStyle/>
          <a:p>
            <a:pPr>
              <a:spcAft>
                <a:spcPts val="600"/>
              </a:spcAft>
            </a:pPr>
            <a:r>
              <a:rPr sz="1300" b="1">
                <a:solidFill>
                  <a:srgbClr val="F0A69F"/>
                </a:solidFill>
                <a:latin typeface="Calibri"/>
              </a:rPr>
              <a:t>Qué incluye</a:t>
            </a:r>
          </a:p>
          <a:p>
            <a:pPr>
              <a:spcAft>
                <a:spcPts val="500"/>
              </a:spcAft>
            </a:pPr>
            <a:r>
              <a:rPr sz="1400" b="0">
                <a:solidFill>
                  <a:srgbClr val="FFFFFF"/>
                </a:solidFill>
                <a:latin typeface="Calibri"/>
              </a:rPr>
              <a:t>•  Encabezado</a:t>
            </a:r>
          </a:p>
          <a:p>
            <a:pPr>
              <a:spcAft>
                <a:spcPts val="500"/>
              </a:spcAft>
            </a:pPr>
            <a:r>
              <a:rPr sz="1400" b="0">
                <a:solidFill>
                  <a:srgbClr val="FFFFFF"/>
                </a:solidFill>
                <a:latin typeface="Calibri"/>
              </a:rPr>
              <a:t>•  Cómo se aborda y secciones que se eliminan</a:t>
            </a:r>
          </a:p>
          <a:p>
            <a:pPr>
              <a:spcAft>
                <a:spcPts val="500"/>
              </a:spcAft>
            </a:pPr>
            <a:r>
              <a:rPr sz="1400" b="0">
                <a:solidFill>
                  <a:srgbClr val="FFFFFF"/>
                </a:solidFill>
                <a:latin typeface="Calibri"/>
              </a:rPr>
              <a:t>•  Especialistas</a:t>
            </a:r>
          </a:p>
          <a:p>
            <a:pPr>
              <a:spcAft>
                <a:spcPts val="500"/>
              </a:spcAft>
            </a:pPr>
            <a:r>
              <a:rPr sz="1400" b="0">
                <a:solidFill>
                  <a:srgbClr val="FFFFFF"/>
                </a:solidFill>
                <a:latin typeface="Calibri"/>
              </a:rPr>
              <a:t>•  Preguntas frecuentes y cierre</a:t>
            </a:r>
          </a:p>
          <a:p>
            <a:pPr>
              <a:spcAft>
                <a:spcPts val="500"/>
              </a:spcAft>
            </a:pPr>
            <a:r>
              <a:rPr sz="1400" b="0">
                <a:solidFill>
                  <a:srgbClr val="FFFFFF"/>
                </a:solidFill>
                <a:latin typeface="Calibri"/>
              </a:rPr>
              <a:t>•  Pie de página y nota de diagnóstico</a:t>
            </a:r>
          </a:p>
        </p:txBody>
      </p:sp>
      <p:sp>
        <p:nvSpPr>
          <p:cNvPr id="6" name="TextBox 5"/>
          <p:cNvSpPr txBox="1"/>
          <p:nvPr/>
        </p:nvSpPr>
        <p:spPr>
          <a:xfrm>
            <a:off x="1000000" y="3950000"/>
            <a:ext cx="6000000" cy="300000"/>
          </a:xfrm>
          <a:prstGeom prst="rect">
            <a:avLst/>
          </a:prstGeom>
          <a:noFill/>
        </p:spPr>
        <p:txBody>
          <a:bodyPr wrap="square" anchor="t" lIns="0" rIns="0" tIns="0" bIns="0">
            <a:spAutoFit/>
          </a:bodyPr>
          <a:lstStyle/>
          <a:p>
            <a:r>
              <a:rPr sz="1200" b="1">
                <a:solidFill>
                  <a:srgbClr val="F0A69F"/>
                </a:solidFill>
                <a:latin typeface="Calibri"/>
              </a:rPr>
              <a:t>Estás aquí en el mapa del sitio</a:t>
            </a:r>
          </a:p>
        </p:txBody>
      </p:sp>
      <p:sp>
        <p:nvSpPr>
          <p:cNvPr id="7" name="Rounded Rectangle 6"/>
          <p:cNvSpPr/>
          <p:nvPr/>
        </p:nvSpPr>
        <p:spPr>
          <a:xfrm>
            <a:off x="4600000" y="4300000"/>
            <a:ext cx="3000000" cy="420000"/>
          </a:xfrm>
          <a:prstGeom prst="roundRect">
            <a:avLst>
              <a:gd name="adj" fmla="val 12000"/>
            </a:avLst>
          </a:prstGeom>
          <a:solidFill>
            <a:srgbClr val="E05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200" b="1">
                <a:solidFill>
                  <a:srgbClr val="FFFFFF"/>
                </a:solidFill>
                <a:latin typeface="Calibri"/>
              </a:rPr>
              <a:t>masqueurticaria.org</a:t>
            </a:r>
          </a:p>
        </p:txBody>
      </p:sp>
      <p:cxnSp>
        <p:nvCxnSpPr>
          <p:cNvPr id="8" name="Connector 7"/>
          <p:cNvCxnSpPr/>
          <p:nvPr/>
        </p:nvCxnSpPr>
        <p:spPr>
          <a:xfrm>
            <a:off x="6100000" y="47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598125" y="4920000"/>
            <a:ext cx="900375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598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0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Inicio</a:t>
            </a:r>
          </a:p>
        </p:txBody>
      </p:sp>
      <p:cxnSp>
        <p:nvCxnSpPr>
          <p:cNvPr id="12" name="Connector 11"/>
          <p:cNvCxnSpPr/>
          <p:nvPr/>
        </p:nvCxnSpPr>
        <p:spPr>
          <a:xfrm>
            <a:off x="2884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286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Recursos</a:t>
            </a:r>
          </a:p>
        </p:txBody>
      </p:sp>
      <p:cxnSp>
        <p:nvCxnSpPr>
          <p:cNvPr id="14" name="Connector 13"/>
          <p:cNvCxnSpPr/>
          <p:nvPr/>
        </p:nvCxnSpPr>
        <p:spPr>
          <a:xfrm>
            <a:off x="4170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72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Síntomas</a:t>
            </a:r>
          </a:p>
        </p:txBody>
      </p:sp>
      <p:cxnSp>
        <p:nvCxnSpPr>
          <p:cNvPr id="16" name="Connector 15"/>
          <p:cNvCxnSpPr/>
          <p:nvPr/>
        </p:nvCxnSpPr>
        <p:spPr>
          <a:xfrm>
            <a:off x="5456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58750" y="5120000"/>
            <a:ext cx="1196250" cy="430000"/>
          </a:xfrm>
          <a:prstGeom prst="roundRect">
            <a:avLst>
              <a:gd name="adj" fmla="val 12000"/>
            </a:avLst>
          </a:prstGeom>
          <a:solidFill>
            <a:srgbClr val="E0584D"/>
          </a:solidFill>
          <a:ln w="12700">
            <a:solidFill>
              <a:srgbClr val="E0584D"/>
            </a:solid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Tratamientos</a:t>
            </a:r>
          </a:p>
        </p:txBody>
      </p:sp>
      <p:cxnSp>
        <p:nvCxnSpPr>
          <p:cNvPr id="18" name="Connector 17"/>
          <p:cNvCxnSpPr/>
          <p:nvPr/>
        </p:nvCxnSpPr>
        <p:spPr>
          <a:xfrm>
            <a:off x="67431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450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Directorio médico</a:t>
            </a:r>
          </a:p>
        </p:txBody>
      </p:sp>
      <p:cxnSp>
        <p:nvCxnSpPr>
          <p:cNvPr id="20" name="Connector 19"/>
          <p:cNvCxnSpPr/>
          <p:nvPr/>
        </p:nvCxnSpPr>
        <p:spPr>
          <a:xfrm>
            <a:off x="80293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4312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Testimonios</a:t>
            </a:r>
          </a:p>
        </p:txBody>
      </p:sp>
      <p:cxnSp>
        <p:nvCxnSpPr>
          <p:cNvPr id="22" name="Connector 21"/>
          <p:cNvCxnSpPr/>
          <p:nvPr/>
        </p:nvCxnSpPr>
        <p:spPr>
          <a:xfrm>
            <a:off x="931562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1750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Blog</a:t>
            </a:r>
          </a:p>
        </p:txBody>
      </p:sp>
      <p:cxnSp>
        <p:nvCxnSpPr>
          <p:cNvPr id="24" name="Connector 23"/>
          <p:cNvCxnSpPr/>
          <p:nvPr/>
        </p:nvCxnSpPr>
        <p:spPr>
          <a:xfrm>
            <a:off x="10601875" y="4920000"/>
            <a:ext cx="0" cy="20000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003750" y="5120000"/>
            <a:ext cx="1196250" cy="430000"/>
          </a:xfrm>
          <a:prstGeom prst="roundRect">
            <a:avLst>
              <a:gd name="adj" fmla="val 12000"/>
            </a:avLst>
          </a:prstGeom>
          <a:solidFill>
            <a:srgbClr val="2C45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000" rIns="50000" tIns="20000" bIns="20000"/>
          <a:lstStyle/>
          <a:p>
            <a:pPr algn="ctr"/>
            <a:r>
              <a:rPr sz="1050" b="1">
                <a:solidFill>
                  <a:srgbClr val="FFFFFF"/>
                </a:solidFill>
                <a:latin typeface="Calibri"/>
              </a:rPr>
              <a:t>Acerca 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21</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Encabezado de la página</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head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78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Titular: «¿La comezón de la tarde interfiere con tus actividades? Habla con tu médico sobre tu tratamiento». Antes: «…Opciones de tratamiento para mantener el control»</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Texto: «La comezón puede afectar tu vida personal y laboral. Un profesional de la salud puede valorar tu caso y orientarte sobre el tratamiento.» Se quita la promesa «te devolverán la concentración».</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3</a:t>
                      </a:r>
                    </a:p>
                  </a:txBody>
                  <a:tcPr marL="60000" marR="60000" marT="40000" marB="40000" anchor="t">
                    <a:solidFill>
                      <a:srgbClr val="FFFFFF"/>
                    </a:solidFill>
                  </a:tcPr>
                </a:tc>
                <a:tc>
                  <a:txBody>
                    <a:bodyPr wrap="square"/>
                    <a:lstStyle/>
                    <a:p>
                      <a:r>
                        <a:rPr sz="1050" b="0">
                          <a:solidFill>
                            <a:srgbClr val="22383F"/>
                          </a:solidFill>
                          <a:latin typeface="Calibri"/>
                        </a:rPr>
                        <a:t>Botón «Encuentra a un especialista cerca de ti». Antes: «Buscar Especialista»</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4</a:t>
                      </a:r>
                    </a:p>
                  </a:txBody>
                  <a:tcPr marL="60000" marR="60000" marT="40000" marB="40000" anchor="t">
                    <a:solidFill>
                      <a:srgbClr val="F8FAFC"/>
                    </a:solidFill>
                  </a:tcPr>
                </a:tc>
                <a:tc>
                  <a:txBody>
                    <a:bodyPr wrap="square"/>
                    <a:lstStyle/>
                    <a:p>
                      <a:r>
                        <a:rPr sz="1050" b="0">
                          <a:solidFill>
                            <a:srgbClr val="22383F"/>
                          </a:solidFill>
                          <a:latin typeface="Calibri"/>
                        </a:rPr>
                        <a:t>El índice queda con 3 secciones: «¿Cómo se aborda…?», «¿Con qué especialista puedo hablar?» y «Preguntas frecuentes».</a:t>
                      </a:r>
                    </a:p>
                  </a:txBody>
                  <a:tcPr marL="60000" marR="60000" marT="40000" marB="40000" anchor="t">
                    <a:solidFill>
                      <a:srgbClr val="F8FAFC"/>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22</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Cómo se aborda (y secciones que se eliminan)</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01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216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Sección 01: «Un profesional de la salud puede valorar tus síntomas y tu historial para indicarte el manejo adecuado. No empieces, cambies ni suspendas ningún medicamento sin hablar con tu médico.»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Se elimina «¿Qué ocurre durante un brote?» (mastocitos e histamina). Si los asesores quieren conservarla, iría como una frase con cita aprobada.</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la sección «Opciones de medicamento» completa (Antihistamínicos, Corticoides, Otras opciones, Terapias dirigidas).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8FAFC"/>
                    </a:solidFill>
                  </a:tcPr>
                </a:tc>
                <a:tc>
                  <a:txBody>
                    <a:bodyPr wrap="square"/>
                    <a:lstStyle/>
                    <a:p>
                      <a:r>
                        <a:rPr sz="1050" b="0">
                          <a:solidFill>
                            <a:srgbClr val="22383F"/>
                          </a:solidFill>
                          <a:latin typeface="Calibri"/>
                        </a:rPr>
                        <a:t>Opcional, solo si Novartis y los médicos lo aprueban: «Los antihistamínicos de segunda generación se consideran el tratamiento inicial de la urticaria crónica espontánea. Tu médico decide cuál, a qué dosis y por cuánto tiempo.»</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 la sección «Medidas cotidianas y remedios» (compresas, ropa holgada, medicamentos sin receta o cremas, remedios caseros, dietas restrictivas).</a:t>
                      </a:r>
                    </a:p>
                  </a:txBody>
                  <a:tcPr marL="60000" marR="60000" marT="40000" marB="40000" anchor="t">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23</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Especialistas</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esp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«Un alergólogo o dermatólogo certificado puede valorar tus síntomas y orientarte sobre los siguientes pasos.» Antes: «Un dermatólogo o alergólogo puede valorar…»</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Se quitan las tarjetas «Dermatología» y «Alergología e inmunología». Queda un enlace directo: «Encuentra a un especialista cerca de ti».</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Letras pequeñas al pie de la sección: se quitan solo si Legal confirma que no son obligatorias.</a:t>
                      </a:r>
                    </a:p>
                  </a:txBody>
                  <a:tcPr marL="60000" marR="60000" marT="40000" marB="40000" anchor="t">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24</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Preguntas frecuentes y cierre</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faq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40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a:t>
                      </a:r>
                    </a:p>
                  </a:txBody>
                  <a:tcPr marL="60000" marR="60000" marT="40000" marB="40000" anchor="t">
                    <a:solidFill>
                      <a:srgbClr val="FFFFFF"/>
                    </a:solidFill>
                  </a:tcPr>
                </a:tc>
                <a:tc>
                  <a:txBody>
                    <a:bodyPr wrap="square"/>
                    <a:lstStyle/>
                    <a:p>
                      <a:r>
                        <a:rPr sz="1050" b="0">
                          <a:solidFill>
                            <a:srgbClr val="22383F"/>
                          </a:solidFill>
                          <a:latin typeface="Calibri"/>
                        </a:rPr>
                        <a:t>Se eliminan «¿Puedo tomar antihistamínicos sin consultar?» y «¿Por qué debo conversar sobre los corticoides?».</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8FAFC"/>
                    </a:solidFill>
                  </a:tcPr>
                </a:tc>
                <a:tc>
                  <a:txBody>
                    <a:bodyPr wrap="square"/>
                    <a:lstStyle/>
                    <a:p>
                      <a:r>
                        <a:rPr sz="1050" b="0">
                          <a:solidFill>
                            <a:srgbClr val="22383F"/>
                          </a:solidFill>
                          <a:latin typeface="Calibri"/>
                        </a:rPr>
                        <a:t>«¿Cuánto durará mi tratamiento?»: «Lo define tu médico según tu caso. No suspendas ni cambies tu tratamiento sin hablar con él.» Antes: «¿Cuánto tiempo debo tomar el medicamento?». Se puede eliminar.</a:t>
                      </a:r>
                    </a:p>
                  </a:txBody>
                  <a:tcPr marL="60000" marR="60000" marT="40000" marB="40000" anchor="t">
                    <a:solidFill>
                      <a:srgbClr val="F8FAFC"/>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FFFFF"/>
                    </a:solidFill>
                  </a:tcPr>
                </a:tc>
                <a:tc>
                  <a:txBody>
                    <a:bodyPr wrap="square"/>
                    <a:lstStyle/>
                    <a:p>
                      <a:r>
                        <a:rPr sz="1050" b="0">
                          <a:solidFill>
                            <a:srgbClr val="22383F"/>
                          </a:solidFill>
                          <a:latin typeface="Calibri"/>
                        </a:rPr>
                        <a:t>Cierre: «Visita a tu médico. Prepara tus preguntas y conversa con un profesional de la salud sobre tu tratamiento.» Botón «Encuentra a un especialista cerca de ti».</a:t>
                      </a:r>
                    </a:p>
                  </a:txBody>
                  <a:tcPr marL="60000" marR="60000" marT="40000" marB="40000" anchor="t">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25</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SECCIÓN 03 · TRATAMIENTOS</a:t>
            </a:r>
          </a:p>
          <a:p>
            <a:r>
              <a:rPr sz="2000" b="1">
                <a:solidFill>
                  <a:srgbClr val="22383F"/>
                </a:solidFill>
                <a:latin typeface="Calibri"/>
              </a:rPr>
              <a:t>Pie de página y nota de diagnóstico</a:t>
            </a:r>
          </a:p>
        </p:txBody>
      </p:sp>
      <p:sp>
        <p:nvSpPr>
          <p:cNvPr id="4" name="Rectangle 3"/>
          <p:cNvSpPr/>
          <p:nvPr/>
        </p:nvSpPr>
        <p:spPr>
          <a:xfrm>
            <a:off x="330000" y="905000"/>
            <a:ext cx="7400000" cy="41823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_pie_m.jpg"/>
          <p:cNvPicPr>
            <a:picLocks noChangeAspect="1"/>
          </p:cNvPicPr>
          <p:nvPr/>
        </p:nvPicPr>
        <p:blipFill>
          <a:blip r:embed="rId2"/>
          <a:stretch>
            <a:fillRect/>
          </a:stretch>
        </p:blipFill>
        <p:spPr>
          <a:xfrm>
            <a:off x="355000" y="930000"/>
            <a:ext cx="7350000" cy="4132357"/>
          </a:xfrm>
          <a:prstGeom prst="rect">
            <a:avLst/>
          </a:prstGeom>
        </p:spPr>
      </p:pic>
      <p:graphicFrame>
        <p:nvGraphicFramePr>
          <p:cNvPr id="6" name="Table 5"/>
          <p:cNvGraphicFramePr>
            <a:graphicFrameLocks noGrp="1"/>
          </p:cNvGraphicFramePr>
          <p:nvPr/>
        </p:nvGraphicFramePr>
        <p:xfrm>
          <a:off x="7905000" y="930000"/>
          <a:ext cx="3987000" cy="1020000"/>
        </p:xfrm>
        <a:graphic>
          <a:graphicData uri="http://schemas.openxmlformats.org/drawingml/2006/table">
            <a:tbl>
              <a:tblPr firstRow="1" bandRow="1">
                <a:tableStyleId>{5C22544A-7EE6-4342-B048-85BDC9FD1C3A}</a:tableStyleId>
              </a:tblPr>
              <a:tblGrid>
                <a:gridCol w="300000"/>
                <a:gridCol w="3687000"/>
              </a:tblGrid>
              <a:tr h="260000">
                <a:tc>
                  <a:txBody>
                    <a:bodyPr wrap="square"/>
                    <a:lstStyle/>
                    <a:p>
                      <a:r>
                        <a:rPr sz="900" b="1">
                          <a:solidFill>
                            <a:srgbClr val="FFFFFF"/>
                          </a:solidFill>
                          <a:latin typeface="Calibri"/>
                        </a:rPr>
                        <a:t>#</a:t>
                      </a:r>
                    </a:p>
                  </a:txBody>
                  <a:tcPr marL="60000" marR="60000" marT="40000" marB="40000" anchor="t">
                    <a:solidFill>
                      <a:srgbClr val="22383F"/>
                    </a:solidFill>
                  </a:tcPr>
                </a:tc>
                <a:tc>
                  <a:txBody>
                    <a:bodyPr wrap="square"/>
                    <a:lstStyle/>
                    <a:p>
                      <a:r>
                        <a:rPr sz="900" b="1">
                          <a:solidFill>
                            <a:srgbClr val="FFFFFF"/>
                          </a:solidFill>
                          <a:latin typeface="Calibri"/>
                        </a:rPr>
                        <a:t>Texto propuesto y qué cambia</a:t>
                      </a:r>
                    </a:p>
                  </a:txBody>
                  <a:tcPr marL="60000" marR="60000" marT="40000" marB="40000" anchor="t">
                    <a:solidFill>
                      <a:srgbClr val="22383F"/>
                    </a:solidFill>
                  </a:tcPr>
                </a:tc>
              </a:tr>
              <a:tr h="380000">
                <a:tc>
                  <a:txBody>
                    <a:bodyPr wrap="square"/>
                    <a:lstStyle/>
                    <a:p>
                      <a:pPr algn="ctr"/>
                      <a:r>
                        <a:rPr sz="1150" b="1">
                          <a:solidFill>
                            <a:srgbClr val="E0584D"/>
                          </a:solidFill>
                          <a:latin typeface="Calibri"/>
                        </a:rPr>
                        <a:t>1</a:t>
                      </a:r>
                    </a:p>
                  </a:txBody>
                  <a:tcPr marL="60000" marR="60000" marT="40000" marB="40000" anchor="t">
                    <a:solidFill>
                      <a:srgbClr val="FFFFFF"/>
                    </a:solidFill>
                  </a:tcPr>
                </a:tc>
                <a:tc>
                  <a:txBody>
                    <a:bodyPr wrap="square"/>
                    <a:lstStyle/>
                    <a:p>
                      <a:r>
                        <a:rPr sz="1050" b="0">
                          <a:solidFill>
                            <a:srgbClr val="22383F"/>
                          </a:solidFill>
                          <a:latin typeface="Calibri"/>
                        </a:rPr>
                        <a:t>La nota «Recuerda: únicamente un profesional de la salud puede hacer un diagnóstico de esta enfermedad y sugerir un tratamiento específico» aparece en cada sección donde se hable de tratamiento.</a:t>
                      </a:r>
                    </a:p>
                  </a:txBody>
                  <a:tcPr marL="60000" marR="60000" marT="40000" marB="40000" anchor="t">
                    <a:solidFill>
                      <a:srgbClr val="FFFFFF"/>
                    </a:solidFill>
                  </a:tcPr>
                </a:tc>
              </a:tr>
              <a:tr h="380000">
                <a:tc>
                  <a:txBody>
                    <a:bodyPr wrap="square"/>
                    <a:lstStyle/>
                    <a:p>
                      <a:pPr algn="ctr"/>
                      <a:r>
                        <a:rPr sz="1150" b="1">
                          <a:solidFill>
                            <a:srgbClr val="E0584D"/>
                          </a:solidFill>
                          <a:latin typeface="Calibri"/>
                        </a:rPr>
                        <a:t>2</a:t>
                      </a:r>
                    </a:p>
                  </a:txBody>
                  <a:tcPr marL="60000" marR="60000" marT="40000" marB="40000" anchor="t">
                    <a:solidFill>
                      <a:srgbClr val="F8FAFC"/>
                    </a:solidFill>
                  </a:tcPr>
                </a:tc>
                <a:tc>
                  <a:txBody>
                    <a:bodyPr wrap="square"/>
                    <a:lstStyle/>
                    <a:p>
                      <a:r>
                        <a:rPr sz="1050" b="0">
                          <a:solidFill>
                            <a:srgbClr val="22383F"/>
                          </a:solidFill>
                          <a:latin typeface="Calibri"/>
                        </a:rPr>
                        <a:t>Pie con logotipo, «una iniciativa de Novartis Reimagining Medicine», «Consulte a su médico», ID de contenido, vigencia y leyenda de imágenes. Antes: letras pequeñas y «Sitio desarrollado con el patrocinio de Novartis».</a:t>
                      </a:r>
                    </a:p>
                  </a:txBody>
                  <a:tcPr marL="60000" marR="60000" marT="40000" marB="40000" anchor="t">
                    <a:solidFill>
                      <a:srgbClr val="F8FAFC"/>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26</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FUENTES</a:t>
            </a:r>
          </a:p>
          <a:p>
            <a:r>
              <a:rPr sz="2000" b="1">
                <a:solidFill>
                  <a:srgbClr val="22383F"/>
                </a:solidFill>
                <a:latin typeface="Calibri"/>
              </a:rPr>
              <a:t>Referencias y citas textuales</a:t>
            </a:r>
          </a:p>
        </p:txBody>
      </p:sp>
      <p:sp>
        <p:nvSpPr>
          <p:cNvPr id="4" name="TextBox 3"/>
          <p:cNvSpPr txBox="1"/>
          <p:nvPr/>
        </p:nvSpPr>
        <p:spPr>
          <a:xfrm>
            <a:off x="355000" y="930000"/>
            <a:ext cx="11500000" cy="256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[1] </a:t>
            </a:r>
            <a:r>
              <a:rPr sz="1100" b="0">
                <a:solidFill>
                  <a:srgbClr val="22383F"/>
                </a:solidFill>
                <a:latin typeface="Calibri"/>
              </a:rPr>
              <a:t>Tbakhi, B., Ware, K., Park, H.-S., Bernstein, J. S. y Bernstein, J. A. (2025). An overview of chronic spontaneous urticaria: Diagnosis, management, and treatment. Allergy, Asthma &amp; Immunology Research, 17(5). https://doi.org/10.4168/aair.2025.17.5.531 (acceso abierto en PubMed Central, PMC12511800).</a:t>
            </a:r>
          </a:p>
          <a:p>
            <a:pPr>
              <a:spcAft>
                <a:spcPts val="200"/>
              </a:spcAft>
            </a:pPr>
            <a:r>
              <a:rPr sz="1050" b="0">
                <a:solidFill>
                  <a:srgbClr val="5A6A6D"/>
                </a:solidFill>
                <a:latin typeface="Calibri"/>
              </a:rPr>
              <a:t>•  «characterized by recurrent pruritic wheals, angioedema, or both lasting over six weeks» (el pasaje define la urticaria crónica en general).</a:t>
            </a:r>
          </a:p>
          <a:p>
            <a:pPr>
              <a:spcAft>
                <a:spcPts val="200"/>
              </a:spcAft>
            </a:pPr>
            <a:r>
              <a:rPr sz="1050" b="0">
                <a:solidFill>
                  <a:srgbClr val="5A6A6D"/>
                </a:solidFill>
                <a:latin typeface="Calibri"/>
              </a:rPr>
              <a:t>•  CSU «arises without an identifiable reproducible trigger».</a:t>
            </a:r>
          </a:p>
          <a:p>
            <a:pPr>
              <a:spcAft>
                <a:spcPts val="200"/>
              </a:spcAft>
            </a:pPr>
            <a:r>
              <a:rPr sz="1050" b="0">
                <a:solidFill>
                  <a:srgbClr val="5A6A6D"/>
                </a:solidFill>
                <a:latin typeface="Calibri"/>
              </a:rPr>
              <a:t>•  «can significantly affect life functionality, including daily activities, sleep quality, and work performance».</a:t>
            </a:r>
          </a:p>
          <a:p>
            <a:pPr>
              <a:spcAft>
                <a:spcPts val="200"/>
              </a:spcAft>
            </a:pPr>
            <a:r>
              <a:rPr sz="1050" b="0">
                <a:solidFill>
                  <a:srgbClr val="5A6A6D"/>
                </a:solidFill>
                <a:latin typeface="Calibri"/>
              </a:rPr>
              <a:t>•  «Psychological stress for patients often stems from CSU’s variable range of symptom manifestations».</a:t>
            </a:r>
          </a:p>
          <a:p>
            <a:pPr>
              <a:spcAft>
                <a:spcPts val="200"/>
              </a:spcAft>
            </a:pPr>
            <a:r>
              <a:rPr sz="1050" b="0">
                <a:solidFill>
                  <a:srgbClr val="5A6A6D"/>
                </a:solidFill>
                <a:latin typeface="Calibri"/>
              </a:rPr>
              <a:t>•  Urticaria inducible: los estímulos «can include heat, cholinergic, scratching (dermatographism), cold, solar, vibratory, and pressure».</a:t>
            </a:r>
          </a:p>
          <a:p>
            <a:pPr>
              <a:spcAft>
                <a:spcPts val="200"/>
              </a:spcAft>
            </a:pPr>
            <a:r>
              <a:rPr sz="1050" b="0">
                <a:solidFill>
                  <a:srgbClr val="5A6A6D"/>
                </a:solidFill>
                <a:latin typeface="Calibri"/>
              </a:rPr>
              <a:t>•  «Second-generation antihistamines remain the cornerstone of first-line therapy for CSU».</a:t>
            </a:r>
          </a:p>
        </p:txBody>
      </p:sp>
      <p:sp>
        <p:nvSpPr>
          <p:cNvPr id="5" name="TextBox 4"/>
          <p:cNvSpPr txBox="1"/>
          <p:nvPr/>
        </p:nvSpPr>
        <p:spPr>
          <a:xfrm>
            <a:off x="355000" y="3610000"/>
            <a:ext cx="11500000" cy="2090000"/>
          </a:xfrm>
          <a:prstGeom prst="rect">
            <a:avLst/>
          </a:prstGeom>
          <a:noFill/>
        </p:spPr>
        <p:txBody>
          <a:bodyPr wrap="square" anchor="t" lIns="0" rIns="0" tIns="0" bIns="0">
            <a:spAutoFit/>
          </a:bodyPr>
          <a:lstStyle/>
          <a:p>
            <a:pPr>
              <a:spcAft>
                <a:spcPts val="400"/>
              </a:spcAft>
            </a:pPr>
            <a:r>
              <a:rPr sz="1200" b="1">
                <a:solidFill>
                  <a:srgbClr val="E0584D"/>
                </a:solidFill>
                <a:latin typeface="Calibri"/>
              </a:rPr>
              <a:t>[2] </a:t>
            </a:r>
            <a:r>
              <a:rPr sz="1100" b="0">
                <a:solidFill>
                  <a:srgbClr val="22383F"/>
                </a:solidFill>
                <a:latin typeface="Calibri"/>
              </a:rPr>
              <a:t>MedlinePlus. (2025). Hives. U.S. National Library of Medicine. Revisado el 1 de abril de 2025 por E. Hoss, MD (Mayo Clinic). https://medlineplus.gov/ency/article/000845.htm</a:t>
            </a:r>
          </a:p>
          <a:p>
            <a:pPr>
              <a:spcAft>
                <a:spcPts val="200"/>
              </a:spcAft>
            </a:pPr>
            <a:r>
              <a:rPr sz="1050" b="0">
                <a:solidFill>
                  <a:srgbClr val="5A6A6D"/>
                </a:solidFill>
                <a:latin typeface="Calibri"/>
              </a:rPr>
              <a:t>•  «Wheals often change shape, disappear, and reappear within minutes or hours».</a:t>
            </a:r>
          </a:p>
          <a:p>
            <a:pPr>
              <a:spcAft>
                <a:spcPts val="200"/>
              </a:spcAft>
            </a:pPr>
            <a:r>
              <a:rPr sz="1050" b="0">
                <a:solidFill>
                  <a:srgbClr val="5A6A6D"/>
                </a:solidFill>
                <a:latin typeface="Calibri"/>
              </a:rPr>
              <a:t>•  «It is unusual for a wheal to last more than 48 hours».</a:t>
            </a:r>
          </a:p>
          <a:p>
            <a:pPr>
              <a:spcAft>
                <a:spcPts val="200"/>
              </a:spcAft>
            </a:pPr>
            <a:r>
              <a:rPr sz="1050" b="0">
                <a:solidFill>
                  <a:srgbClr val="5A6A6D"/>
                </a:solidFill>
                <a:latin typeface="Calibri"/>
              </a:rPr>
              <a:t>•  «When the condition lasts longer than 6 weeks, it is called chronic hives».</a:t>
            </a:r>
          </a:p>
          <a:p>
            <a:pPr>
              <a:spcAft>
                <a:spcPts val="200"/>
              </a:spcAft>
            </a:pPr>
            <a:r>
              <a:rPr sz="1050" b="0">
                <a:solidFill>
                  <a:srgbClr val="5A6A6D"/>
                </a:solidFill>
                <a:latin typeface="Calibri"/>
              </a:rPr>
              <a:t>•  «Call 911 or the local emergency number if you have:» … «Tightness in your throat» … «Shortness of breath».</a:t>
            </a:r>
          </a:p>
        </p:txBody>
      </p:sp>
      <p:sp>
        <p:nvSpPr>
          <p:cNvPr id="6" name="TextBox 5"/>
          <p:cNvSpPr txBox="1"/>
          <p:nvPr/>
        </p:nvSpPr>
        <p:spPr>
          <a:xfrm>
            <a:off x="355000" y="6050000"/>
            <a:ext cx="11500000" cy="700000"/>
          </a:xfrm>
          <a:prstGeom prst="rect">
            <a:avLst/>
          </a:prstGeom>
          <a:noFill/>
        </p:spPr>
        <p:txBody>
          <a:bodyPr wrap="square" anchor="t" lIns="0" rIns="0" tIns="0" bIns="0">
            <a:spAutoFit/>
          </a:bodyPr>
          <a:lstStyle/>
          <a:p>
            <a:r>
              <a:rPr sz="1100" b="1">
                <a:solidFill>
                  <a:srgbClr val="E0584D"/>
                </a:solidFill>
                <a:latin typeface="Calibri"/>
              </a:rPr>
              <a:t>[R] </a:t>
            </a:r>
            <a:r>
              <a:rPr sz="1100" b="0">
                <a:solidFill>
                  <a:srgbClr val="22383F"/>
                </a:solidFill>
                <a:latin typeface="Calibri"/>
              </a:rPr>
              <a:t>Reunión «Revisión | Ajustes novartis», 22 de octubre de 2026 (notas de Gemini). </a:t>
            </a:r>
            <a:r>
              <a:rPr sz="1100" b="1">
                <a:solidFill>
                  <a:srgbClr val="22383F"/>
                </a:solidFill>
                <a:latin typeface="Calibri"/>
              </a:rPr>
              <a:t>Las citas están en inglés porque así están publicadas; los textos propuestos en español son redacción nuestra y requieren validación médica.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00000" y="6520000"/>
            <a:ext cx="600000" cy="200000"/>
          </a:xfrm>
          <a:prstGeom prst="rect">
            <a:avLst/>
          </a:prstGeom>
          <a:noFill/>
        </p:spPr>
        <p:txBody>
          <a:bodyPr wrap="square" anchor="t" lIns="0" rIns="0" tIns="0" bIns="0">
            <a:spAutoFit/>
          </a:bodyPr>
          <a:lstStyle/>
          <a:p>
            <a:pPr algn="r"/>
            <a:r>
              <a:rPr sz="900" b="0">
                <a:solidFill>
                  <a:srgbClr val="5A6A6D"/>
                </a:solidFill>
                <a:latin typeface="Calibri"/>
              </a:rPr>
              <a:t>27</a:t>
            </a:r>
          </a:p>
        </p:txBody>
      </p:sp>
      <p:sp>
        <p:nvSpPr>
          <p:cNvPr id="3" name="TextBox 2"/>
          <p:cNvSpPr txBox="1"/>
          <p:nvPr/>
        </p:nvSpPr>
        <p:spPr>
          <a:xfrm>
            <a:off x="355000" y="170000"/>
            <a:ext cx="11500000" cy="700000"/>
          </a:xfrm>
          <a:prstGeom prst="rect">
            <a:avLst/>
          </a:prstGeom>
          <a:noFill/>
        </p:spPr>
        <p:txBody>
          <a:bodyPr wrap="square" anchor="t" lIns="0" rIns="0" tIns="0" bIns="0">
            <a:spAutoFit/>
          </a:bodyPr>
          <a:lstStyle/>
          <a:p>
            <a:pPr>
              <a:spcAft>
                <a:spcPts val="100"/>
              </a:spcAft>
            </a:pPr>
            <a:r>
              <a:rPr sz="1100" b="1">
                <a:solidFill>
                  <a:srgbClr val="E0584D"/>
                </a:solidFill>
                <a:latin typeface="Calibri"/>
              </a:rPr>
              <a:t>APROBACIÓN</a:t>
            </a:r>
          </a:p>
          <a:p>
            <a:r>
              <a:rPr sz="2000" b="1">
                <a:solidFill>
                  <a:srgbClr val="22383F"/>
                </a:solidFill>
                <a:latin typeface="Calibri"/>
              </a:rPr>
              <a:t>Aprobación de los textos</a:t>
            </a:r>
          </a:p>
        </p:txBody>
      </p:sp>
      <p:sp>
        <p:nvSpPr>
          <p:cNvPr id="4" name="TextBox 3"/>
          <p:cNvSpPr txBox="1"/>
          <p:nvPr/>
        </p:nvSpPr>
        <p:spPr>
          <a:xfrm>
            <a:off x="355000" y="1100000"/>
            <a:ext cx="11000000" cy="1400000"/>
          </a:xfrm>
          <a:prstGeom prst="rect">
            <a:avLst/>
          </a:prstGeom>
          <a:noFill/>
        </p:spPr>
        <p:txBody>
          <a:bodyPr wrap="square" anchor="t" lIns="0" rIns="0" tIns="0" bIns="0">
            <a:spAutoFit/>
          </a:bodyPr>
          <a:lstStyle/>
          <a:p>
            <a:pPr>
              <a:spcAft>
                <a:spcPts val="1800"/>
              </a:spcAft>
            </a:pPr>
            <a:r>
              <a:rPr sz="1800" b="0">
                <a:solidFill>
                  <a:srgbClr val="22383F"/>
                </a:solidFill>
                <a:latin typeface="Calibri"/>
              </a:rPr>
              <a:t>Con los comentarios incorporados en esta presentación, los textos propuestos quedan aprobados.</a:t>
            </a:r>
          </a:p>
          <a:p>
            <a:r>
              <a:rPr sz="1400" b="0">
                <a:solidFill>
                  <a:srgbClr val="5A6A6D"/>
                </a:solidFill>
                <a:latin typeface="Calibri"/>
              </a:rPr>
              <a:t>También se puede responder por correo con una línea: «Aprobado, salvo lo comentado».</a:t>
            </a:r>
          </a:p>
        </p:txBody>
      </p:sp>
      <p:sp>
        <p:nvSpPr>
          <p:cNvPr id="5" name="TextBox 4"/>
          <p:cNvSpPr txBox="1"/>
          <p:nvPr/>
        </p:nvSpPr>
        <p:spPr>
          <a:xfrm>
            <a:off x="355000" y="3200000"/>
            <a:ext cx="2400000" cy="400000"/>
          </a:xfrm>
          <a:prstGeom prst="rect">
            <a:avLst/>
          </a:prstGeom>
          <a:noFill/>
        </p:spPr>
        <p:txBody>
          <a:bodyPr wrap="square" anchor="t" lIns="0" rIns="0" tIns="0" bIns="0">
            <a:spAutoFit/>
          </a:bodyPr>
          <a:lstStyle/>
          <a:p>
            <a:r>
              <a:rPr sz="1400" b="1">
                <a:solidFill>
                  <a:srgbClr val="22383F"/>
                </a:solidFill>
                <a:latin typeface="Calibri"/>
              </a:rPr>
              <a:t>Aprobado por</a:t>
            </a:r>
          </a:p>
        </p:txBody>
      </p:sp>
      <p:cxnSp>
        <p:nvCxnSpPr>
          <p:cNvPr id="6" name="Connector 5"/>
          <p:cNvCxnSpPr/>
          <p:nvPr/>
        </p:nvCxnSpPr>
        <p:spPr>
          <a:xfrm>
            <a:off x="2700000" y="35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55000" y="4100000"/>
            <a:ext cx="2400000" cy="400000"/>
          </a:xfrm>
          <a:prstGeom prst="rect">
            <a:avLst/>
          </a:prstGeom>
          <a:noFill/>
        </p:spPr>
        <p:txBody>
          <a:bodyPr wrap="square" anchor="t" lIns="0" rIns="0" tIns="0" bIns="0">
            <a:spAutoFit/>
          </a:bodyPr>
          <a:lstStyle/>
          <a:p>
            <a:r>
              <a:rPr sz="1400" b="1">
                <a:solidFill>
                  <a:srgbClr val="22383F"/>
                </a:solidFill>
                <a:latin typeface="Calibri"/>
              </a:rPr>
              <a:t>Cargo</a:t>
            </a:r>
          </a:p>
        </p:txBody>
      </p:sp>
      <p:cxnSp>
        <p:nvCxnSpPr>
          <p:cNvPr id="8" name="Connector 7"/>
          <p:cNvCxnSpPr/>
          <p:nvPr/>
        </p:nvCxnSpPr>
        <p:spPr>
          <a:xfrm>
            <a:off x="2700000" y="44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5000" y="5000000"/>
            <a:ext cx="2400000" cy="400000"/>
          </a:xfrm>
          <a:prstGeom prst="rect">
            <a:avLst/>
          </a:prstGeom>
          <a:noFill/>
        </p:spPr>
        <p:txBody>
          <a:bodyPr wrap="square" anchor="t" lIns="0" rIns="0" tIns="0" bIns="0">
            <a:spAutoFit/>
          </a:bodyPr>
          <a:lstStyle/>
          <a:p>
            <a:r>
              <a:rPr sz="1400" b="1">
                <a:solidFill>
                  <a:srgbClr val="22383F"/>
                </a:solidFill>
                <a:latin typeface="Calibri"/>
              </a:rPr>
              <a:t>Fecha</a:t>
            </a:r>
          </a:p>
        </p:txBody>
      </p:sp>
      <p:cxnSp>
        <p:nvCxnSpPr>
          <p:cNvPr id="10" name="Connector 9"/>
          <p:cNvCxnSpPr/>
          <p:nvPr/>
        </p:nvCxnSpPr>
        <p:spPr>
          <a:xfrm>
            <a:off x="2700000" y="5330000"/>
            <a:ext cx="6000000" cy="0"/>
          </a:xfrm>
          <a:prstGeom prst="line">
            <a:avLst/>
          </a:prstGeom>
          <a:ln w="12700">
            <a:solidFill>
              <a:srgbClr val="5A6A6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38560" y="6492240"/>
            <a:ext cx="640080" cy="182880"/>
          </a:xfrm>
          <a:prstGeom prst="rect">
            <a:avLst/>
          </a:prstGeom>
          <a:noFill/>
        </p:spPr>
        <p:txBody>
          <a:bodyPr wrap="square" lIns="0" rIns="0" tIns="0" bIns="0" anchor="ctr">
            <a:noAutofit/>
          </a:bodyPr>
          <a:lstStyle/>
          <a:p>
            <a:pPr algn="r"/>
            <a:r>
              <a:rPr sz="900" b="0">
                <a:solidFill>
                  <a:srgbClr val="5A6A6D"/>
                </a:solidFill>
                <a:latin typeface="Calibri"/>
              </a:rPr>
              <a:t>28</a:t>
            </a:r>
          </a:p>
        </p:txBody>
      </p:sp>
      <p:sp>
        <p:nvSpPr>
          <p:cNvPr id="3" name="TextBox 2"/>
          <p:cNvSpPr txBox="1"/>
          <p:nvPr/>
        </p:nvSpPr>
        <p:spPr>
          <a:xfrm>
            <a:off x="365760" y="182880"/>
            <a:ext cx="11521440" cy="731520"/>
          </a:xfrm>
          <a:prstGeom prst="rect">
            <a:avLst/>
          </a:prstGeom>
          <a:noFill/>
        </p:spPr>
        <p:txBody>
          <a:bodyPr wrap="square" lIns="0" rIns="0" tIns="0" bIns="0" anchor="t">
            <a:noAutofit/>
          </a:bodyPr>
          <a:lstStyle/>
          <a:p>
            <a:pPr algn="l"/>
            <a:r>
              <a:rPr sz="1100" b="1">
                <a:solidFill>
                  <a:srgbClr val="E0584D"/>
                </a:solidFill>
                <a:latin typeface="Calibri"/>
              </a:rPr>
              <a:t>ANEXO · MAPA DEL QUIZ</a:t>
            </a:r>
          </a:p>
          <a:p>
            <a:pPr algn="l"/>
            <a:r>
              <a:rPr sz="2200" b="1">
                <a:solidFill>
                  <a:srgbClr val="22383F"/>
                </a:solidFill>
                <a:latin typeface="Calibri"/>
              </a:rPr>
              <a:t>Recorrido del test orientativo: 5 etapas y hasta 22 preguntas</a:t>
            </a:r>
          </a:p>
        </p:txBody>
      </p:sp>
      <p:sp>
        <p:nvSpPr>
          <p:cNvPr id="4" name="Rounded Rectangle 3"/>
          <p:cNvSpPr/>
          <p:nvPr/>
        </p:nvSpPr>
        <p:spPr>
          <a:xfrm>
            <a:off x="411480" y="1097280"/>
            <a:ext cx="2103120" cy="566928"/>
          </a:xfrm>
          <a:prstGeom prst="roundRect">
            <a:avLst>
              <a:gd name="adj" fmla="val 12000"/>
            </a:avLst>
          </a:prstGeom>
          <a:solidFill>
            <a:srgbClr val="22383F"/>
          </a:solidFill>
          <a:ln>
            <a:noFill/>
          </a:ln>
        </p:spPr>
        <p:txBody>
          <a:bodyPr rtlCol="0" anchor="ctr" wrap="square" lIns="73152" rIns="73152" tIns="36576" bIns="36576">
            <a:noAutofit/>
          </a:bodyPr>
          <a:lstStyle/>
          <a:p>
            <a:pPr algn="ctr"/>
            <a:r>
              <a:rPr sz="1300" b="1">
                <a:solidFill>
                  <a:srgbClr val="FFFFFF"/>
                </a:solidFill>
                <a:latin typeface="Calibri"/>
              </a:rPr>
              <a:t>1 · Síntomas</a:t>
            </a:r>
          </a:p>
          <a:p>
            <a:pPr algn="ctr"/>
            <a:r>
              <a:rPr sz="900" b="0">
                <a:solidFill>
                  <a:srgbClr val="FFFFFF"/>
                </a:solidFill>
                <a:latin typeface="Calibri"/>
              </a:rPr>
              <a:t>preguntas 1 a 7</a:t>
            </a:r>
          </a:p>
        </p:txBody>
      </p:sp>
      <p:sp>
        <p:nvSpPr>
          <p:cNvPr id="5" name="Rounded Rectangle 4"/>
          <p:cNvSpPr/>
          <p:nvPr/>
        </p:nvSpPr>
        <p:spPr>
          <a:xfrm>
            <a:off x="411480" y="1828800"/>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Q0 · Nombre (opcional)</a:t>
            </a:r>
          </a:p>
        </p:txBody>
      </p:sp>
      <p:sp>
        <p:nvSpPr>
          <p:cNvPr id="6" name="Rounded Rectangle 5"/>
          <p:cNvSpPr/>
          <p:nvPr/>
        </p:nvSpPr>
        <p:spPr>
          <a:xfrm>
            <a:off x="411480" y="2350008"/>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 · Síntomas que has notado</a:t>
            </a:r>
          </a:p>
        </p:txBody>
      </p:sp>
      <p:sp>
        <p:nvSpPr>
          <p:cNvPr id="7" name="Rectangle 6"/>
          <p:cNvSpPr/>
          <p:nvPr/>
        </p:nvSpPr>
        <p:spPr>
          <a:xfrm>
            <a:off x="2331720" y="2414015"/>
            <a:ext cx="109728" cy="109728"/>
          </a:xfrm>
          <a:prstGeom prst="rect">
            <a:avLst/>
          </a:prstGeom>
          <a:solidFill>
            <a:srgbClr val="0081A8"/>
          </a:solidFill>
          <a:ln>
            <a:noFill/>
          </a:ln>
        </p:spPr>
        <p:txBody>
          <a:bodyPr rtlCol="0" anchor="ctr"/>
          <a:lstStyle/>
          <a:p>
            <a:pPr algn="ctr"/>
          </a:p>
        </p:txBody>
      </p:sp>
      <p:sp>
        <p:nvSpPr>
          <p:cNvPr id="8" name="Rounded Rectangle 7"/>
          <p:cNvSpPr/>
          <p:nvPr/>
        </p:nvSpPr>
        <p:spPr>
          <a:xfrm>
            <a:off x="411480" y="2871215"/>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Q1b · Hinchazón en labios, lengua o garganta</a:t>
            </a:r>
          </a:p>
          <a:p>
            <a:pPr algn="l"/>
            <a:r>
              <a:rPr sz="800" b="0">
                <a:solidFill>
                  <a:srgbClr val="5A6A6D"/>
                </a:solidFill>
                <a:latin typeface="Calibri"/>
              </a:rPr>
              <a:t>si marca hinchazón</a:t>
            </a:r>
          </a:p>
        </p:txBody>
      </p:sp>
      <p:sp>
        <p:nvSpPr>
          <p:cNvPr id="9" name="Rounded Rectangle 8"/>
          <p:cNvSpPr/>
          <p:nvPr/>
        </p:nvSpPr>
        <p:spPr>
          <a:xfrm>
            <a:off x="411480" y="3392424"/>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Q2 · Tiempo con los síntomas</a:t>
            </a:r>
          </a:p>
          <a:p>
            <a:pPr algn="l"/>
            <a:r>
              <a:rPr sz="800" b="0">
                <a:solidFill>
                  <a:srgbClr val="5A6A6D"/>
                </a:solidFill>
                <a:latin typeface="Calibri"/>
              </a:rPr>
              <a:t>línea de 6 semanas</a:t>
            </a:r>
          </a:p>
        </p:txBody>
      </p:sp>
      <p:sp>
        <p:nvSpPr>
          <p:cNvPr id="10" name="Rectangle 9"/>
          <p:cNvSpPr/>
          <p:nvPr/>
        </p:nvSpPr>
        <p:spPr>
          <a:xfrm>
            <a:off x="2331720" y="3456432"/>
            <a:ext cx="109728" cy="109728"/>
          </a:xfrm>
          <a:prstGeom prst="rect">
            <a:avLst/>
          </a:prstGeom>
          <a:solidFill>
            <a:srgbClr val="0081A8"/>
          </a:solidFill>
          <a:ln>
            <a:noFill/>
          </a:ln>
        </p:spPr>
        <p:txBody>
          <a:bodyPr rtlCol="0" anchor="ctr"/>
          <a:lstStyle/>
          <a:p>
            <a:pPr algn="ctr"/>
          </a:p>
        </p:txBody>
      </p:sp>
      <p:sp>
        <p:nvSpPr>
          <p:cNvPr id="11" name="Rounded Rectangle 10"/>
          <p:cNvSpPr/>
          <p:nvPr/>
        </p:nvSpPr>
        <p:spPr>
          <a:xfrm>
            <a:off x="411480" y="3913631"/>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Q3 · Cantidad de habones (ronchas)</a:t>
            </a:r>
          </a:p>
          <a:p>
            <a:pPr algn="l"/>
            <a:r>
              <a:rPr sz="800" b="0">
                <a:solidFill>
                  <a:srgbClr val="5A6A6D"/>
                </a:solidFill>
                <a:latin typeface="Calibri"/>
              </a:rPr>
              <a:t>si marca habones · escala</a:t>
            </a:r>
          </a:p>
        </p:txBody>
      </p:sp>
      <p:sp>
        <p:nvSpPr>
          <p:cNvPr id="12" name="Rectangle 11"/>
          <p:cNvSpPr/>
          <p:nvPr/>
        </p:nvSpPr>
        <p:spPr>
          <a:xfrm>
            <a:off x="2331720" y="3977639"/>
            <a:ext cx="109728" cy="109728"/>
          </a:xfrm>
          <a:prstGeom prst="rect">
            <a:avLst/>
          </a:prstGeom>
          <a:solidFill>
            <a:srgbClr val="0081A8"/>
          </a:solidFill>
          <a:ln>
            <a:noFill/>
          </a:ln>
        </p:spPr>
        <p:txBody>
          <a:bodyPr rtlCol="0" anchor="ctr"/>
          <a:lstStyle/>
          <a:p>
            <a:pPr algn="ctr"/>
          </a:p>
        </p:txBody>
      </p:sp>
      <p:sp>
        <p:nvSpPr>
          <p:cNvPr id="13" name="Rounded Rectangle 12"/>
          <p:cNvSpPr/>
          <p:nvPr/>
        </p:nvSpPr>
        <p:spPr>
          <a:xfrm>
            <a:off x="411480" y="443484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Q4 · Intensidad de la comezón</a:t>
            </a:r>
          </a:p>
          <a:p>
            <a:pPr algn="l"/>
            <a:r>
              <a:rPr sz="800" b="0">
                <a:solidFill>
                  <a:srgbClr val="5A6A6D"/>
                </a:solidFill>
                <a:latin typeface="Calibri"/>
              </a:rPr>
              <a:t>si marca comezón · escala</a:t>
            </a:r>
          </a:p>
        </p:txBody>
      </p:sp>
      <p:sp>
        <p:nvSpPr>
          <p:cNvPr id="14" name="Rectangle 13"/>
          <p:cNvSpPr/>
          <p:nvPr/>
        </p:nvSpPr>
        <p:spPr>
          <a:xfrm>
            <a:off x="2331720" y="4498848"/>
            <a:ext cx="109728" cy="109728"/>
          </a:xfrm>
          <a:prstGeom prst="rect">
            <a:avLst/>
          </a:prstGeom>
          <a:solidFill>
            <a:srgbClr val="0081A8"/>
          </a:solidFill>
          <a:ln>
            <a:noFill/>
          </a:ln>
        </p:spPr>
        <p:txBody>
          <a:bodyPr rtlCol="0" anchor="ctr"/>
          <a:lstStyle/>
          <a:p>
            <a:pPr algn="ctr"/>
          </a:p>
        </p:txBody>
      </p:sp>
      <p:sp>
        <p:nvSpPr>
          <p:cNvPr id="15" name="Rounded Rectangle 14"/>
          <p:cNvSpPr/>
          <p:nvPr/>
        </p:nvSpPr>
        <p:spPr>
          <a:xfrm>
            <a:off x="411480" y="495604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Q5 · Severidad de la hinchazón</a:t>
            </a:r>
          </a:p>
          <a:p>
            <a:pPr algn="l"/>
            <a:r>
              <a:rPr sz="800" b="0">
                <a:solidFill>
                  <a:srgbClr val="5A6A6D"/>
                </a:solidFill>
                <a:latin typeface="Calibri"/>
              </a:rPr>
              <a:t>si marca hinchazón</a:t>
            </a:r>
          </a:p>
        </p:txBody>
      </p:sp>
      <p:sp>
        <p:nvSpPr>
          <p:cNvPr id="16" name="Rounded Rectangle 15"/>
          <p:cNvSpPr/>
          <p:nvPr/>
        </p:nvSpPr>
        <p:spPr>
          <a:xfrm>
            <a:off x="2715768" y="1097280"/>
            <a:ext cx="2103120" cy="566928"/>
          </a:xfrm>
          <a:prstGeom prst="roundRect">
            <a:avLst>
              <a:gd name="adj" fmla="val 12000"/>
            </a:avLst>
          </a:prstGeom>
          <a:solidFill>
            <a:srgbClr val="22383F"/>
          </a:solidFill>
          <a:ln>
            <a:noFill/>
          </a:ln>
        </p:spPr>
        <p:txBody>
          <a:bodyPr rtlCol="0" anchor="ctr" wrap="square" lIns="73152" rIns="73152" tIns="36576" bIns="36576">
            <a:noAutofit/>
          </a:bodyPr>
          <a:lstStyle/>
          <a:p>
            <a:pPr algn="ctr"/>
            <a:r>
              <a:rPr sz="1300" b="1">
                <a:solidFill>
                  <a:srgbClr val="FFFFFF"/>
                </a:solidFill>
                <a:latin typeface="Calibri"/>
              </a:rPr>
              <a:t>2 · Impacto en tu vida</a:t>
            </a:r>
          </a:p>
          <a:p>
            <a:pPr algn="ctr"/>
            <a:r>
              <a:rPr sz="900" b="0">
                <a:solidFill>
                  <a:srgbClr val="FFFFFF"/>
                </a:solidFill>
                <a:latin typeface="Calibri"/>
              </a:rPr>
              <a:t>preguntas 8 a 14</a:t>
            </a:r>
          </a:p>
        </p:txBody>
      </p:sp>
      <p:sp>
        <p:nvSpPr>
          <p:cNvPr id="17" name="Rounded Rectangle 16"/>
          <p:cNvSpPr/>
          <p:nvPr/>
        </p:nvSpPr>
        <p:spPr>
          <a:xfrm>
            <a:off x="2715768" y="182880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Q6 · Áreas de tu vida afectadas</a:t>
            </a:r>
          </a:p>
          <a:p>
            <a:pPr algn="l"/>
            <a:r>
              <a:rPr sz="800" b="0">
                <a:solidFill>
                  <a:srgbClr val="5A6A6D"/>
                </a:solidFill>
                <a:latin typeface="Calibri"/>
              </a:rPr>
              <a:t>selección múltiple</a:t>
            </a:r>
          </a:p>
        </p:txBody>
      </p:sp>
      <p:sp>
        <p:nvSpPr>
          <p:cNvPr id="18" name="Rounded Rectangle 17"/>
          <p:cNvSpPr/>
          <p:nvPr/>
        </p:nvSpPr>
        <p:spPr>
          <a:xfrm>
            <a:off x="2715768" y="235000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Q7 · Actividades diarias</a:t>
            </a:r>
          </a:p>
          <a:p>
            <a:pPr algn="l"/>
            <a:r>
              <a:rPr sz="800" b="0">
                <a:solidFill>
                  <a:srgbClr val="5A6A6D"/>
                </a:solidFill>
                <a:latin typeface="Calibri"/>
              </a:rPr>
              <a:t>si marca esa área</a:t>
            </a:r>
          </a:p>
        </p:txBody>
      </p:sp>
      <p:sp>
        <p:nvSpPr>
          <p:cNvPr id="19" name="Rounded Rectangle 18"/>
          <p:cNvSpPr/>
          <p:nvPr/>
        </p:nvSpPr>
        <p:spPr>
          <a:xfrm>
            <a:off x="2715768" y="2871215"/>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Q8 · Relaciones sociales y de pareja</a:t>
            </a:r>
          </a:p>
          <a:p>
            <a:pPr algn="l"/>
            <a:r>
              <a:rPr sz="800" b="0">
                <a:solidFill>
                  <a:srgbClr val="5A6A6D"/>
                </a:solidFill>
                <a:latin typeface="Calibri"/>
              </a:rPr>
              <a:t>si marca esa área</a:t>
            </a:r>
          </a:p>
        </p:txBody>
      </p:sp>
      <p:sp>
        <p:nvSpPr>
          <p:cNvPr id="20" name="Rounded Rectangle 19"/>
          <p:cNvSpPr/>
          <p:nvPr/>
        </p:nvSpPr>
        <p:spPr>
          <a:xfrm>
            <a:off x="2715768" y="3392424"/>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Q8b · Vida sexual</a:t>
            </a:r>
          </a:p>
          <a:p>
            <a:pPr algn="l"/>
            <a:r>
              <a:rPr sz="800" b="0">
                <a:solidFill>
                  <a:srgbClr val="5A6A6D"/>
                </a:solidFill>
                <a:latin typeface="Calibri"/>
              </a:rPr>
              <a:t>si marca esa área</a:t>
            </a:r>
          </a:p>
        </p:txBody>
      </p:sp>
      <p:sp>
        <p:nvSpPr>
          <p:cNvPr id="21" name="Rounded Rectangle 20"/>
          <p:cNvSpPr/>
          <p:nvPr/>
        </p:nvSpPr>
        <p:spPr>
          <a:xfrm>
            <a:off x="2715768" y="3913631"/>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Q9 · Ropa que usas</a:t>
            </a:r>
          </a:p>
          <a:p>
            <a:pPr algn="l"/>
            <a:r>
              <a:rPr sz="800" b="0">
                <a:solidFill>
                  <a:srgbClr val="5A6A6D"/>
                </a:solidFill>
                <a:latin typeface="Calibri"/>
              </a:rPr>
              <a:t>si marca esa área</a:t>
            </a:r>
          </a:p>
        </p:txBody>
      </p:sp>
      <p:sp>
        <p:nvSpPr>
          <p:cNvPr id="22" name="Rounded Rectangle 21"/>
          <p:cNvSpPr/>
          <p:nvPr/>
        </p:nvSpPr>
        <p:spPr>
          <a:xfrm>
            <a:off x="2715768" y="443484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Q10 · Trabajo o estudios</a:t>
            </a:r>
          </a:p>
          <a:p>
            <a:pPr algn="l"/>
            <a:r>
              <a:rPr sz="800" b="0">
                <a:solidFill>
                  <a:srgbClr val="5A6A6D"/>
                </a:solidFill>
                <a:latin typeface="Calibri"/>
              </a:rPr>
              <a:t>si marca esa área</a:t>
            </a:r>
          </a:p>
        </p:txBody>
      </p:sp>
      <p:sp>
        <p:nvSpPr>
          <p:cNvPr id="23" name="Rounded Rectangle 22"/>
          <p:cNvSpPr/>
          <p:nvPr/>
        </p:nvSpPr>
        <p:spPr>
          <a:xfrm>
            <a:off x="2715768" y="495604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Q11 · Calidad de sueño</a:t>
            </a:r>
          </a:p>
          <a:p>
            <a:pPr algn="l"/>
            <a:r>
              <a:rPr sz="800" b="0">
                <a:solidFill>
                  <a:srgbClr val="5A6A6D"/>
                </a:solidFill>
                <a:latin typeface="Calibri"/>
              </a:rPr>
              <a:t>si marca esa área</a:t>
            </a:r>
          </a:p>
        </p:txBody>
      </p:sp>
      <p:sp>
        <p:nvSpPr>
          <p:cNvPr id="24" name="Rounded Rectangle 23"/>
          <p:cNvSpPr/>
          <p:nvPr/>
        </p:nvSpPr>
        <p:spPr>
          <a:xfrm>
            <a:off x="5020056" y="1097280"/>
            <a:ext cx="2103120" cy="566928"/>
          </a:xfrm>
          <a:prstGeom prst="roundRect">
            <a:avLst>
              <a:gd name="adj" fmla="val 12000"/>
            </a:avLst>
          </a:prstGeom>
          <a:solidFill>
            <a:srgbClr val="22383F"/>
          </a:solidFill>
          <a:ln>
            <a:noFill/>
          </a:ln>
        </p:spPr>
        <p:txBody>
          <a:bodyPr rtlCol="0" anchor="ctr" wrap="square" lIns="73152" rIns="73152" tIns="36576" bIns="36576">
            <a:noAutofit/>
          </a:bodyPr>
          <a:lstStyle/>
          <a:p>
            <a:pPr algn="ctr"/>
            <a:r>
              <a:rPr sz="1300" b="1">
                <a:solidFill>
                  <a:srgbClr val="FFFFFF"/>
                </a:solidFill>
                <a:latin typeface="Calibri"/>
              </a:rPr>
              <a:t>3 · Causa y momento</a:t>
            </a:r>
          </a:p>
          <a:p>
            <a:pPr algn="ctr"/>
            <a:r>
              <a:rPr sz="900" b="0">
                <a:solidFill>
                  <a:srgbClr val="FFFFFF"/>
                </a:solidFill>
                <a:latin typeface="Calibri"/>
              </a:rPr>
              <a:t>preguntas 15 y 16</a:t>
            </a:r>
          </a:p>
        </p:txBody>
      </p:sp>
      <p:sp>
        <p:nvSpPr>
          <p:cNvPr id="25" name="Rounded Rectangle 24"/>
          <p:cNvSpPr/>
          <p:nvPr/>
        </p:nvSpPr>
        <p:spPr>
          <a:xfrm>
            <a:off x="5020056" y="182880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Q12 · Comentarios que has recibido (mitos)</a:t>
            </a:r>
          </a:p>
          <a:p>
            <a:pPr algn="l"/>
            <a:r>
              <a:rPr sz="800" b="0">
                <a:solidFill>
                  <a:srgbClr val="5A6A6D"/>
                </a:solidFill>
                <a:latin typeface="Calibri"/>
              </a:rPr>
              <a:t>antes: desencadenantes</a:t>
            </a:r>
          </a:p>
        </p:txBody>
      </p:sp>
      <p:sp>
        <p:nvSpPr>
          <p:cNvPr id="26" name="Rectangle 25"/>
          <p:cNvSpPr/>
          <p:nvPr/>
        </p:nvSpPr>
        <p:spPr>
          <a:xfrm>
            <a:off x="6940296" y="1892807"/>
            <a:ext cx="109728" cy="109728"/>
          </a:xfrm>
          <a:prstGeom prst="rect">
            <a:avLst/>
          </a:prstGeom>
          <a:solidFill>
            <a:srgbClr val="0081A8"/>
          </a:solidFill>
          <a:ln>
            <a:noFill/>
          </a:ln>
        </p:spPr>
        <p:txBody>
          <a:bodyPr rtlCol="0" anchor="ctr"/>
          <a:lstStyle/>
          <a:p>
            <a:pPr algn="ctr"/>
          </a:p>
        </p:txBody>
      </p:sp>
      <p:sp>
        <p:nvSpPr>
          <p:cNvPr id="27" name="Rounded Rectangle 26"/>
          <p:cNvSpPr/>
          <p:nvPr/>
        </p:nvSpPr>
        <p:spPr>
          <a:xfrm>
            <a:off x="5020056" y="235000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Q13 · Momento del día con más ronchas</a:t>
            </a:r>
          </a:p>
          <a:p>
            <a:pPr algn="l"/>
            <a:r>
              <a:rPr sz="800" b="0">
                <a:solidFill>
                  <a:srgbClr val="5A6A6D"/>
                </a:solidFill>
                <a:latin typeface="Calibri"/>
              </a:rPr>
              <a:t>antes: brotes</a:t>
            </a:r>
          </a:p>
        </p:txBody>
      </p:sp>
      <p:sp>
        <p:nvSpPr>
          <p:cNvPr id="28" name="Rectangle 27"/>
          <p:cNvSpPr/>
          <p:nvPr/>
        </p:nvSpPr>
        <p:spPr>
          <a:xfrm>
            <a:off x="6940296" y="2414015"/>
            <a:ext cx="109728" cy="109728"/>
          </a:xfrm>
          <a:prstGeom prst="rect">
            <a:avLst/>
          </a:prstGeom>
          <a:solidFill>
            <a:srgbClr val="0081A8"/>
          </a:solidFill>
          <a:ln>
            <a:noFill/>
          </a:ln>
        </p:spPr>
        <p:txBody>
          <a:bodyPr rtlCol="0" anchor="ctr"/>
          <a:lstStyle/>
          <a:p>
            <a:pPr algn="ctr"/>
          </a:p>
        </p:txBody>
      </p:sp>
      <p:sp>
        <p:nvSpPr>
          <p:cNvPr id="29" name="Rounded Rectangle 28"/>
          <p:cNvSpPr/>
          <p:nvPr/>
        </p:nvSpPr>
        <p:spPr>
          <a:xfrm>
            <a:off x="7324344" y="1097280"/>
            <a:ext cx="2103120" cy="566928"/>
          </a:xfrm>
          <a:prstGeom prst="roundRect">
            <a:avLst>
              <a:gd name="adj" fmla="val 12000"/>
            </a:avLst>
          </a:prstGeom>
          <a:solidFill>
            <a:srgbClr val="22383F"/>
          </a:solidFill>
          <a:ln>
            <a:noFill/>
          </a:ln>
        </p:spPr>
        <p:txBody>
          <a:bodyPr rtlCol="0" anchor="ctr" wrap="square" lIns="73152" rIns="73152" tIns="36576" bIns="36576">
            <a:noAutofit/>
          </a:bodyPr>
          <a:lstStyle/>
          <a:p>
            <a:pPr algn="ctr"/>
            <a:r>
              <a:rPr sz="1300" b="1">
                <a:solidFill>
                  <a:srgbClr val="FFFFFF"/>
                </a:solidFill>
                <a:latin typeface="Calibri"/>
              </a:rPr>
              <a:t>4 · Historial</a:t>
            </a:r>
          </a:p>
          <a:p>
            <a:pPr algn="ctr"/>
            <a:r>
              <a:rPr sz="900" b="0">
                <a:solidFill>
                  <a:srgbClr val="FFFFFF"/>
                </a:solidFill>
                <a:latin typeface="Calibri"/>
              </a:rPr>
              <a:t>preguntas 17 a 22</a:t>
            </a:r>
          </a:p>
        </p:txBody>
      </p:sp>
      <p:sp>
        <p:nvSpPr>
          <p:cNvPr id="30" name="Rounded Rectangle 29"/>
          <p:cNvSpPr/>
          <p:nvPr/>
        </p:nvSpPr>
        <p:spPr>
          <a:xfrm>
            <a:off x="7324344" y="182880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Q14 · Consulta médica previa</a:t>
            </a:r>
          </a:p>
          <a:p>
            <a:pPr algn="l"/>
            <a:r>
              <a:rPr sz="800" b="0">
                <a:solidFill>
                  <a:srgbClr val="5A6A6D"/>
                </a:solidFill>
                <a:latin typeface="Calibri"/>
              </a:rPr>
              <a:t>Sí / No</a:t>
            </a:r>
          </a:p>
        </p:txBody>
      </p:sp>
      <p:sp>
        <p:nvSpPr>
          <p:cNvPr id="31" name="Rounded Rectangle 30"/>
          <p:cNvSpPr/>
          <p:nvPr/>
        </p:nvSpPr>
        <p:spPr>
          <a:xfrm>
            <a:off x="7324344" y="235000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Q15 · Frecuencia de consulta</a:t>
            </a:r>
          </a:p>
          <a:p>
            <a:pPr algn="l"/>
            <a:r>
              <a:rPr sz="800" b="0">
                <a:solidFill>
                  <a:srgbClr val="5A6A6D"/>
                </a:solidFill>
                <a:latin typeface="Calibri"/>
              </a:rPr>
              <a:t>si consultó</a:t>
            </a:r>
          </a:p>
        </p:txBody>
      </p:sp>
      <p:sp>
        <p:nvSpPr>
          <p:cNvPr id="32" name="Rounded Rectangle 31"/>
          <p:cNvSpPr/>
          <p:nvPr/>
        </p:nvSpPr>
        <p:spPr>
          <a:xfrm>
            <a:off x="7324344" y="2871215"/>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Q16 · Tipo de especialista</a:t>
            </a:r>
          </a:p>
          <a:p>
            <a:pPr algn="l"/>
            <a:r>
              <a:rPr sz="800" b="0">
                <a:solidFill>
                  <a:srgbClr val="5A6A6D"/>
                </a:solidFill>
                <a:latin typeface="Calibri"/>
              </a:rPr>
              <a:t>si consultó</a:t>
            </a:r>
          </a:p>
        </p:txBody>
      </p:sp>
      <p:sp>
        <p:nvSpPr>
          <p:cNvPr id="33" name="Rounded Rectangle 32"/>
          <p:cNvSpPr/>
          <p:nvPr/>
        </p:nvSpPr>
        <p:spPr>
          <a:xfrm>
            <a:off x="7324344" y="3392424"/>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Q17 · Tratamiento previo</a:t>
            </a:r>
          </a:p>
          <a:p>
            <a:pPr algn="l"/>
            <a:r>
              <a:rPr sz="800" b="0">
                <a:solidFill>
                  <a:srgbClr val="5A6A6D"/>
                </a:solidFill>
                <a:latin typeface="Calibri"/>
              </a:rPr>
              <a:t>Sí / No</a:t>
            </a:r>
          </a:p>
        </p:txBody>
      </p:sp>
      <p:sp>
        <p:nvSpPr>
          <p:cNvPr id="34" name="Rounded Rectangle 33"/>
          <p:cNvSpPr/>
          <p:nvPr/>
        </p:nvSpPr>
        <p:spPr>
          <a:xfrm>
            <a:off x="7324344" y="3913631"/>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Q18 · Tipo de tratamiento</a:t>
            </a:r>
          </a:p>
          <a:p>
            <a:pPr algn="l"/>
            <a:r>
              <a:rPr sz="800" b="0">
                <a:solidFill>
                  <a:srgbClr val="5A6A6D"/>
                </a:solidFill>
                <a:latin typeface="Calibri"/>
              </a:rPr>
              <a:t>si tomó o aplicó · sujeto a cambios</a:t>
            </a:r>
          </a:p>
        </p:txBody>
      </p:sp>
      <p:sp>
        <p:nvSpPr>
          <p:cNvPr id="35" name="Rectangle 34"/>
          <p:cNvSpPr/>
          <p:nvPr/>
        </p:nvSpPr>
        <p:spPr>
          <a:xfrm>
            <a:off x="9244584" y="3977639"/>
            <a:ext cx="109728" cy="109728"/>
          </a:xfrm>
          <a:prstGeom prst="rect">
            <a:avLst/>
          </a:prstGeom>
          <a:solidFill>
            <a:srgbClr val="0081A8"/>
          </a:solidFill>
          <a:ln>
            <a:noFill/>
          </a:ln>
        </p:spPr>
        <p:txBody>
          <a:bodyPr rtlCol="0" anchor="ctr"/>
          <a:lstStyle/>
          <a:p>
            <a:pPr algn="ctr"/>
          </a:p>
        </p:txBody>
      </p:sp>
      <p:sp>
        <p:nvSpPr>
          <p:cNvPr id="36" name="Rounded Rectangle 35"/>
          <p:cNvSpPr/>
          <p:nvPr/>
        </p:nvSpPr>
        <p:spPr>
          <a:xfrm>
            <a:off x="7324344" y="4434840"/>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Q19 · Efectividad percibida</a:t>
            </a:r>
          </a:p>
          <a:p>
            <a:pPr algn="l"/>
            <a:r>
              <a:rPr sz="800" b="0">
                <a:solidFill>
                  <a:srgbClr val="5A6A6D"/>
                </a:solidFill>
                <a:latin typeface="Calibri"/>
              </a:rPr>
              <a:t>si tomó o aplicó</a:t>
            </a:r>
          </a:p>
        </p:txBody>
      </p:sp>
      <p:sp>
        <p:nvSpPr>
          <p:cNvPr id="37" name="Rounded Rectangle 36"/>
          <p:cNvSpPr/>
          <p:nvPr/>
        </p:nvSpPr>
        <p:spPr>
          <a:xfrm>
            <a:off x="9628632" y="1097280"/>
            <a:ext cx="2103120" cy="566928"/>
          </a:xfrm>
          <a:prstGeom prst="roundRect">
            <a:avLst>
              <a:gd name="adj" fmla="val 12000"/>
            </a:avLst>
          </a:prstGeom>
          <a:solidFill>
            <a:srgbClr val="E0584D"/>
          </a:solidFill>
          <a:ln>
            <a:noFill/>
          </a:ln>
        </p:spPr>
        <p:txBody>
          <a:bodyPr rtlCol="0" anchor="ctr" wrap="square" lIns="73152" rIns="73152" tIns="36576" bIns="36576">
            <a:noAutofit/>
          </a:bodyPr>
          <a:lstStyle/>
          <a:p>
            <a:pPr algn="ctr"/>
            <a:r>
              <a:rPr sz="1300" b="1">
                <a:solidFill>
                  <a:srgbClr val="FFFFFF"/>
                </a:solidFill>
                <a:latin typeface="Calibri"/>
              </a:rPr>
              <a:t>Resultado</a:t>
            </a:r>
          </a:p>
          <a:p>
            <a:pPr algn="ctr"/>
            <a:r>
              <a:rPr sz="900" b="0">
                <a:solidFill>
                  <a:srgbClr val="FFFFFF"/>
                </a:solidFill>
                <a:latin typeface="Calibri"/>
              </a:rPr>
              <a:t>pantalla final</a:t>
            </a:r>
          </a:p>
        </p:txBody>
      </p:sp>
      <p:sp>
        <p:nvSpPr>
          <p:cNvPr id="38" name="Rounded Rectangle 37"/>
          <p:cNvSpPr/>
          <p:nvPr/>
        </p:nvSpPr>
        <p:spPr>
          <a:xfrm>
            <a:off x="9628632" y="1828800"/>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Lectura y aviso: solo un profesional diagnostica</a:t>
            </a:r>
          </a:p>
        </p:txBody>
      </p:sp>
      <p:sp>
        <p:nvSpPr>
          <p:cNvPr id="39" name="Rounded Rectangle 38"/>
          <p:cNvSpPr/>
          <p:nvPr/>
        </p:nvSpPr>
        <p:spPr>
          <a:xfrm>
            <a:off x="9628632" y="2350008"/>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Medidor UAS7 (estimación)</a:t>
            </a:r>
          </a:p>
          <a:p>
            <a:pPr algn="l"/>
            <a:r>
              <a:rPr sz="800" b="0">
                <a:solidFill>
                  <a:srgbClr val="5A6A6D"/>
                </a:solidFill>
                <a:latin typeface="Calibri"/>
              </a:rPr>
              <a:t>si hay habones o comezón</a:t>
            </a:r>
          </a:p>
        </p:txBody>
      </p:sp>
      <p:sp>
        <p:nvSpPr>
          <p:cNvPr id="40" name="Rectangle 39"/>
          <p:cNvSpPr/>
          <p:nvPr/>
        </p:nvSpPr>
        <p:spPr>
          <a:xfrm>
            <a:off x="11548872" y="2414015"/>
            <a:ext cx="109728" cy="109728"/>
          </a:xfrm>
          <a:prstGeom prst="rect">
            <a:avLst/>
          </a:prstGeom>
          <a:solidFill>
            <a:srgbClr val="0081A8"/>
          </a:solidFill>
          <a:ln>
            <a:noFill/>
          </a:ln>
        </p:spPr>
        <p:txBody>
          <a:bodyPr rtlCol="0" anchor="ctr"/>
          <a:lstStyle/>
          <a:p>
            <a:pPr algn="ctr"/>
          </a:p>
        </p:txBody>
      </p:sp>
      <p:sp>
        <p:nvSpPr>
          <p:cNvPr id="41" name="Rounded Rectangle 40"/>
          <p:cNvSpPr/>
          <p:nvPr/>
        </p:nvSpPr>
        <p:spPr>
          <a:xfrm>
            <a:off x="9628632" y="2871215"/>
            <a:ext cx="2103120" cy="457200"/>
          </a:xfrm>
          <a:prstGeom prst="roundRect">
            <a:avLst>
              <a:gd name="adj" fmla="val 12000"/>
            </a:avLst>
          </a:prstGeom>
          <a:solidFill>
            <a:srgbClr val="F8FAFC"/>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Tarjeta: comentarios sobre la causa</a:t>
            </a:r>
          </a:p>
          <a:p>
            <a:pPr algn="l"/>
            <a:r>
              <a:rPr sz="800" b="0">
                <a:solidFill>
                  <a:srgbClr val="5A6A6D"/>
                </a:solidFill>
                <a:latin typeface="Calibri"/>
              </a:rPr>
              <a:t>si marcó comentarios</a:t>
            </a:r>
          </a:p>
        </p:txBody>
      </p:sp>
      <p:sp>
        <p:nvSpPr>
          <p:cNvPr id="42" name="Rectangle 41"/>
          <p:cNvSpPr/>
          <p:nvPr/>
        </p:nvSpPr>
        <p:spPr>
          <a:xfrm>
            <a:off x="11548872" y="2935223"/>
            <a:ext cx="109728" cy="109728"/>
          </a:xfrm>
          <a:prstGeom prst="rect">
            <a:avLst/>
          </a:prstGeom>
          <a:solidFill>
            <a:srgbClr val="0081A8"/>
          </a:solidFill>
          <a:ln>
            <a:noFill/>
          </a:ln>
        </p:spPr>
        <p:txBody>
          <a:bodyPr rtlCol="0" anchor="ctr"/>
          <a:lstStyle/>
          <a:p>
            <a:pPr algn="ctr"/>
          </a:p>
        </p:txBody>
      </p:sp>
      <p:sp>
        <p:nvSpPr>
          <p:cNvPr id="43" name="Rounded Rectangle 42"/>
          <p:cNvSpPr/>
          <p:nvPr/>
        </p:nvSpPr>
        <p:spPr>
          <a:xfrm>
            <a:off x="9628632" y="3392424"/>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Reporte por secciones</a:t>
            </a:r>
          </a:p>
        </p:txBody>
      </p:sp>
      <p:sp>
        <p:nvSpPr>
          <p:cNvPr id="44" name="Rounded Rectangle 43"/>
          <p:cNvSpPr/>
          <p:nvPr/>
        </p:nvSpPr>
        <p:spPr>
          <a:xfrm>
            <a:off x="9628632" y="3913631"/>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Resumen para el médico: descargar PDF o copiar</a:t>
            </a:r>
          </a:p>
        </p:txBody>
      </p:sp>
      <p:sp>
        <p:nvSpPr>
          <p:cNvPr id="45" name="Rounded Rectangle 44"/>
          <p:cNvSpPr/>
          <p:nvPr/>
        </p:nvSpPr>
        <p:spPr>
          <a:xfrm>
            <a:off x="9628632" y="4434840"/>
            <a:ext cx="2103120" cy="457200"/>
          </a:xfrm>
          <a:prstGeom prst="roundRect">
            <a:avLst>
              <a:gd name="adj" fmla="val 12000"/>
            </a:avLst>
          </a:prstGeom>
          <a:solidFill>
            <a:srgbClr val="FFFFFF"/>
          </a:solidFill>
          <a:ln w="9525">
            <a:solidFill>
              <a:srgbClr val="E2E8F0"/>
            </a:solidFill>
          </a:ln>
        </p:spPr>
        <p:txBody>
          <a:bodyPr rtlCol="0" anchor="ctr" wrap="square" lIns="73152" rIns="73152" tIns="36576" bIns="36576">
            <a:noAutofit/>
          </a:bodyPr>
          <a:lstStyle/>
          <a:p>
            <a:pPr algn="l"/>
            <a:r>
              <a:rPr sz="950" b="1">
                <a:solidFill>
                  <a:srgbClr val="22383F"/>
                </a:solidFill>
                <a:latin typeface="Calibri"/>
              </a:rPr>
              <a:t>Banner al directorio de alergólogos y dermatólogos</a:t>
            </a:r>
          </a:p>
        </p:txBody>
      </p:sp>
      <p:cxnSp>
        <p:nvCxnSpPr>
          <p:cNvPr id="46" name="Connector 45"/>
          <p:cNvCxnSpPr>
            <a:stCxn id="4" idx="3"/>
            <a:endCxn id="16" idx="1"/>
          </p:cNvCxnSpPr>
          <p:nvPr/>
        </p:nvCxnSpPr>
        <p:spPr>
          <a:xfrm flipV="1">
            <a:off x="2514600" y="1380744"/>
            <a:ext cx="201168" cy="0"/>
          </a:xfrm>
          <a:prstGeom prst="line">
            <a:avLst/>
          </a:prstGeom>
          <a:ln w="19050">
            <a:solidFill>
              <a:srgbClr val="CBD5E1"/>
            </a:solidFill>
            <a:tailEnd type="triangle" w="med" len="med"/>
          </a:ln>
        </p:spPr>
      </p:cxnSp>
      <p:cxnSp>
        <p:nvCxnSpPr>
          <p:cNvPr id="47" name="Connector 46"/>
          <p:cNvCxnSpPr>
            <a:stCxn id="16" idx="3"/>
            <a:endCxn id="24" idx="1"/>
          </p:cNvCxnSpPr>
          <p:nvPr/>
        </p:nvCxnSpPr>
        <p:spPr>
          <a:xfrm flipV="1">
            <a:off x="4818888" y="1380744"/>
            <a:ext cx="201168" cy="0"/>
          </a:xfrm>
          <a:prstGeom prst="line">
            <a:avLst/>
          </a:prstGeom>
          <a:ln w="19050">
            <a:solidFill>
              <a:srgbClr val="CBD5E1"/>
            </a:solidFill>
            <a:tailEnd type="triangle" w="med" len="med"/>
          </a:ln>
        </p:spPr>
      </p:cxnSp>
      <p:cxnSp>
        <p:nvCxnSpPr>
          <p:cNvPr id="48" name="Connector 47"/>
          <p:cNvCxnSpPr>
            <a:stCxn id="24" idx="3"/>
            <a:endCxn id="29" idx="1"/>
          </p:cNvCxnSpPr>
          <p:nvPr/>
        </p:nvCxnSpPr>
        <p:spPr>
          <a:xfrm flipV="1">
            <a:off x="7123176" y="1380744"/>
            <a:ext cx="201168" cy="0"/>
          </a:xfrm>
          <a:prstGeom prst="line">
            <a:avLst/>
          </a:prstGeom>
          <a:ln w="19050">
            <a:solidFill>
              <a:srgbClr val="CBD5E1"/>
            </a:solidFill>
            <a:tailEnd type="triangle" w="med" len="med"/>
          </a:ln>
        </p:spPr>
      </p:cxnSp>
      <p:cxnSp>
        <p:nvCxnSpPr>
          <p:cNvPr id="49" name="Connector 48"/>
          <p:cNvCxnSpPr>
            <a:stCxn id="29" idx="3"/>
            <a:endCxn id="37" idx="1"/>
          </p:cNvCxnSpPr>
          <p:nvPr/>
        </p:nvCxnSpPr>
        <p:spPr>
          <a:xfrm flipV="1">
            <a:off x="9427464" y="1380744"/>
            <a:ext cx="201168" cy="0"/>
          </a:xfrm>
          <a:prstGeom prst="line">
            <a:avLst/>
          </a:prstGeom>
          <a:ln w="19050">
            <a:solidFill>
              <a:srgbClr val="CBD5E1"/>
            </a:solidFill>
            <a:tailEnd type="triangle" w="med" len="med"/>
          </a:ln>
        </p:spPr>
      </p:cxnSp>
      <p:sp>
        <p:nvSpPr>
          <p:cNvPr id="50" name="Rounded Rectangle 49"/>
          <p:cNvSpPr/>
          <p:nvPr/>
        </p:nvSpPr>
        <p:spPr>
          <a:xfrm>
            <a:off x="411480" y="5596128"/>
            <a:ext cx="5532120" cy="457200"/>
          </a:xfrm>
          <a:prstGeom prst="roundRect">
            <a:avLst>
              <a:gd name="adj" fmla="val 12000"/>
            </a:avLst>
          </a:prstGeom>
          <a:solidFill>
            <a:srgbClr val="FDE8E6"/>
          </a:solidFill>
          <a:ln>
            <a:noFill/>
          </a:ln>
        </p:spPr>
        <p:txBody>
          <a:bodyPr rtlCol="0" anchor="ctr" wrap="square" lIns="73152" rIns="73152" tIns="36576" bIns="36576">
            <a:noAutofit/>
          </a:bodyPr>
          <a:lstStyle/>
          <a:p>
            <a:pPr algn="l"/>
            <a:r>
              <a:rPr sz="950" b="0">
                <a:solidFill>
                  <a:srgbClr val="22383F"/>
                </a:solidFill>
                <a:latin typeface="Calibri"/>
              </a:rPr>
              <a:t>Si en Q1 marca «Ninguno de estos»: el test termina y muestra el resultado sin síntomas.</a:t>
            </a:r>
          </a:p>
        </p:txBody>
      </p:sp>
      <p:sp>
        <p:nvSpPr>
          <p:cNvPr id="51" name="Rounded Rectangle 50"/>
          <p:cNvSpPr/>
          <p:nvPr/>
        </p:nvSpPr>
        <p:spPr>
          <a:xfrm>
            <a:off x="6144768" y="5596128"/>
            <a:ext cx="5623560" cy="457200"/>
          </a:xfrm>
          <a:prstGeom prst="roundRect">
            <a:avLst>
              <a:gd name="adj" fmla="val 12000"/>
            </a:avLst>
          </a:prstGeom>
          <a:solidFill>
            <a:srgbClr val="FDE8E6"/>
          </a:solidFill>
          <a:ln>
            <a:noFill/>
          </a:ln>
        </p:spPr>
        <p:txBody>
          <a:bodyPr rtlCol="0" anchor="ctr" wrap="square" lIns="73152" rIns="73152" tIns="36576" bIns="36576">
            <a:noAutofit/>
          </a:bodyPr>
          <a:lstStyle/>
          <a:p>
            <a:pPr algn="l"/>
            <a:r>
              <a:rPr sz="950" b="0">
                <a:solidFill>
                  <a:srgbClr val="22383F"/>
                </a:solidFill>
                <a:latin typeface="Calibri"/>
              </a:rPr>
              <a:t>Si en Q1b responde «Sí — labios, lengua, garganta o me cuesta respirar»: pantalla de urgencia con llamada al 911 y directorio.</a:t>
            </a:r>
          </a:p>
        </p:txBody>
      </p:sp>
      <p:sp>
        <p:nvSpPr>
          <p:cNvPr id="52" name="Rectangle 51"/>
          <p:cNvSpPr/>
          <p:nvPr/>
        </p:nvSpPr>
        <p:spPr>
          <a:xfrm>
            <a:off x="411480" y="6217920"/>
            <a:ext cx="109728" cy="109728"/>
          </a:xfrm>
          <a:prstGeom prst="rect">
            <a:avLst/>
          </a:prstGeom>
          <a:solidFill>
            <a:srgbClr val="0081A8"/>
          </a:solidFill>
          <a:ln>
            <a:noFill/>
          </a:ln>
        </p:spPr>
        <p:txBody>
          <a:bodyPr rtlCol="0" anchor="ctr"/>
          <a:lstStyle/>
          <a:p>
            <a:pPr algn="ctr"/>
          </a:p>
        </p:txBody>
      </p:sp>
      <p:sp>
        <p:nvSpPr>
          <p:cNvPr id="53" name="TextBox 52"/>
          <p:cNvSpPr txBox="1"/>
          <p:nvPr/>
        </p:nvSpPr>
        <p:spPr>
          <a:xfrm>
            <a:off x="621792" y="6163056"/>
            <a:ext cx="5029200" cy="228600"/>
          </a:xfrm>
          <a:prstGeom prst="rect">
            <a:avLst/>
          </a:prstGeom>
          <a:noFill/>
        </p:spPr>
        <p:txBody>
          <a:bodyPr wrap="square" lIns="0" rIns="0" tIns="0" bIns="0" anchor="ctr">
            <a:noAutofit/>
          </a:bodyPr>
          <a:lstStyle/>
          <a:p>
            <a:pPr algn="l"/>
            <a:r>
              <a:rPr sz="950" b="1">
                <a:solidFill>
                  <a:srgbClr val="22383F"/>
                </a:solidFill>
                <a:latin typeface="Calibri"/>
              </a:rPr>
              <a:t>Pregunta modificada por los comentarios del cliente (22 de octubre de 2026)</a:t>
            </a:r>
          </a:p>
        </p:txBody>
      </p:sp>
      <p:sp>
        <p:nvSpPr>
          <p:cNvPr id="54" name="Rectangle 53"/>
          <p:cNvSpPr/>
          <p:nvPr/>
        </p:nvSpPr>
        <p:spPr>
          <a:xfrm>
            <a:off x="6144768" y="6217920"/>
            <a:ext cx="109728" cy="109728"/>
          </a:xfrm>
          <a:prstGeom prst="rect">
            <a:avLst/>
          </a:prstGeom>
          <a:solidFill>
            <a:srgbClr val="F8FAFC"/>
          </a:solidFill>
          <a:ln w="9525">
            <a:solidFill>
              <a:srgbClr val="E2E8F0"/>
            </a:solidFill>
          </a:ln>
        </p:spPr>
        <p:txBody>
          <a:bodyPr rtlCol="0" anchor="ctr"/>
          <a:lstStyle/>
          <a:p>
            <a:pPr algn="ctr"/>
          </a:p>
        </p:txBody>
      </p:sp>
      <p:sp>
        <p:nvSpPr>
          <p:cNvPr id="55" name="TextBox 54"/>
          <p:cNvSpPr txBox="1"/>
          <p:nvPr/>
        </p:nvSpPr>
        <p:spPr>
          <a:xfrm>
            <a:off x="6355080" y="6163056"/>
            <a:ext cx="5303520" cy="228600"/>
          </a:xfrm>
          <a:prstGeom prst="rect">
            <a:avLst/>
          </a:prstGeom>
          <a:noFill/>
        </p:spPr>
        <p:txBody>
          <a:bodyPr wrap="square" lIns="0" rIns="0" tIns="0" bIns="0" anchor="ctr">
            <a:noAutofit/>
          </a:bodyPr>
          <a:lstStyle/>
          <a:p>
            <a:pPr algn="l"/>
            <a:r>
              <a:rPr sz="950" b="1">
                <a:solidFill>
                  <a:srgbClr val="22383F"/>
                </a:solidFill>
                <a:latin typeface="Calibri"/>
              </a:rPr>
              <a:t>Fondo gris: la pregunta aparece solo según las respuestas anteriores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338560" y="6492240"/>
            <a:ext cx="640080" cy="182880"/>
          </a:xfrm>
          <a:prstGeom prst="rect">
            <a:avLst/>
          </a:prstGeom>
          <a:noFill/>
        </p:spPr>
        <p:txBody>
          <a:bodyPr wrap="square" lIns="0" rIns="0" tIns="0" bIns="0" anchor="ctr">
            <a:noAutofit/>
          </a:bodyPr>
          <a:lstStyle/>
          <a:p>
            <a:pPr algn="r"/>
            <a:r>
              <a:rPr sz="900" b="0">
                <a:solidFill>
                  <a:srgbClr val="5A6A6D"/>
                </a:solidFill>
                <a:latin typeface="Calibri"/>
              </a:rPr>
              <a:t>29</a:t>
            </a:r>
          </a:p>
        </p:txBody>
      </p:sp>
      <p:sp>
        <p:nvSpPr>
          <p:cNvPr id="3" name="TextBox 2"/>
          <p:cNvSpPr txBox="1"/>
          <p:nvPr/>
        </p:nvSpPr>
        <p:spPr>
          <a:xfrm>
            <a:off x="365760" y="182880"/>
            <a:ext cx="11521440" cy="731520"/>
          </a:xfrm>
          <a:prstGeom prst="rect">
            <a:avLst/>
          </a:prstGeom>
          <a:noFill/>
        </p:spPr>
        <p:txBody>
          <a:bodyPr wrap="square" lIns="0" rIns="0" tIns="0" bIns="0" anchor="t">
            <a:noAutofit/>
          </a:bodyPr>
          <a:lstStyle/>
          <a:p>
            <a:pPr algn="l"/>
            <a:r>
              <a:rPr sz="1100" b="1">
                <a:solidFill>
                  <a:srgbClr val="E0584D"/>
                </a:solidFill>
                <a:latin typeface="Calibri"/>
              </a:rPr>
              <a:t>ANEXO · MAPA DEL QUIZ</a:t>
            </a:r>
          </a:p>
          <a:p>
            <a:pPr algn="l"/>
            <a:r>
              <a:rPr sz="2200" b="1">
                <a:solidFill>
                  <a:srgbClr val="22383F"/>
                </a:solidFill>
                <a:latin typeface="Calibri"/>
              </a:rPr>
              <a:t>El recorrido cambia con las respuestas: de 2 a 22 pasos</a:t>
            </a:r>
          </a:p>
        </p:txBody>
      </p:sp>
      <p:sp>
        <p:nvSpPr>
          <p:cNvPr id="4" name="Rounded Rectangle 3"/>
          <p:cNvSpPr/>
          <p:nvPr/>
        </p:nvSpPr>
        <p:spPr>
          <a:xfrm>
            <a:off x="411480" y="1097280"/>
            <a:ext cx="11384280" cy="1207008"/>
          </a:xfrm>
          <a:prstGeom prst="roundRect">
            <a:avLst>
              <a:gd name="adj" fmla="val 12000"/>
            </a:avLst>
          </a:prstGeom>
          <a:solidFill>
            <a:srgbClr val="F8FAFC"/>
          </a:solidFill>
          <a:ln w="9525">
            <a:solidFill>
              <a:srgbClr val="E2E8F0"/>
            </a:solidFill>
          </a:ln>
        </p:spPr>
        <p:txBody>
          <a:bodyPr rtlCol="0" anchor="ctr"/>
          <a:lstStyle/>
          <a:p>
            <a:pPr algn="ctr"/>
          </a:p>
        </p:txBody>
      </p:sp>
      <p:sp>
        <p:nvSpPr>
          <p:cNvPr id="5" name="TextBox 4"/>
          <p:cNvSpPr txBox="1"/>
          <p:nvPr/>
        </p:nvSpPr>
        <p:spPr>
          <a:xfrm>
            <a:off x="640080" y="1207007"/>
            <a:ext cx="2743200" cy="274320"/>
          </a:xfrm>
          <a:prstGeom prst="rect">
            <a:avLst/>
          </a:prstGeom>
          <a:noFill/>
        </p:spPr>
        <p:txBody>
          <a:bodyPr wrap="square" lIns="0" rIns="0" tIns="0" bIns="0" anchor="ctr">
            <a:noAutofit/>
          </a:bodyPr>
          <a:lstStyle/>
          <a:p>
            <a:pPr algn="l"/>
            <a:r>
              <a:rPr sz="1500" b="1">
                <a:solidFill>
                  <a:srgbClr val="22383F"/>
                </a:solidFill>
                <a:latin typeface="Calibri"/>
              </a:rPr>
              <a:t>Camino corto</a:t>
            </a:r>
          </a:p>
        </p:txBody>
      </p:sp>
      <p:sp>
        <p:nvSpPr>
          <p:cNvPr id="6" name="Rounded Rectangle 5"/>
          <p:cNvSpPr/>
          <p:nvPr/>
        </p:nvSpPr>
        <p:spPr>
          <a:xfrm>
            <a:off x="640080" y="1554480"/>
            <a:ext cx="1005840" cy="310896"/>
          </a:xfrm>
          <a:prstGeom prst="roundRect">
            <a:avLst>
              <a:gd name="adj" fmla="val 12000"/>
            </a:avLst>
          </a:prstGeom>
          <a:solidFill>
            <a:srgbClr val="0081A8"/>
          </a:solidFill>
          <a:ln>
            <a:noFill/>
          </a:ln>
        </p:spPr>
        <p:txBody>
          <a:bodyPr rtlCol="0" anchor="ctr" wrap="square" lIns="73152" rIns="73152" tIns="36576" bIns="36576">
            <a:noAutofit/>
          </a:bodyPr>
          <a:lstStyle/>
          <a:p>
            <a:pPr algn="ctr"/>
            <a:r>
              <a:rPr sz="1100" b="1">
                <a:solidFill>
                  <a:srgbClr val="FFFFFF"/>
                </a:solidFill>
                <a:latin typeface="Calibri"/>
              </a:rPr>
              <a:t>2 pasos</a:t>
            </a:r>
          </a:p>
        </p:txBody>
      </p:sp>
      <p:sp>
        <p:nvSpPr>
          <p:cNvPr id="7" name="TextBox 6"/>
          <p:cNvSpPr txBox="1"/>
          <p:nvPr/>
        </p:nvSpPr>
        <p:spPr>
          <a:xfrm>
            <a:off x="640080" y="1965960"/>
            <a:ext cx="2651760" cy="594360"/>
          </a:xfrm>
          <a:prstGeom prst="rect">
            <a:avLst/>
          </a:prstGeom>
          <a:noFill/>
        </p:spPr>
        <p:txBody>
          <a:bodyPr wrap="square" lIns="0" rIns="0" tIns="0" bIns="0" anchor="t">
            <a:noAutofit/>
          </a:bodyPr>
          <a:lstStyle/>
          <a:p>
            <a:pPr algn="l"/>
            <a:r>
              <a:rPr sz="1000" b="0">
                <a:solidFill>
                  <a:srgbClr val="5A6A6D"/>
                </a:solidFill>
                <a:latin typeface="Calibri"/>
              </a:rPr>
              <a:t>No marca ningún síntoma</a:t>
            </a:r>
          </a:p>
        </p:txBody>
      </p:sp>
      <p:sp>
        <p:nvSpPr>
          <p:cNvPr id="8" name="Rounded Rectangle 7"/>
          <p:cNvSpPr/>
          <p:nvPr/>
        </p:nvSpPr>
        <p:spPr>
          <a:xfrm>
            <a:off x="3520440" y="1280160"/>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Nombre</a:t>
            </a:r>
          </a:p>
        </p:txBody>
      </p:sp>
      <p:sp>
        <p:nvSpPr>
          <p:cNvPr id="9" name="Rounded Rectangle 8"/>
          <p:cNvSpPr/>
          <p:nvPr/>
        </p:nvSpPr>
        <p:spPr>
          <a:xfrm>
            <a:off x="4544568" y="1280160"/>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Síntomas: «Ninguno de estos»</a:t>
            </a:r>
          </a:p>
        </p:txBody>
      </p:sp>
      <p:cxnSp>
        <p:nvCxnSpPr>
          <p:cNvPr id="10" name="Connector 9"/>
          <p:cNvCxnSpPr>
            <a:stCxn id="8" idx="3"/>
            <a:endCxn id="9" idx="1"/>
          </p:cNvCxnSpPr>
          <p:nvPr/>
        </p:nvCxnSpPr>
        <p:spPr>
          <a:xfrm flipV="1">
            <a:off x="4416552" y="1508760"/>
            <a:ext cx="128016" cy="0"/>
          </a:xfrm>
          <a:prstGeom prst="line">
            <a:avLst/>
          </a:prstGeom>
          <a:ln w="15875">
            <a:solidFill>
              <a:srgbClr val="CBD5E1"/>
            </a:solidFill>
            <a:tailEnd type="triangle" w="med" len="med"/>
          </a:ln>
        </p:spPr>
      </p:cxnSp>
      <p:sp>
        <p:nvSpPr>
          <p:cNvPr id="11" name="Rounded Rectangle 10"/>
          <p:cNvSpPr/>
          <p:nvPr/>
        </p:nvSpPr>
        <p:spPr>
          <a:xfrm>
            <a:off x="3520440" y="1865376"/>
            <a:ext cx="2377440" cy="347472"/>
          </a:xfrm>
          <a:prstGeom prst="roundRect">
            <a:avLst>
              <a:gd name="adj" fmla="val 12000"/>
            </a:avLst>
          </a:prstGeom>
          <a:solidFill>
            <a:srgbClr val="E0584D"/>
          </a:solidFill>
          <a:ln>
            <a:noFill/>
          </a:ln>
        </p:spPr>
        <p:txBody>
          <a:bodyPr rtlCol="0" anchor="ctr" wrap="square" lIns="73152" rIns="73152" tIns="36576" bIns="36576">
            <a:noAutofit/>
          </a:bodyPr>
          <a:lstStyle/>
          <a:p>
            <a:pPr algn="ctr"/>
            <a:r>
              <a:rPr sz="1050" b="1">
                <a:solidFill>
                  <a:srgbClr val="FFFFFF"/>
                </a:solidFill>
                <a:latin typeface="Calibri"/>
              </a:rPr>
              <a:t>Resultado sin síntomas</a:t>
            </a:r>
          </a:p>
        </p:txBody>
      </p:sp>
      <p:sp>
        <p:nvSpPr>
          <p:cNvPr id="12" name="TextBox 11"/>
          <p:cNvSpPr txBox="1"/>
          <p:nvPr/>
        </p:nvSpPr>
        <p:spPr>
          <a:xfrm>
            <a:off x="6080760" y="1929384"/>
            <a:ext cx="5486400" cy="274320"/>
          </a:xfrm>
          <a:prstGeom prst="rect">
            <a:avLst/>
          </a:prstGeom>
          <a:noFill/>
        </p:spPr>
        <p:txBody>
          <a:bodyPr wrap="square" lIns="0" rIns="0" tIns="0" bIns="0" anchor="ctr">
            <a:noAutofit/>
          </a:bodyPr>
          <a:lstStyle/>
          <a:p>
            <a:pPr algn="l"/>
            <a:r>
              <a:rPr sz="850" b="0">
                <a:solidFill>
                  <a:srgbClr val="5A6A6D"/>
                </a:solidFill>
                <a:latin typeface="Calibri"/>
              </a:rPr>
              <a:t>Cada recuadro es un paso del test, en el orden en que aparece</a:t>
            </a:r>
          </a:p>
        </p:txBody>
      </p:sp>
      <p:sp>
        <p:nvSpPr>
          <p:cNvPr id="13" name="Rounded Rectangle 12"/>
          <p:cNvSpPr/>
          <p:nvPr/>
        </p:nvSpPr>
        <p:spPr>
          <a:xfrm>
            <a:off x="411480" y="2441448"/>
            <a:ext cx="11384280" cy="1773936"/>
          </a:xfrm>
          <a:prstGeom prst="roundRect">
            <a:avLst>
              <a:gd name="adj" fmla="val 12000"/>
            </a:avLst>
          </a:prstGeom>
          <a:solidFill>
            <a:srgbClr val="F8FAFC"/>
          </a:solidFill>
          <a:ln w="9525">
            <a:solidFill>
              <a:srgbClr val="E2E8F0"/>
            </a:solidFill>
          </a:ln>
        </p:spPr>
        <p:txBody>
          <a:bodyPr rtlCol="0" anchor="ctr"/>
          <a:lstStyle/>
          <a:p>
            <a:pPr algn="ctr"/>
          </a:p>
        </p:txBody>
      </p:sp>
      <p:sp>
        <p:nvSpPr>
          <p:cNvPr id="14" name="TextBox 13"/>
          <p:cNvSpPr txBox="1"/>
          <p:nvPr/>
        </p:nvSpPr>
        <p:spPr>
          <a:xfrm>
            <a:off x="640080" y="2551176"/>
            <a:ext cx="2743200" cy="274320"/>
          </a:xfrm>
          <a:prstGeom prst="rect">
            <a:avLst/>
          </a:prstGeom>
          <a:noFill/>
        </p:spPr>
        <p:txBody>
          <a:bodyPr wrap="square" lIns="0" rIns="0" tIns="0" bIns="0" anchor="ctr">
            <a:noAutofit/>
          </a:bodyPr>
          <a:lstStyle/>
          <a:p>
            <a:pPr algn="l"/>
            <a:r>
              <a:rPr sz="1500" b="1">
                <a:solidFill>
                  <a:srgbClr val="22383F"/>
                </a:solidFill>
                <a:latin typeface="Calibri"/>
              </a:rPr>
              <a:t>Camino típico</a:t>
            </a:r>
          </a:p>
        </p:txBody>
      </p:sp>
      <p:sp>
        <p:nvSpPr>
          <p:cNvPr id="15" name="Rounded Rectangle 14"/>
          <p:cNvSpPr/>
          <p:nvPr/>
        </p:nvSpPr>
        <p:spPr>
          <a:xfrm>
            <a:off x="640080" y="2898648"/>
            <a:ext cx="1005840" cy="310896"/>
          </a:xfrm>
          <a:prstGeom prst="roundRect">
            <a:avLst>
              <a:gd name="adj" fmla="val 12000"/>
            </a:avLst>
          </a:prstGeom>
          <a:solidFill>
            <a:srgbClr val="0081A8"/>
          </a:solidFill>
          <a:ln>
            <a:noFill/>
          </a:ln>
        </p:spPr>
        <p:txBody>
          <a:bodyPr rtlCol="0" anchor="ctr" wrap="square" lIns="73152" rIns="73152" tIns="36576" bIns="36576">
            <a:noAutofit/>
          </a:bodyPr>
          <a:lstStyle/>
          <a:p>
            <a:pPr algn="ctr"/>
            <a:r>
              <a:rPr sz="1100" b="1">
                <a:solidFill>
                  <a:srgbClr val="FFFFFF"/>
                </a:solidFill>
                <a:latin typeface="Calibri"/>
              </a:rPr>
              <a:t>11 pasos</a:t>
            </a:r>
          </a:p>
        </p:txBody>
      </p:sp>
      <p:sp>
        <p:nvSpPr>
          <p:cNvPr id="16" name="TextBox 15"/>
          <p:cNvSpPr txBox="1"/>
          <p:nvPr/>
        </p:nvSpPr>
        <p:spPr>
          <a:xfrm>
            <a:off x="640080" y="3310128"/>
            <a:ext cx="2651760" cy="594360"/>
          </a:xfrm>
          <a:prstGeom prst="rect">
            <a:avLst/>
          </a:prstGeom>
          <a:noFill/>
        </p:spPr>
        <p:txBody>
          <a:bodyPr wrap="square" lIns="0" rIns="0" tIns="0" bIns="0" anchor="t">
            <a:noAutofit/>
          </a:bodyPr>
          <a:lstStyle/>
          <a:p>
            <a:pPr algn="l"/>
            <a:r>
              <a:rPr sz="1000" b="0">
                <a:solidFill>
                  <a:srgbClr val="5A6A6D"/>
                </a:solidFill>
                <a:latin typeface="Calibri"/>
              </a:rPr>
              <a:t>Habones y comezón, una sola área afectada, sin consulta ni tratamiento previo</a:t>
            </a:r>
          </a:p>
        </p:txBody>
      </p:sp>
      <p:sp>
        <p:nvSpPr>
          <p:cNvPr id="17" name="Rounded Rectangle 16"/>
          <p:cNvSpPr/>
          <p:nvPr/>
        </p:nvSpPr>
        <p:spPr>
          <a:xfrm>
            <a:off x="3520440"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Nombre</a:t>
            </a:r>
          </a:p>
        </p:txBody>
      </p:sp>
      <p:sp>
        <p:nvSpPr>
          <p:cNvPr id="18" name="Rounded Rectangle 17"/>
          <p:cNvSpPr/>
          <p:nvPr/>
        </p:nvSpPr>
        <p:spPr>
          <a:xfrm>
            <a:off x="4544568"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Síntomas</a:t>
            </a:r>
          </a:p>
        </p:txBody>
      </p:sp>
      <p:cxnSp>
        <p:nvCxnSpPr>
          <p:cNvPr id="19" name="Connector 18"/>
          <p:cNvCxnSpPr>
            <a:stCxn id="17" idx="3"/>
            <a:endCxn id="18" idx="1"/>
          </p:cNvCxnSpPr>
          <p:nvPr/>
        </p:nvCxnSpPr>
        <p:spPr>
          <a:xfrm flipV="1">
            <a:off x="4416552" y="2852928"/>
            <a:ext cx="128016" cy="0"/>
          </a:xfrm>
          <a:prstGeom prst="line">
            <a:avLst/>
          </a:prstGeom>
          <a:ln w="15875">
            <a:solidFill>
              <a:srgbClr val="CBD5E1"/>
            </a:solidFill>
            <a:tailEnd type="triangle" w="med" len="med"/>
          </a:ln>
        </p:spPr>
      </p:cxnSp>
      <p:sp>
        <p:nvSpPr>
          <p:cNvPr id="20" name="Rounded Rectangle 19"/>
          <p:cNvSpPr/>
          <p:nvPr/>
        </p:nvSpPr>
        <p:spPr>
          <a:xfrm>
            <a:off x="5568696"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Tiempo</a:t>
            </a:r>
          </a:p>
        </p:txBody>
      </p:sp>
      <p:cxnSp>
        <p:nvCxnSpPr>
          <p:cNvPr id="21" name="Connector 20"/>
          <p:cNvCxnSpPr>
            <a:stCxn id="18" idx="3"/>
            <a:endCxn id="20" idx="1"/>
          </p:cNvCxnSpPr>
          <p:nvPr/>
        </p:nvCxnSpPr>
        <p:spPr>
          <a:xfrm flipV="1">
            <a:off x="5440680" y="2852928"/>
            <a:ext cx="128016" cy="0"/>
          </a:xfrm>
          <a:prstGeom prst="line">
            <a:avLst/>
          </a:prstGeom>
          <a:ln w="15875">
            <a:solidFill>
              <a:srgbClr val="CBD5E1"/>
            </a:solidFill>
            <a:tailEnd type="triangle" w="med" len="med"/>
          </a:ln>
        </p:spPr>
      </p:cxnSp>
      <p:sp>
        <p:nvSpPr>
          <p:cNvPr id="22" name="Rounded Rectangle 21"/>
          <p:cNvSpPr/>
          <p:nvPr/>
        </p:nvSpPr>
        <p:spPr>
          <a:xfrm>
            <a:off x="6592824"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Habones</a:t>
            </a:r>
          </a:p>
        </p:txBody>
      </p:sp>
      <p:cxnSp>
        <p:nvCxnSpPr>
          <p:cNvPr id="23" name="Connector 22"/>
          <p:cNvCxnSpPr>
            <a:stCxn id="20" idx="3"/>
            <a:endCxn id="22" idx="1"/>
          </p:cNvCxnSpPr>
          <p:nvPr/>
        </p:nvCxnSpPr>
        <p:spPr>
          <a:xfrm flipV="1">
            <a:off x="6464808" y="2852928"/>
            <a:ext cx="128016" cy="0"/>
          </a:xfrm>
          <a:prstGeom prst="line">
            <a:avLst/>
          </a:prstGeom>
          <a:ln w="15875">
            <a:solidFill>
              <a:srgbClr val="CBD5E1"/>
            </a:solidFill>
            <a:tailEnd type="triangle" w="med" len="med"/>
          </a:ln>
        </p:spPr>
      </p:cxnSp>
      <p:sp>
        <p:nvSpPr>
          <p:cNvPr id="24" name="Rounded Rectangle 23"/>
          <p:cNvSpPr/>
          <p:nvPr/>
        </p:nvSpPr>
        <p:spPr>
          <a:xfrm>
            <a:off x="7616952"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Comezón</a:t>
            </a:r>
          </a:p>
        </p:txBody>
      </p:sp>
      <p:cxnSp>
        <p:nvCxnSpPr>
          <p:cNvPr id="25" name="Connector 24"/>
          <p:cNvCxnSpPr>
            <a:stCxn id="22" idx="3"/>
            <a:endCxn id="24" idx="1"/>
          </p:cNvCxnSpPr>
          <p:nvPr/>
        </p:nvCxnSpPr>
        <p:spPr>
          <a:xfrm flipV="1">
            <a:off x="7488936" y="2852928"/>
            <a:ext cx="128016" cy="0"/>
          </a:xfrm>
          <a:prstGeom prst="line">
            <a:avLst/>
          </a:prstGeom>
          <a:ln w="15875">
            <a:solidFill>
              <a:srgbClr val="CBD5E1"/>
            </a:solidFill>
            <a:tailEnd type="triangle" w="med" len="med"/>
          </a:ln>
        </p:spPr>
      </p:cxnSp>
      <p:sp>
        <p:nvSpPr>
          <p:cNvPr id="26" name="Rounded Rectangle 25"/>
          <p:cNvSpPr/>
          <p:nvPr/>
        </p:nvSpPr>
        <p:spPr>
          <a:xfrm>
            <a:off x="8641080" y="2624328"/>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Áreas afectadas</a:t>
            </a:r>
          </a:p>
        </p:txBody>
      </p:sp>
      <p:cxnSp>
        <p:nvCxnSpPr>
          <p:cNvPr id="27" name="Connector 26"/>
          <p:cNvCxnSpPr>
            <a:stCxn id="24" idx="3"/>
            <a:endCxn id="26" idx="1"/>
          </p:cNvCxnSpPr>
          <p:nvPr/>
        </p:nvCxnSpPr>
        <p:spPr>
          <a:xfrm flipV="1">
            <a:off x="8513064" y="2852928"/>
            <a:ext cx="128016" cy="0"/>
          </a:xfrm>
          <a:prstGeom prst="line">
            <a:avLst/>
          </a:prstGeom>
          <a:ln w="15875">
            <a:solidFill>
              <a:srgbClr val="CBD5E1"/>
            </a:solidFill>
            <a:tailEnd type="triangle" w="med" len="med"/>
          </a:ln>
        </p:spPr>
      </p:cxnSp>
      <p:sp>
        <p:nvSpPr>
          <p:cNvPr id="28" name="Rounded Rectangle 27"/>
          <p:cNvSpPr/>
          <p:nvPr/>
        </p:nvSpPr>
        <p:spPr>
          <a:xfrm>
            <a:off x="3520440" y="3191256"/>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Un área</a:t>
            </a:r>
          </a:p>
        </p:txBody>
      </p:sp>
      <p:sp>
        <p:nvSpPr>
          <p:cNvPr id="29" name="Rounded Rectangle 28"/>
          <p:cNvSpPr/>
          <p:nvPr/>
        </p:nvSpPr>
        <p:spPr>
          <a:xfrm>
            <a:off x="4544568" y="3191256"/>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Comentarios</a:t>
            </a:r>
          </a:p>
        </p:txBody>
      </p:sp>
      <p:cxnSp>
        <p:nvCxnSpPr>
          <p:cNvPr id="30" name="Connector 29"/>
          <p:cNvCxnSpPr>
            <a:stCxn id="28" idx="3"/>
            <a:endCxn id="29" idx="1"/>
          </p:cNvCxnSpPr>
          <p:nvPr/>
        </p:nvCxnSpPr>
        <p:spPr>
          <a:xfrm flipV="1">
            <a:off x="4416552" y="3419856"/>
            <a:ext cx="128016" cy="0"/>
          </a:xfrm>
          <a:prstGeom prst="line">
            <a:avLst/>
          </a:prstGeom>
          <a:ln w="15875">
            <a:solidFill>
              <a:srgbClr val="CBD5E1"/>
            </a:solidFill>
            <a:tailEnd type="triangle" w="med" len="med"/>
          </a:ln>
        </p:spPr>
      </p:cxnSp>
      <p:sp>
        <p:nvSpPr>
          <p:cNvPr id="31" name="Rounded Rectangle 30"/>
          <p:cNvSpPr/>
          <p:nvPr/>
        </p:nvSpPr>
        <p:spPr>
          <a:xfrm>
            <a:off x="5568696" y="3191256"/>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Momento del día</a:t>
            </a:r>
          </a:p>
        </p:txBody>
      </p:sp>
      <p:cxnSp>
        <p:nvCxnSpPr>
          <p:cNvPr id="32" name="Connector 31"/>
          <p:cNvCxnSpPr>
            <a:stCxn id="29" idx="3"/>
            <a:endCxn id="31" idx="1"/>
          </p:cNvCxnSpPr>
          <p:nvPr/>
        </p:nvCxnSpPr>
        <p:spPr>
          <a:xfrm flipV="1">
            <a:off x="5440680" y="3419856"/>
            <a:ext cx="128016" cy="0"/>
          </a:xfrm>
          <a:prstGeom prst="line">
            <a:avLst/>
          </a:prstGeom>
          <a:ln w="15875">
            <a:solidFill>
              <a:srgbClr val="CBD5E1"/>
            </a:solidFill>
            <a:tailEnd type="triangle" w="med" len="med"/>
          </a:ln>
        </p:spPr>
      </p:cxnSp>
      <p:sp>
        <p:nvSpPr>
          <p:cNvPr id="33" name="Rounded Rectangle 32"/>
          <p:cNvSpPr/>
          <p:nvPr/>
        </p:nvSpPr>
        <p:spPr>
          <a:xfrm>
            <a:off x="6592824" y="3191256"/>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Consulta: No</a:t>
            </a:r>
          </a:p>
        </p:txBody>
      </p:sp>
      <p:cxnSp>
        <p:nvCxnSpPr>
          <p:cNvPr id="34" name="Connector 33"/>
          <p:cNvCxnSpPr>
            <a:stCxn id="31" idx="3"/>
            <a:endCxn id="33" idx="1"/>
          </p:cNvCxnSpPr>
          <p:nvPr/>
        </p:nvCxnSpPr>
        <p:spPr>
          <a:xfrm flipV="1">
            <a:off x="6464808" y="3419856"/>
            <a:ext cx="128016" cy="0"/>
          </a:xfrm>
          <a:prstGeom prst="line">
            <a:avLst/>
          </a:prstGeom>
          <a:ln w="15875">
            <a:solidFill>
              <a:srgbClr val="CBD5E1"/>
            </a:solidFill>
            <a:tailEnd type="triangle" w="med" len="med"/>
          </a:ln>
        </p:spPr>
      </p:cxnSp>
      <p:sp>
        <p:nvSpPr>
          <p:cNvPr id="35" name="Rounded Rectangle 34"/>
          <p:cNvSpPr/>
          <p:nvPr/>
        </p:nvSpPr>
        <p:spPr>
          <a:xfrm>
            <a:off x="7616952" y="3191256"/>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Tratamiento: No</a:t>
            </a:r>
          </a:p>
        </p:txBody>
      </p:sp>
      <p:cxnSp>
        <p:nvCxnSpPr>
          <p:cNvPr id="36" name="Connector 35"/>
          <p:cNvCxnSpPr>
            <a:stCxn id="33" idx="3"/>
            <a:endCxn id="35" idx="1"/>
          </p:cNvCxnSpPr>
          <p:nvPr/>
        </p:nvCxnSpPr>
        <p:spPr>
          <a:xfrm flipV="1">
            <a:off x="7488936" y="3419856"/>
            <a:ext cx="128016" cy="0"/>
          </a:xfrm>
          <a:prstGeom prst="line">
            <a:avLst/>
          </a:prstGeom>
          <a:ln w="15875">
            <a:solidFill>
              <a:srgbClr val="CBD5E1"/>
            </a:solidFill>
            <a:tailEnd type="triangle" w="med" len="med"/>
          </a:ln>
        </p:spPr>
      </p:cxnSp>
      <p:sp>
        <p:nvSpPr>
          <p:cNvPr id="37" name="Rounded Rectangle 36"/>
          <p:cNvSpPr/>
          <p:nvPr/>
        </p:nvSpPr>
        <p:spPr>
          <a:xfrm>
            <a:off x="3520440" y="3776472"/>
            <a:ext cx="2377440" cy="347472"/>
          </a:xfrm>
          <a:prstGeom prst="roundRect">
            <a:avLst>
              <a:gd name="adj" fmla="val 12000"/>
            </a:avLst>
          </a:prstGeom>
          <a:solidFill>
            <a:srgbClr val="E0584D"/>
          </a:solidFill>
          <a:ln>
            <a:noFill/>
          </a:ln>
        </p:spPr>
        <p:txBody>
          <a:bodyPr rtlCol="0" anchor="ctr" wrap="square" lIns="73152" rIns="73152" tIns="36576" bIns="36576">
            <a:noAutofit/>
          </a:bodyPr>
          <a:lstStyle/>
          <a:p>
            <a:pPr algn="ctr"/>
            <a:r>
              <a:rPr sz="1050" b="1">
                <a:solidFill>
                  <a:srgbClr val="FFFFFF"/>
                </a:solidFill>
                <a:latin typeface="Calibri"/>
              </a:rPr>
              <a:t>Resultado con medidor UAS7</a:t>
            </a:r>
          </a:p>
        </p:txBody>
      </p:sp>
      <p:sp>
        <p:nvSpPr>
          <p:cNvPr id="38" name="TextBox 37"/>
          <p:cNvSpPr txBox="1"/>
          <p:nvPr/>
        </p:nvSpPr>
        <p:spPr>
          <a:xfrm>
            <a:off x="6080760" y="3840480"/>
            <a:ext cx="5486400" cy="274320"/>
          </a:xfrm>
          <a:prstGeom prst="rect">
            <a:avLst/>
          </a:prstGeom>
          <a:noFill/>
        </p:spPr>
        <p:txBody>
          <a:bodyPr wrap="square" lIns="0" rIns="0" tIns="0" bIns="0" anchor="ctr">
            <a:noAutofit/>
          </a:bodyPr>
          <a:lstStyle/>
          <a:p>
            <a:pPr algn="l"/>
            <a:r>
              <a:rPr sz="850" b="0">
                <a:solidFill>
                  <a:srgbClr val="5A6A6D"/>
                </a:solidFill>
                <a:latin typeface="Calibri"/>
              </a:rPr>
              <a:t>Cada recuadro es un paso del test, en el orden en que aparece (de izquierda a derecha, fila por fila)</a:t>
            </a:r>
          </a:p>
        </p:txBody>
      </p:sp>
      <p:sp>
        <p:nvSpPr>
          <p:cNvPr id="39" name="Rounded Rectangle 38"/>
          <p:cNvSpPr/>
          <p:nvPr/>
        </p:nvSpPr>
        <p:spPr>
          <a:xfrm>
            <a:off x="411480" y="4352544"/>
            <a:ext cx="11384280" cy="1773936"/>
          </a:xfrm>
          <a:prstGeom prst="roundRect">
            <a:avLst>
              <a:gd name="adj" fmla="val 12000"/>
            </a:avLst>
          </a:prstGeom>
          <a:solidFill>
            <a:srgbClr val="F8FAFC"/>
          </a:solidFill>
          <a:ln w="9525">
            <a:solidFill>
              <a:srgbClr val="E2E8F0"/>
            </a:solidFill>
          </a:ln>
        </p:spPr>
        <p:txBody>
          <a:bodyPr rtlCol="0" anchor="ctr"/>
          <a:lstStyle/>
          <a:p>
            <a:pPr algn="ctr"/>
          </a:p>
        </p:txBody>
      </p:sp>
      <p:sp>
        <p:nvSpPr>
          <p:cNvPr id="40" name="TextBox 39"/>
          <p:cNvSpPr txBox="1"/>
          <p:nvPr/>
        </p:nvSpPr>
        <p:spPr>
          <a:xfrm>
            <a:off x="640080" y="4462272"/>
            <a:ext cx="2743200" cy="274320"/>
          </a:xfrm>
          <a:prstGeom prst="rect">
            <a:avLst/>
          </a:prstGeom>
          <a:noFill/>
        </p:spPr>
        <p:txBody>
          <a:bodyPr wrap="square" lIns="0" rIns="0" tIns="0" bIns="0" anchor="ctr">
            <a:noAutofit/>
          </a:bodyPr>
          <a:lstStyle/>
          <a:p>
            <a:pPr algn="l"/>
            <a:r>
              <a:rPr sz="1500" b="1">
                <a:solidFill>
                  <a:srgbClr val="22383F"/>
                </a:solidFill>
                <a:latin typeface="Calibri"/>
              </a:rPr>
              <a:t>Camino largo</a:t>
            </a:r>
          </a:p>
        </p:txBody>
      </p:sp>
      <p:sp>
        <p:nvSpPr>
          <p:cNvPr id="41" name="Rounded Rectangle 40"/>
          <p:cNvSpPr/>
          <p:nvPr/>
        </p:nvSpPr>
        <p:spPr>
          <a:xfrm>
            <a:off x="640080" y="4809744"/>
            <a:ext cx="1005840" cy="310896"/>
          </a:xfrm>
          <a:prstGeom prst="roundRect">
            <a:avLst>
              <a:gd name="adj" fmla="val 12000"/>
            </a:avLst>
          </a:prstGeom>
          <a:solidFill>
            <a:srgbClr val="0081A8"/>
          </a:solidFill>
          <a:ln>
            <a:noFill/>
          </a:ln>
        </p:spPr>
        <p:txBody>
          <a:bodyPr rtlCol="0" anchor="ctr" wrap="square" lIns="73152" rIns="73152" tIns="36576" bIns="36576">
            <a:noAutofit/>
          </a:bodyPr>
          <a:lstStyle/>
          <a:p>
            <a:pPr algn="ctr"/>
            <a:r>
              <a:rPr sz="1100" b="1">
                <a:solidFill>
                  <a:srgbClr val="FFFFFF"/>
                </a:solidFill>
                <a:latin typeface="Calibri"/>
              </a:rPr>
              <a:t>22 pasos</a:t>
            </a:r>
          </a:p>
        </p:txBody>
      </p:sp>
      <p:sp>
        <p:nvSpPr>
          <p:cNvPr id="42" name="TextBox 41"/>
          <p:cNvSpPr txBox="1"/>
          <p:nvPr/>
        </p:nvSpPr>
        <p:spPr>
          <a:xfrm>
            <a:off x="640080" y="5221224"/>
            <a:ext cx="2651760" cy="594360"/>
          </a:xfrm>
          <a:prstGeom prst="rect">
            <a:avLst/>
          </a:prstGeom>
          <a:noFill/>
        </p:spPr>
        <p:txBody>
          <a:bodyPr wrap="square" lIns="0" rIns="0" tIns="0" bIns="0" anchor="t">
            <a:noAutofit/>
          </a:bodyPr>
          <a:lstStyle/>
          <a:p>
            <a:pPr algn="l"/>
            <a:r>
              <a:rPr sz="1000" b="0">
                <a:solidFill>
                  <a:srgbClr val="5A6A6D"/>
                </a:solidFill>
                <a:latin typeface="Calibri"/>
              </a:rPr>
              <a:t>Marca los tres síntomas, todas las áreas, ya consultó y ya usó tratamiento</a:t>
            </a:r>
          </a:p>
        </p:txBody>
      </p:sp>
      <p:sp>
        <p:nvSpPr>
          <p:cNvPr id="43" name="Rounded Rectangle 42"/>
          <p:cNvSpPr/>
          <p:nvPr/>
        </p:nvSpPr>
        <p:spPr>
          <a:xfrm>
            <a:off x="3520440"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Nombre</a:t>
            </a:r>
          </a:p>
        </p:txBody>
      </p:sp>
      <p:sp>
        <p:nvSpPr>
          <p:cNvPr id="44" name="Rounded Rectangle 43"/>
          <p:cNvSpPr/>
          <p:nvPr/>
        </p:nvSpPr>
        <p:spPr>
          <a:xfrm>
            <a:off x="4544568"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Síntomas</a:t>
            </a:r>
          </a:p>
        </p:txBody>
      </p:sp>
      <p:cxnSp>
        <p:nvCxnSpPr>
          <p:cNvPr id="45" name="Connector 44"/>
          <p:cNvCxnSpPr>
            <a:stCxn id="43" idx="3"/>
            <a:endCxn id="44" idx="1"/>
          </p:cNvCxnSpPr>
          <p:nvPr/>
        </p:nvCxnSpPr>
        <p:spPr>
          <a:xfrm flipV="1">
            <a:off x="4416552" y="4764024"/>
            <a:ext cx="128016" cy="0"/>
          </a:xfrm>
          <a:prstGeom prst="line">
            <a:avLst/>
          </a:prstGeom>
          <a:ln w="15875">
            <a:solidFill>
              <a:srgbClr val="CBD5E1"/>
            </a:solidFill>
            <a:tailEnd type="triangle" w="med" len="med"/>
          </a:ln>
        </p:spPr>
      </p:cxnSp>
      <p:sp>
        <p:nvSpPr>
          <p:cNvPr id="46" name="Rounded Rectangle 45"/>
          <p:cNvSpPr/>
          <p:nvPr/>
        </p:nvSpPr>
        <p:spPr>
          <a:xfrm>
            <a:off x="5568696"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Urgencia</a:t>
            </a:r>
          </a:p>
        </p:txBody>
      </p:sp>
      <p:cxnSp>
        <p:nvCxnSpPr>
          <p:cNvPr id="47" name="Connector 46"/>
          <p:cNvCxnSpPr>
            <a:stCxn id="44" idx="3"/>
            <a:endCxn id="46" idx="1"/>
          </p:cNvCxnSpPr>
          <p:nvPr/>
        </p:nvCxnSpPr>
        <p:spPr>
          <a:xfrm flipV="1">
            <a:off x="5440680" y="4764024"/>
            <a:ext cx="128016" cy="0"/>
          </a:xfrm>
          <a:prstGeom prst="line">
            <a:avLst/>
          </a:prstGeom>
          <a:ln w="15875">
            <a:solidFill>
              <a:srgbClr val="CBD5E1"/>
            </a:solidFill>
            <a:tailEnd type="triangle" w="med" len="med"/>
          </a:ln>
        </p:spPr>
      </p:cxnSp>
      <p:sp>
        <p:nvSpPr>
          <p:cNvPr id="48" name="Rounded Rectangle 47"/>
          <p:cNvSpPr/>
          <p:nvPr/>
        </p:nvSpPr>
        <p:spPr>
          <a:xfrm>
            <a:off x="6592824"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Tiempo</a:t>
            </a:r>
          </a:p>
        </p:txBody>
      </p:sp>
      <p:cxnSp>
        <p:nvCxnSpPr>
          <p:cNvPr id="49" name="Connector 48"/>
          <p:cNvCxnSpPr>
            <a:stCxn id="46" idx="3"/>
            <a:endCxn id="48" idx="1"/>
          </p:cNvCxnSpPr>
          <p:nvPr/>
        </p:nvCxnSpPr>
        <p:spPr>
          <a:xfrm flipV="1">
            <a:off x="6464808" y="4764024"/>
            <a:ext cx="128016" cy="0"/>
          </a:xfrm>
          <a:prstGeom prst="line">
            <a:avLst/>
          </a:prstGeom>
          <a:ln w="15875">
            <a:solidFill>
              <a:srgbClr val="CBD5E1"/>
            </a:solidFill>
            <a:tailEnd type="triangle" w="med" len="med"/>
          </a:ln>
        </p:spPr>
      </p:cxnSp>
      <p:sp>
        <p:nvSpPr>
          <p:cNvPr id="50" name="Rounded Rectangle 49"/>
          <p:cNvSpPr/>
          <p:nvPr/>
        </p:nvSpPr>
        <p:spPr>
          <a:xfrm>
            <a:off x="7616952"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Habones</a:t>
            </a:r>
          </a:p>
        </p:txBody>
      </p:sp>
      <p:cxnSp>
        <p:nvCxnSpPr>
          <p:cNvPr id="51" name="Connector 50"/>
          <p:cNvCxnSpPr>
            <a:stCxn id="48" idx="3"/>
            <a:endCxn id="50" idx="1"/>
          </p:cNvCxnSpPr>
          <p:nvPr/>
        </p:nvCxnSpPr>
        <p:spPr>
          <a:xfrm flipV="1">
            <a:off x="7488936" y="4764024"/>
            <a:ext cx="128016" cy="0"/>
          </a:xfrm>
          <a:prstGeom prst="line">
            <a:avLst/>
          </a:prstGeom>
          <a:ln w="15875">
            <a:solidFill>
              <a:srgbClr val="CBD5E1"/>
            </a:solidFill>
            <a:tailEnd type="triangle" w="med" len="med"/>
          </a:ln>
        </p:spPr>
      </p:cxnSp>
      <p:sp>
        <p:nvSpPr>
          <p:cNvPr id="52" name="Rounded Rectangle 51"/>
          <p:cNvSpPr/>
          <p:nvPr/>
        </p:nvSpPr>
        <p:spPr>
          <a:xfrm>
            <a:off x="8641080"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Comezón</a:t>
            </a:r>
          </a:p>
        </p:txBody>
      </p:sp>
      <p:cxnSp>
        <p:nvCxnSpPr>
          <p:cNvPr id="53" name="Connector 52"/>
          <p:cNvCxnSpPr>
            <a:stCxn id="50" idx="3"/>
            <a:endCxn id="52" idx="1"/>
          </p:cNvCxnSpPr>
          <p:nvPr/>
        </p:nvCxnSpPr>
        <p:spPr>
          <a:xfrm flipV="1">
            <a:off x="8513064" y="4764024"/>
            <a:ext cx="128016" cy="0"/>
          </a:xfrm>
          <a:prstGeom prst="line">
            <a:avLst/>
          </a:prstGeom>
          <a:ln w="15875">
            <a:solidFill>
              <a:srgbClr val="CBD5E1"/>
            </a:solidFill>
            <a:tailEnd type="triangle" w="med" len="med"/>
          </a:ln>
        </p:spPr>
      </p:cxnSp>
      <p:sp>
        <p:nvSpPr>
          <p:cNvPr id="54" name="Rounded Rectangle 53"/>
          <p:cNvSpPr/>
          <p:nvPr/>
        </p:nvSpPr>
        <p:spPr>
          <a:xfrm>
            <a:off x="9665208"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Hinchazón</a:t>
            </a:r>
          </a:p>
        </p:txBody>
      </p:sp>
      <p:cxnSp>
        <p:nvCxnSpPr>
          <p:cNvPr id="55" name="Connector 54"/>
          <p:cNvCxnSpPr>
            <a:stCxn id="52" idx="3"/>
            <a:endCxn id="54" idx="1"/>
          </p:cNvCxnSpPr>
          <p:nvPr/>
        </p:nvCxnSpPr>
        <p:spPr>
          <a:xfrm flipV="1">
            <a:off x="9537192" y="4764024"/>
            <a:ext cx="128016" cy="0"/>
          </a:xfrm>
          <a:prstGeom prst="line">
            <a:avLst/>
          </a:prstGeom>
          <a:ln w="15875">
            <a:solidFill>
              <a:srgbClr val="CBD5E1"/>
            </a:solidFill>
            <a:tailEnd type="triangle" w="med" len="med"/>
          </a:ln>
        </p:spPr>
      </p:cxnSp>
      <p:sp>
        <p:nvSpPr>
          <p:cNvPr id="56" name="Rounded Rectangle 55"/>
          <p:cNvSpPr/>
          <p:nvPr/>
        </p:nvSpPr>
        <p:spPr>
          <a:xfrm>
            <a:off x="10689336" y="4535424"/>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Áreas afectadas</a:t>
            </a:r>
          </a:p>
        </p:txBody>
      </p:sp>
      <p:cxnSp>
        <p:nvCxnSpPr>
          <p:cNvPr id="57" name="Connector 56"/>
          <p:cNvCxnSpPr>
            <a:stCxn id="54" idx="3"/>
            <a:endCxn id="56" idx="1"/>
          </p:cNvCxnSpPr>
          <p:nvPr/>
        </p:nvCxnSpPr>
        <p:spPr>
          <a:xfrm flipV="1">
            <a:off x="10561320" y="4764024"/>
            <a:ext cx="128016" cy="0"/>
          </a:xfrm>
          <a:prstGeom prst="line">
            <a:avLst/>
          </a:prstGeom>
          <a:ln w="15875">
            <a:solidFill>
              <a:srgbClr val="CBD5E1"/>
            </a:solidFill>
            <a:tailEnd type="triangle" w="med" len="med"/>
          </a:ln>
        </p:spPr>
      </p:cxnSp>
      <p:sp>
        <p:nvSpPr>
          <p:cNvPr id="58" name="Rounded Rectangle 57"/>
          <p:cNvSpPr/>
          <p:nvPr/>
        </p:nvSpPr>
        <p:spPr>
          <a:xfrm>
            <a:off x="3520440"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6 áreas de impacto</a:t>
            </a:r>
          </a:p>
        </p:txBody>
      </p:sp>
      <p:sp>
        <p:nvSpPr>
          <p:cNvPr id="59" name="Rounded Rectangle 58"/>
          <p:cNvSpPr/>
          <p:nvPr/>
        </p:nvSpPr>
        <p:spPr>
          <a:xfrm>
            <a:off x="4544568"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Comentarios</a:t>
            </a:r>
          </a:p>
        </p:txBody>
      </p:sp>
      <p:cxnSp>
        <p:nvCxnSpPr>
          <p:cNvPr id="60" name="Connector 59"/>
          <p:cNvCxnSpPr>
            <a:stCxn id="58" idx="3"/>
            <a:endCxn id="59" idx="1"/>
          </p:cNvCxnSpPr>
          <p:nvPr/>
        </p:nvCxnSpPr>
        <p:spPr>
          <a:xfrm flipV="1">
            <a:off x="4416552" y="5330952"/>
            <a:ext cx="128016" cy="0"/>
          </a:xfrm>
          <a:prstGeom prst="line">
            <a:avLst/>
          </a:prstGeom>
          <a:ln w="15875">
            <a:solidFill>
              <a:srgbClr val="CBD5E1"/>
            </a:solidFill>
            <a:tailEnd type="triangle" w="med" len="med"/>
          </a:ln>
        </p:spPr>
      </p:cxnSp>
      <p:sp>
        <p:nvSpPr>
          <p:cNvPr id="61" name="Rounded Rectangle 60"/>
          <p:cNvSpPr/>
          <p:nvPr/>
        </p:nvSpPr>
        <p:spPr>
          <a:xfrm>
            <a:off x="5568696"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Momento del día</a:t>
            </a:r>
          </a:p>
        </p:txBody>
      </p:sp>
      <p:cxnSp>
        <p:nvCxnSpPr>
          <p:cNvPr id="62" name="Connector 61"/>
          <p:cNvCxnSpPr>
            <a:stCxn id="59" idx="3"/>
            <a:endCxn id="61" idx="1"/>
          </p:cNvCxnSpPr>
          <p:nvPr/>
        </p:nvCxnSpPr>
        <p:spPr>
          <a:xfrm flipV="1">
            <a:off x="5440680" y="5330952"/>
            <a:ext cx="128016" cy="0"/>
          </a:xfrm>
          <a:prstGeom prst="line">
            <a:avLst/>
          </a:prstGeom>
          <a:ln w="15875">
            <a:solidFill>
              <a:srgbClr val="CBD5E1"/>
            </a:solidFill>
            <a:tailEnd type="triangle" w="med" len="med"/>
          </a:ln>
        </p:spPr>
      </p:cxnSp>
      <p:sp>
        <p:nvSpPr>
          <p:cNvPr id="63" name="Rounded Rectangle 62"/>
          <p:cNvSpPr/>
          <p:nvPr/>
        </p:nvSpPr>
        <p:spPr>
          <a:xfrm>
            <a:off x="6592824"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Consulta: Sí</a:t>
            </a:r>
          </a:p>
        </p:txBody>
      </p:sp>
      <p:cxnSp>
        <p:nvCxnSpPr>
          <p:cNvPr id="64" name="Connector 63"/>
          <p:cNvCxnSpPr>
            <a:stCxn id="61" idx="3"/>
            <a:endCxn id="63" idx="1"/>
          </p:cNvCxnSpPr>
          <p:nvPr/>
        </p:nvCxnSpPr>
        <p:spPr>
          <a:xfrm flipV="1">
            <a:off x="6464808" y="5330952"/>
            <a:ext cx="128016" cy="0"/>
          </a:xfrm>
          <a:prstGeom prst="line">
            <a:avLst/>
          </a:prstGeom>
          <a:ln w="15875">
            <a:solidFill>
              <a:srgbClr val="CBD5E1"/>
            </a:solidFill>
            <a:tailEnd type="triangle" w="med" len="med"/>
          </a:ln>
        </p:spPr>
      </p:cxnSp>
      <p:sp>
        <p:nvSpPr>
          <p:cNvPr id="65" name="Rounded Rectangle 64"/>
          <p:cNvSpPr/>
          <p:nvPr/>
        </p:nvSpPr>
        <p:spPr>
          <a:xfrm>
            <a:off x="7616952"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Frecuencia y especialista</a:t>
            </a:r>
          </a:p>
        </p:txBody>
      </p:sp>
      <p:cxnSp>
        <p:nvCxnSpPr>
          <p:cNvPr id="66" name="Connector 65"/>
          <p:cNvCxnSpPr>
            <a:stCxn id="63" idx="3"/>
            <a:endCxn id="65" idx="1"/>
          </p:cNvCxnSpPr>
          <p:nvPr/>
        </p:nvCxnSpPr>
        <p:spPr>
          <a:xfrm flipV="1">
            <a:off x="7488936" y="5330952"/>
            <a:ext cx="128016" cy="0"/>
          </a:xfrm>
          <a:prstGeom prst="line">
            <a:avLst/>
          </a:prstGeom>
          <a:ln w="15875">
            <a:solidFill>
              <a:srgbClr val="CBD5E1"/>
            </a:solidFill>
            <a:tailEnd type="triangle" w="med" len="med"/>
          </a:ln>
        </p:spPr>
      </p:cxnSp>
      <p:sp>
        <p:nvSpPr>
          <p:cNvPr id="67" name="Rounded Rectangle 66"/>
          <p:cNvSpPr/>
          <p:nvPr/>
        </p:nvSpPr>
        <p:spPr>
          <a:xfrm>
            <a:off x="8641080"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Tratamiento: Sí</a:t>
            </a:r>
          </a:p>
        </p:txBody>
      </p:sp>
      <p:cxnSp>
        <p:nvCxnSpPr>
          <p:cNvPr id="68" name="Connector 67"/>
          <p:cNvCxnSpPr>
            <a:stCxn id="65" idx="3"/>
            <a:endCxn id="67" idx="1"/>
          </p:cNvCxnSpPr>
          <p:nvPr/>
        </p:nvCxnSpPr>
        <p:spPr>
          <a:xfrm flipV="1">
            <a:off x="8513064" y="5330952"/>
            <a:ext cx="128016" cy="0"/>
          </a:xfrm>
          <a:prstGeom prst="line">
            <a:avLst/>
          </a:prstGeom>
          <a:ln w="15875">
            <a:solidFill>
              <a:srgbClr val="CBD5E1"/>
            </a:solidFill>
            <a:tailEnd type="triangle" w="med" len="med"/>
          </a:ln>
        </p:spPr>
      </p:cxnSp>
      <p:sp>
        <p:nvSpPr>
          <p:cNvPr id="69" name="Rounded Rectangle 68"/>
          <p:cNvSpPr/>
          <p:nvPr/>
        </p:nvSpPr>
        <p:spPr>
          <a:xfrm>
            <a:off x="9665208" y="5102352"/>
            <a:ext cx="896112" cy="457200"/>
          </a:xfrm>
          <a:prstGeom prst="roundRect">
            <a:avLst>
              <a:gd name="adj" fmla="val 12000"/>
            </a:avLst>
          </a:prstGeom>
          <a:solidFill>
            <a:srgbClr val="FFFFFF"/>
          </a:solidFill>
          <a:ln w="9525">
            <a:solidFill>
              <a:srgbClr val="E2E8F0"/>
            </a:solidFill>
          </a:ln>
        </p:spPr>
        <p:txBody>
          <a:bodyPr rtlCol="0" anchor="ctr" wrap="square" lIns="36576" rIns="36576" tIns="18288" bIns="18288">
            <a:noAutofit/>
          </a:bodyPr>
          <a:lstStyle/>
          <a:p>
            <a:pPr algn="ctr"/>
            <a:r>
              <a:rPr sz="900" b="0">
                <a:solidFill>
                  <a:srgbClr val="22383F"/>
                </a:solidFill>
                <a:latin typeface="Calibri"/>
              </a:rPr>
              <a:t>Tipo y efectividad</a:t>
            </a:r>
          </a:p>
        </p:txBody>
      </p:sp>
      <p:cxnSp>
        <p:nvCxnSpPr>
          <p:cNvPr id="70" name="Connector 69"/>
          <p:cNvCxnSpPr>
            <a:stCxn id="67" idx="3"/>
            <a:endCxn id="69" idx="1"/>
          </p:cNvCxnSpPr>
          <p:nvPr/>
        </p:nvCxnSpPr>
        <p:spPr>
          <a:xfrm flipV="1">
            <a:off x="9537192" y="5330952"/>
            <a:ext cx="128016" cy="0"/>
          </a:xfrm>
          <a:prstGeom prst="line">
            <a:avLst/>
          </a:prstGeom>
          <a:ln w="15875">
            <a:solidFill>
              <a:srgbClr val="CBD5E1"/>
            </a:solidFill>
            <a:tailEnd type="triangle" w="med" len="med"/>
          </a:ln>
        </p:spPr>
      </p:cxnSp>
      <p:sp>
        <p:nvSpPr>
          <p:cNvPr id="71" name="Rounded Rectangle 70"/>
          <p:cNvSpPr/>
          <p:nvPr/>
        </p:nvSpPr>
        <p:spPr>
          <a:xfrm>
            <a:off x="3520440" y="5687568"/>
            <a:ext cx="2377440" cy="347472"/>
          </a:xfrm>
          <a:prstGeom prst="roundRect">
            <a:avLst>
              <a:gd name="adj" fmla="val 12000"/>
            </a:avLst>
          </a:prstGeom>
          <a:solidFill>
            <a:srgbClr val="E0584D"/>
          </a:solidFill>
          <a:ln>
            <a:noFill/>
          </a:ln>
        </p:spPr>
        <p:txBody>
          <a:bodyPr rtlCol="0" anchor="ctr" wrap="square" lIns="73152" rIns="73152" tIns="36576" bIns="36576">
            <a:noAutofit/>
          </a:bodyPr>
          <a:lstStyle/>
          <a:p>
            <a:pPr algn="ctr"/>
            <a:r>
              <a:rPr sz="1050" b="1">
                <a:solidFill>
                  <a:srgbClr val="FFFFFF"/>
                </a:solidFill>
                <a:latin typeface="Calibri"/>
              </a:rPr>
              <a:t>Resultado completo</a:t>
            </a:r>
          </a:p>
        </p:txBody>
      </p:sp>
      <p:sp>
        <p:nvSpPr>
          <p:cNvPr id="72" name="TextBox 71"/>
          <p:cNvSpPr txBox="1"/>
          <p:nvPr/>
        </p:nvSpPr>
        <p:spPr>
          <a:xfrm>
            <a:off x="6080760" y="5751576"/>
            <a:ext cx="5486400" cy="274320"/>
          </a:xfrm>
          <a:prstGeom prst="rect">
            <a:avLst/>
          </a:prstGeom>
          <a:noFill/>
        </p:spPr>
        <p:txBody>
          <a:bodyPr wrap="square" lIns="0" rIns="0" tIns="0" bIns="0" anchor="ctr">
            <a:noAutofit/>
          </a:bodyPr>
          <a:lstStyle/>
          <a:p>
            <a:pPr algn="l"/>
            <a:r>
              <a:rPr sz="850" b="0">
                <a:solidFill>
                  <a:srgbClr val="5A6A6D"/>
                </a:solidFill>
                <a:latin typeface="Calibri"/>
              </a:rPr>
              <a:t>Cada recuadro es un paso del test, en el orden en que aparece (de izquierda a derecha, fila por fila)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