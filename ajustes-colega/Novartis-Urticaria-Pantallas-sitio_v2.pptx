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 de prueba para la captura: http://localhost:5173/?vista=dia&amp;hora=9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 de prueba para la captura: http://localhost:5173/?vista=dia&amp;hora=15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 de prueba para la captura: http://localhost:5173/?vista=calor&amp;hora=15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 de prueba para la captura: http://localhost:5173/?vista=frio&amp;hora=9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 de prueba para la captura: http://localhost:5173/?vista=madrugada&amp;hora=3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 de prueba para la captura: http://localhost:5173/?vista=noche-calor&amp;hora=22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8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6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9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9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97280" y="1645920"/>
            <a:ext cx="10058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NOVARTIS · MÁS QUE URTICARIA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Catálogo Visual de Pantallas y Flujos</a:t>
            </a:r>
            <a:br>
              <a:rPr b="0" i="0" lang="en-US" sz="18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Home, información, recursos, quiz y directorio médico.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762000" y="457200"/>
            <a:ext cx="1066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ESTRUCTURA DEL SITIO WEB</a:t>
            </a:r>
            <a:endParaRPr b="1" sz="1100">
              <a:solidFill>
                <a:srgbClr val="E05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Índice de secciones y capturas</a:t>
            </a:r>
            <a:endParaRPr b="1" sz="2600">
              <a:solidFill>
                <a:srgbClr val="2238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4"/>
          <p:cNvGrpSpPr/>
          <p:nvPr/>
        </p:nvGrpSpPr>
        <p:grpSpPr>
          <a:xfrm>
            <a:off x="762000" y="1524000"/>
            <a:ext cx="1981200" cy="4667400"/>
            <a:chOff x="0" y="0"/>
            <a:chExt cx="1981200" cy="4667400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E058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0584D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8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HOME Y VARIANTES CONTEXTUALES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Inicio, contenido inferior y variantes según clima y hora.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2933700" y="1524000"/>
            <a:ext cx="1981200" cy="4667400"/>
            <a:chOff x="0" y="0"/>
            <a:chExt cx="1981200" cy="4667400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0081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81A8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800">
                <a:solidFill>
                  <a:srgbClr val="0081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LANDINGS INFORMATIVAS Y CLÍNICAS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Síntomas, tratamientos, institución, preguntas frecuentes y 404.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5105400" y="1524000"/>
            <a:ext cx="1981200" cy="4667400"/>
            <a:chOff x="0" y="0"/>
            <a:chExt cx="1981200" cy="4667400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5A6A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8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RECURSOS Y HERRAMIENTAS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Diario, biblioteca visual y formulario de testimonios.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7277100" y="1524000"/>
            <a:ext cx="1981200" cy="4667400"/>
            <a:chOff x="0" y="0"/>
            <a:chExt cx="1981200" cy="466740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E058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0584D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28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QUIZ ORIENTATIVO Y URGENCIAS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Preguntas, urgencia, resultados, resumen y directorio.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9448800" y="1524000"/>
            <a:ext cx="1981200" cy="4667400"/>
            <a:chOff x="0" y="0"/>
            <a:chExt cx="1981200" cy="4667400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0081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81A8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1" sz="2800">
                <a:solidFill>
                  <a:srgbClr val="0081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DIRECTORIO MÉDICO Y BLOG EDITORIAL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Directorio médico y los cuatro artículos del blog.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01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Y VARIANTES CONTEXTUALES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Inicio, contenido inferior y variantes según clima y hora.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02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SINTOMAS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Síntomas, tratamientos, institución, preguntas frecuentes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1 de 7</a:t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1 de 7"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2 de 7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2 de 7"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3 de 7</a:t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3 de 7" id="223" name="Google Shape;2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4 de 7</a:t>
            </a:r>
            <a:endParaRPr/>
          </a:p>
        </p:txBody>
      </p:sp>
      <p:sp>
        <p:nvSpPr>
          <p:cNvPr id="229" name="Google Shape;229;p3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4 de 7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5 de 7</a:t>
            </a:r>
            <a:endParaRPr/>
          </a:p>
        </p:txBody>
      </p:sp>
      <p:sp>
        <p:nvSpPr>
          <p:cNvPr id="236" name="Google Shape;236;p3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5 de 7" id="237" name="Google Shape;2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6 de 7</a:t>
            </a:r>
            <a:endParaRPr/>
          </a:p>
        </p:txBody>
      </p:sp>
      <p:sp>
        <p:nvSpPr>
          <p:cNvPr id="243" name="Google Shape;243;p3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6 de 7" id="244" name="Google Shape;2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7 de 7</a:t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7 de 7" id="251" name="Google Shape;2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 · VISTA 20 DE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1 de 7</a:t>
            </a:r>
            <a:endParaRPr/>
          </a:p>
        </p:txBody>
      </p:sp>
      <p:sp>
        <p:nvSpPr>
          <p:cNvPr id="257" name="Google Shape;257;p3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1 de 7" id="258" name="Google Shape;2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2 de 7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2 de 7" id="265" name="Google Shape;2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3 de 7</a:t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3 de 7" id="272" name="Google Shape;2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4 de 7</a:t>
            </a:r>
            <a:endParaRPr/>
          </a:p>
        </p:txBody>
      </p:sp>
      <p:sp>
        <p:nvSpPr>
          <p:cNvPr id="278" name="Google Shape;278;p3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4 de 7" id="279" name="Google Shape;2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/>
        </p:nvSpPr>
        <p:spPr>
          <a:xfrm>
            <a:off x="492715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5 de 7</a:t>
            </a:r>
            <a:endParaRPr/>
          </a:p>
        </p:txBody>
      </p:sp>
      <p:sp>
        <p:nvSpPr>
          <p:cNvPr id="285" name="Google Shape;285;p3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5 de 7" id="286" name="Google Shape;2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6 de 7</a:t>
            </a:r>
            <a:endParaRPr/>
          </a:p>
        </p:txBody>
      </p:sp>
      <p:sp>
        <p:nvSpPr>
          <p:cNvPr id="292" name="Google Shape;292;p4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6 de 7" id="293" name="Google Shape;2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(/tratamiento/): 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Captura 7 de 7</a:t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7 de 7"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 (/sobre-nosotros/): Captura 1 de 5</a:t>
            </a:r>
            <a:endParaRPr/>
          </a:p>
        </p:txBody>
      </p:sp>
      <p:sp>
        <p:nvSpPr>
          <p:cNvPr id="306" name="Google Shape;306;p4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1 de 5" id="307" name="Google Shape;30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(/sobre-nosotros/)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: Captura 2 de 5</a:t>
            </a:r>
            <a:endParaRPr/>
          </a:p>
        </p:txBody>
      </p:sp>
      <p:sp>
        <p:nvSpPr>
          <p:cNvPr id="313" name="Google Shape;313;p4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2 de 5" id="314" name="Google Shape;31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</a:t>
            </a: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(/sobre-nosotros/)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: Captura 3 de 5</a:t>
            </a:r>
            <a:endParaRPr/>
          </a:p>
        </p:txBody>
      </p:sp>
      <p:sp>
        <p:nvSpPr>
          <p:cNvPr id="320" name="Google Shape;320;p4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3 de 5" id="321" name="Google Shape;3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(/sobre-nosotros/)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: Captura 4 de 5</a:t>
            </a:r>
            <a:endParaRPr/>
          </a:p>
        </p:txBody>
      </p:sp>
      <p:sp>
        <p:nvSpPr>
          <p:cNvPr id="327" name="Google Shape;327;p4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4 de 5" id="328" name="Google Shape;32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6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6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03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RECURSOS Y HERRAMIENTAS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Diario, biblioteca visual y formulario de testimonios.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Hub de Recursos y Herramientas (/recursos-herramientas/): Captura 1 de 5</a:t>
            </a: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ub de Recursos y Herramientas (/recursos-herramientas/): Captura 1 de 5" id="342" name="Google Shape;34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Hub de Recursos y Herramientas (/recursos-herramientas/): Captura 2 de 5</a:t>
            </a:r>
            <a:endParaRPr/>
          </a:p>
        </p:txBody>
      </p:sp>
      <p:sp>
        <p:nvSpPr>
          <p:cNvPr id="348" name="Google Shape;348;p4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ub de Recursos y Herramientas (/recursos-herramientas/): Captura 2 de 5" id="349" name="Google Shape;3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Hub de Recursos y Herramientas (/recursos-herramientas/): Captura 3 de 5</a:t>
            </a:r>
            <a:endParaRPr/>
          </a:p>
        </p:txBody>
      </p:sp>
      <p:sp>
        <p:nvSpPr>
          <p:cNvPr id="355" name="Google Shape;355;p4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ub de Recursos y Herramientas (/recursos-herramientas/): Captura 3 de 5" id="356" name="Google Shape;35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Biblioteca visual: Imagen ampliada</a:t>
            </a:r>
            <a:endParaRPr/>
          </a:p>
        </p:txBody>
      </p:sp>
      <p:sp>
        <p:nvSpPr>
          <p:cNvPr id="362" name="Google Shape;362;p5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iblioteca visual: Imagen ampliada" id="363" name="Google Shape;3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1 de 6</a:t>
            </a:r>
            <a:endParaRPr/>
          </a:p>
        </p:txBody>
      </p:sp>
      <p:sp>
        <p:nvSpPr>
          <p:cNvPr id="369" name="Google Shape;369;p5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1 de 6" id="370" name="Google Shape;37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2 de 6</a:t>
            </a:r>
            <a:endParaRPr/>
          </a:p>
        </p:txBody>
      </p:sp>
      <p:sp>
        <p:nvSpPr>
          <p:cNvPr id="376" name="Google Shape;376;p5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2 de 6" id="377" name="Google Shape;37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3 de 6</a:t>
            </a:r>
            <a:endParaRPr/>
          </a:p>
        </p:txBody>
      </p:sp>
      <p:sp>
        <p:nvSpPr>
          <p:cNvPr id="383" name="Google Shape;383;p5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3 de 6" id="384" name="Google Shape;3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4 de 6</a:t>
            </a:r>
            <a:endParaRPr/>
          </a:p>
        </p:txBody>
      </p:sp>
      <p:sp>
        <p:nvSpPr>
          <p:cNvPr id="390" name="Google Shape;390;p5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4 de 6" id="391" name="Google Shape;39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5 de 6</a:t>
            </a:r>
            <a:endParaRPr/>
          </a:p>
        </p:txBody>
      </p:sp>
      <p:sp>
        <p:nvSpPr>
          <p:cNvPr id="397" name="Google Shape;397;p5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5 de 6" id="398" name="Google Shape;39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Diario: Selector de fecha</a:t>
            </a:r>
            <a:endParaRPr/>
          </a:p>
        </p:txBody>
      </p:sp>
      <p:sp>
        <p:nvSpPr>
          <p:cNvPr id="404" name="Google Shape;404;p5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: Selector de fecha" id="405" name="Google Shape;40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</a:t>
            </a:r>
            <a: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Diario: Registro con datos de ejemplo y totales</a:t>
            </a:r>
            <a:endParaRPr/>
          </a:p>
        </p:txBody>
      </p:sp>
      <p:sp>
        <p:nvSpPr>
          <p:cNvPr id="411" name="Google Shape;411;p5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: Registro con datos de ejemplo y totales" id="412" name="Google Shape;4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1 de 6</a:t>
            </a:r>
            <a:endParaRPr/>
          </a:p>
        </p:txBody>
      </p:sp>
      <p:sp>
        <p:nvSpPr>
          <p:cNvPr id="418" name="Google Shape;418;p5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1 de 6" id="419" name="Google Shape;41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2 de 6</a:t>
            </a:r>
            <a:endParaRPr/>
          </a:p>
        </p:txBody>
      </p:sp>
      <p:sp>
        <p:nvSpPr>
          <p:cNvPr id="425" name="Google Shape;425;p5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2 de 6" id="426" name="Google Shape;4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b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3 de 6</a:t>
            </a:r>
            <a:endParaRPr/>
          </a:p>
        </p:txBody>
      </p:sp>
      <p:sp>
        <p:nvSpPr>
          <p:cNvPr id="432" name="Google Shape;432;p6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3 de 6" id="433" name="Google Shape;43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4 de 6</a:t>
            </a:r>
            <a:endParaRPr/>
          </a:p>
        </p:txBody>
      </p:sp>
      <p:sp>
        <p:nvSpPr>
          <p:cNvPr id="439" name="Google Shape;439;p6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4 de 6" id="440" name="Google Shape;44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5 de 6</a:t>
            </a:r>
            <a:endParaRPr/>
          </a:p>
        </p:txBody>
      </p:sp>
      <p:sp>
        <p:nvSpPr>
          <p:cNvPr id="446" name="Google Shape;446;p6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5 de 6" id="447" name="Google Shape;44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Formulario para compartir de forma anónima</a:t>
            </a:r>
            <a:endParaRPr/>
          </a:p>
        </p:txBody>
      </p:sp>
      <p:sp>
        <p:nvSpPr>
          <p:cNvPr id="453" name="Google Shape;453;p6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Formulario para compartir de forma anónima" id="454" name="Google Shape;45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b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Formulario c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on nombre opcional</a:t>
            </a:r>
            <a:endParaRPr/>
          </a:p>
        </p:txBody>
      </p:sp>
      <p:sp>
        <p:nvSpPr>
          <p:cNvPr id="460" name="Google Shape;460;p6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Formulario con nombre opcional" id="461" name="Google Shape;46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Consentimiento y envío de historia de ejemplo</a:t>
            </a:r>
            <a:endParaRPr/>
          </a:p>
        </p:txBody>
      </p:sp>
      <p:sp>
        <p:nvSpPr>
          <p:cNvPr id="467" name="Google Shape;467;p6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Consentimiento y envío de historia de ejemplo" id="468" name="Google Shape;46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Confirmación del registro en el prototipo</a:t>
            </a:r>
            <a:endParaRPr/>
          </a:p>
        </p:txBody>
      </p:sp>
      <p:sp>
        <p:nvSpPr>
          <p:cNvPr id="474" name="Google Shape;474;p6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Confirmación del registro en el prototipo" id="475" name="Google Shape;4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7"/>
          <p:cNvSpPr txBox="1"/>
          <p:nvPr/>
        </p:nvSpPr>
        <p:spPr>
          <a:xfrm>
            <a:off x="1371600" y="2011680"/>
            <a:ext cx="96012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04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QUIZ ORIENTATIVO </a:t>
            </a:r>
            <a:b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Preguntas, urgencia, resultados, resumen y directorio.</a:t>
            </a:r>
            <a:b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 b="1" sz="1100">
              <a:solidFill>
                <a:srgbClr val="E05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Q0: Nombre opcional</a:t>
            </a:r>
            <a:endParaRPr/>
          </a:p>
        </p:txBody>
      </p:sp>
      <p:sp>
        <p:nvSpPr>
          <p:cNvPr id="488" name="Google Shape;488;p6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0: Nombre opcional" id="489" name="Google Shape;48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Q1: Síntomas presentados (selección múltiple)</a:t>
            </a:r>
            <a:endParaRPr/>
          </a:p>
        </p:txBody>
      </p:sp>
      <p:sp>
        <p:nvSpPr>
          <p:cNvPr id="495" name="Google Shape;495;p6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: Síntomas presentados (selección múltiple)" id="496" name="Google Shape;49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Q1b: Descarte de urgencia (solo si hay hinchazón)</a:t>
            </a:r>
            <a:endParaRPr/>
          </a:p>
        </p:txBody>
      </p:sp>
      <p:sp>
        <p:nvSpPr>
          <p:cNvPr id="502" name="Google Shape;502;p7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b: Descarte de urgencia (solo si hay hinchazón)" id="503" name="Google Shape;50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Urgencia: Interrupción del cuestionario y llamada al 911</a:t>
            </a:r>
            <a:endParaRPr/>
          </a:p>
        </p:txBody>
      </p:sp>
      <p:sp>
        <p:nvSpPr>
          <p:cNvPr id="509" name="Google Shape;509;p7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rgencia: Interrupción del cuestionario y llamada al 911" id="510" name="Google Shape;51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Q2: Tiempo con síntomas</a:t>
            </a:r>
            <a:endParaRPr/>
          </a:p>
        </p:txBody>
      </p:sp>
      <p:sp>
        <p:nvSpPr>
          <p:cNvPr id="516" name="Google Shape;516;p7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2: Tiempo con síntomas" id="517" name="Google Shape;5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Q3: Cantidad de ronchas (si Q1 incluye ronchas)</a:t>
            </a:r>
            <a:endParaRPr/>
          </a:p>
        </p:txBody>
      </p:sp>
      <p:sp>
        <p:nvSpPr>
          <p:cNvPr id="523" name="Google Shape;523;p7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3: Cantidad de ronchas (si Q1 incluye ronchas)" id="524" name="Google Shape;52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Q4: Intensidad de comezón (si Q1 incluye comezón)</a:t>
            </a:r>
            <a:endParaRPr/>
          </a:p>
        </p:txBody>
      </p:sp>
      <p:sp>
        <p:nvSpPr>
          <p:cNvPr id="530" name="Google Shape;530;p7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4: Intensidad de comezón (si Q1 incluye comezón)" id="531" name="Google Shape;53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Q5: Severidad de hinchazón (si Q1 incluye hinchazón)</a:t>
            </a:r>
            <a:endParaRPr/>
          </a:p>
        </p:txBody>
      </p:sp>
      <p:sp>
        <p:nvSpPr>
          <p:cNvPr id="537" name="Google Shape;537;p7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5: Severidad de hinchazón (si Q1 incluye hinchazón)" id="538" name="Google Shape;53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Q6: Áreas de vida afectadas (selección múltiple)</a:t>
            </a:r>
            <a:endParaRPr/>
          </a:p>
        </p:txBody>
      </p:sp>
      <p:sp>
        <p:nvSpPr>
          <p:cNvPr id="544" name="Google Shape;544;p7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6: Áreas de vida afectadas (selección múltiple)" id="545" name="Google Shape;54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Q7: Actividades diarias (si se seleccionó en Q6)</a:t>
            </a:r>
            <a:endParaRPr/>
          </a:p>
        </p:txBody>
      </p:sp>
      <p:sp>
        <p:nvSpPr>
          <p:cNvPr id="551" name="Google Shape;551;p7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7: Actividades diarias (si se seleccionó en Q6)" id="552" name="Google Shape;55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Q8: Relaciones familiares y sociales (si se seleccionó en Q6)</a:t>
            </a:r>
            <a:endParaRPr/>
          </a:p>
        </p:txBody>
      </p:sp>
      <p:sp>
        <p:nvSpPr>
          <p:cNvPr id="558" name="Google Shape;558;p7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8: Relaciones familiares y sociales (si se seleccionó en Q6)" id="559" name="Google Shape;55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Q8b: Vida sexual (si se seleccionó en Q6)</a:t>
            </a:r>
            <a:endParaRPr/>
          </a:p>
        </p:txBody>
      </p:sp>
      <p:sp>
        <p:nvSpPr>
          <p:cNvPr id="565" name="Google Shape;565;p7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8b: Vida sexual (si se seleccionó en Q6)" id="566" name="Google Shape;56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0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· VISTA 74 DE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Q9: Vestimenta (si se seleccionó en Q6)</a:t>
            </a:r>
            <a:endParaRPr/>
          </a:p>
        </p:txBody>
      </p:sp>
      <p:sp>
        <p:nvSpPr>
          <p:cNvPr id="572" name="Google Shape;572;p8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9: Vestimenta (si se seleccionó en Q6)" id="573" name="Google Shape;57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Q10: Trabajo o estudios (si se seleccionó en Q6)</a:t>
            </a:r>
            <a:endParaRPr/>
          </a:p>
        </p:txBody>
      </p:sp>
      <p:sp>
        <p:nvSpPr>
          <p:cNvPr id="579" name="Google Shape;579;p8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0: Trabajo o estudios (si se seleccionó en Q6)" id="580" name="Google Shape;58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Q11: Sueño (si se seleccionó en Q6)</a:t>
            </a:r>
            <a:endParaRPr/>
          </a:p>
        </p:txBody>
      </p:sp>
      <p:sp>
        <p:nvSpPr>
          <p:cNvPr id="586" name="Google Shape;586;p8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1: Sueño (si se seleccionó en Q6)" id="587" name="Google Shape;58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Q12: Posibles desencadenantes (selección múltiple)</a:t>
            </a:r>
            <a:endParaRPr/>
          </a:p>
        </p:txBody>
      </p:sp>
      <p:sp>
        <p:nvSpPr>
          <p:cNvPr id="593" name="Google Shape;593;p8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2: Posibles desencadenantes (selección múltiple)" id="594" name="Google Shape;59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Q13: Momento de mayor intensidad</a:t>
            </a:r>
            <a:endParaRPr/>
          </a:p>
        </p:txBody>
      </p:sp>
      <p:sp>
        <p:nvSpPr>
          <p:cNvPr id="600" name="Google Shape;600;p8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3: Momento de mayor intensidad" id="601" name="Google Shape;60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Q14: Consulta médica previa</a:t>
            </a:r>
            <a:endParaRPr/>
          </a:p>
        </p:txBody>
      </p:sp>
      <p:sp>
        <p:nvSpPr>
          <p:cNvPr id="607" name="Google Shape;607;p8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4: Consulta médica previa" id="608" name="Google Shape;60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Q15: Frecuencia de consulta (solo si Q14 = Sí)</a:t>
            </a:r>
            <a:endParaRPr/>
          </a:p>
        </p:txBody>
      </p:sp>
      <p:sp>
        <p:nvSpPr>
          <p:cNvPr id="614" name="Google Shape;614;p8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5: Frecuencia de consulta (solo si Q14 = Sí)" id="615" name="Google Shape;61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</a:t>
            </a:r>
            <a: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Q16: Especialistas consultados (solo si Q14 = Sí)</a:t>
            </a:r>
            <a:endParaRPr/>
          </a:p>
        </p:txBody>
      </p:sp>
      <p:sp>
        <p:nvSpPr>
          <p:cNvPr id="621" name="Google Shape;621;p8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6: Especialistas consultados (solo si Q14 = Sí)" id="622" name="Google Shape;62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Q17: Tratamiento previo</a:t>
            </a:r>
            <a:endParaRPr/>
          </a:p>
        </p:txBody>
      </p:sp>
      <p:sp>
        <p:nvSpPr>
          <p:cNvPr id="628" name="Google Shape;628;p8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7: Tratamiento previo" id="629" name="Google Shape;62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Q18: Tipos de tratamiento (solo si Q17 = Sí)</a:t>
            </a:r>
            <a:endParaRPr/>
          </a:p>
        </p:txBody>
      </p:sp>
      <p:sp>
        <p:nvSpPr>
          <p:cNvPr id="635" name="Google Shape;635;p8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8: Tipos de tratamiento (solo si Q17 = Sí)" id="636" name="Google Shape;63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Q19: Efectividad del tratamiento (solo si Q17 = Sí)</a:t>
            </a:r>
            <a:endParaRPr/>
          </a:p>
        </p:txBody>
      </p:sp>
      <p:sp>
        <p:nvSpPr>
          <p:cNvPr id="642" name="Google Shape;642;p9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9: Efectividad del tratamiento (solo si Q17 = Sí)" id="643" name="Google Shape;64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1 de 4</a:t>
            </a:r>
            <a:endParaRPr/>
          </a:p>
        </p:txBody>
      </p:sp>
      <p:sp>
        <p:nvSpPr>
          <p:cNvPr id="649" name="Google Shape;649;p9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1 de 4" id="650" name="Google Shape;65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2 de 4</a:t>
            </a:r>
            <a:endParaRPr/>
          </a:p>
        </p:txBody>
      </p:sp>
      <p:sp>
        <p:nvSpPr>
          <p:cNvPr id="656" name="Google Shape;656;p9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2 de 4" id="657" name="Google Shape;6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3 de 4</a:t>
            </a:r>
            <a:endParaRPr/>
          </a:p>
        </p:txBody>
      </p:sp>
      <p:sp>
        <p:nvSpPr>
          <p:cNvPr id="663" name="Google Shape;663;p9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3 de 4" id="664" name="Google Shape;6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4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· VISTA 88 DE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4 de 4</a:t>
            </a:r>
            <a:endParaRPr/>
          </a:p>
        </p:txBody>
      </p:sp>
      <p:sp>
        <p:nvSpPr>
          <p:cNvPr id="670" name="Google Shape;670;p9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4 de 4" id="671" name="Google Shape;67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Confirmación de copia del resumen</a:t>
            </a:r>
            <a:endParaRPr/>
          </a:p>
        </p:txBody>
      </p:sp>
      <p:sp>
        <p:nvSpPr>
          <p:cNvPr id="677" name="Google Shape;677;p9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Confirmación de copia del resumen" id="678" name="Google Shape;67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Confirmación de descarga del resumen</a:t>
            </a:r>
            <a:endParaRPr/>
          </a:p>
        </p:txBody>
      </p:sp>
      <p:sp>
        <p:nvSpPr>
          <p:cNvPr id="684" name="Google Shape;684;p9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Confirmación de descarga del resumen" id="685" name="Google Shape;68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Quiz: directorio y botón Volver: Captura 1 de 2</a:t>
            </a:r>
            <a:endParaRPr/>
          </a:p>
        </p:txBody>
      </p:sp>
      <p:sp>
        <p:nvSpPr>
          <p:cNvPr id="691" name="Google Shape;691;p9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iz: directorio y botón Volver: Captura 1 de 2" id="692" name="Google Shape;69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Quiz: directorio y botón Volver: Captura 2 de 2</a:t>
            </a:r>
            <a:endParaRPr/>
          </a:p>
        </p:txBody>
      </p:sp>
      <p:sp>
        <p:nvSpPr>
          <p:cNvPr id="698" name="Google Shape;698;p9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iz: directorio y botón Volver: Captura 2 de 2" id="699" name="Google Shape;69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Ruta sin síntomas (Q1 = Ninguno): Captura 1 de 2</a:t>
            </a:r>
            <a:endParaRPr/>
          </a:p>
        </p:txBody>
      </p:sp>
      <p:sp>
        <p:nvSpPr>
          <p:cNvPr id="705" name="Google Shape;705;p9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Ruta sin síntomas (Q1 = Ninguno): Captura 1 de 2" id="706" name="Google Shape;70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Ruta sin síntomas (Q1 = Ninguno): Captura 2 de 2</a:t>
            </a:r>
            <a:endParaRPr/>
          </a:p>
        </p:txBody>
      </p:sp>
      <p:sp>
        <p:nvSpPr>
          <p:cNvPr id="712" name="Google Shape;712;p10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Ruta sin síntomas (Q1 = Ninguno): Captura 2 de 2" id="713" name="Google Shape;71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sin consulta ni tratamiento previo: Captura 1 de 3</a:t>
            </a:r>
            <a:endParaRPr/>
          </a:p>
        </p:txBody>
      </p:sp>
      <p:sp>
        <p:nvSpPr>
          <p:cNvPr id="719" name="Google Shape;719;p10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sin consulta ni tratamiento previo: Captura 1 de 3" id="720" name="Google Shape;720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sin consulta ni tratamiento previo: Captura 2 de 3</a:t>
            </a:r>
            <a:endParaRPr/>
          </a:p>
        </p:txBody>
      </p:sp>
      <p:sp>
        <p:nvSpPr>
          <p:cNvPr id="726" name="Google Shape;726;p10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sin consulta ni tratamiento previo: Captura 2 de 3" id="727" name="Google Shape;72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sin consulta ni tratamiento previo: Captura 3 de 3</a:t>
            </a:r>
            <a:endParaRPr/>
          </a:p>
        </p:txBody>
      </p:sp>
      <p:sp>
        <p:nvSpPr>
          <p:cNvPr id="733" name="Google Shape;733;p10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sin consulta ni tratamiento previo: Captura 3 de 3" id="734" name="Google Shape;73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muy efectivo: Captura 1 de 3</a:t>
            </a:r>
            <a:endParaRPr/>
          </a:p>
        </p:txBody>
      </p:sp>
      <p:sp>
        <p:nvSpPr>
          <p:cNvPr id="740" name="Google Shape;740;p10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muy efectivo: Captura 1 de 3" id="741" name="Google Shape;74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0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muy efectivo: Captura 2 de 3</a:t>
            </a:r>
            <a:endParaRPr/>
          </a:p>
        </p:txBody>
      </p:sp>
      <p:sp>
        <p:nvSpPr>
          <p:cNvPr id="747" name="Google Shape;747;p10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muy efectivo: Captura 2 de 3" id="748" name="Google Shape;74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muy efectivo: Captura 3 de 3</a:t>
            </a:r>
            <a:endParaRPr/>
          </a:p>
        </p:txBody>
      </p:sp>
      <p:sp>
        <p:nvSpPr>
          <p:cNvPr id="754" name="Google Shape;754;p10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muy efectivo: Captura 3 de 3" id="755" name="Google Shape;75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0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07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05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DIRECTORIO MÉDICO Y BLOG EDITORIAL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Directorio médico y los cuatro artículos del blog.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Directorio médico (/directorio-medico/): Captura 1 de 5</a:t>
            </a:r>
            <a:endParaRPr/>
          </a:p>
        </p:txBody>
      </p:sp>
      <p:sp>
        <p:nvSpPr>
          <p:cNvPr id="768" name="Google Shape;768;p10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orio médico (/directorio-medico/): Captura 1 de 5" id="769" name="Google Shape;769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Directorio médico (/directorio-medico/): Captura 2 de 5</a:t>
            </a:r>
            <a:endParaRPr/>
          </a:p>
        </p:txBody>
      </p:sp>
      <p:sp>
        <p:nvSpPr>
          <p:cNvPr id="775" name="Google Shape;775;p10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orio médico (/directorio-medico/): Captura 2 de 5" id="776" name="Google Shape;77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Directorio: Resultados filtrados por dermatología</a:t>
            </a:r>
            <a:endParaRPr/>
          </a:p>
        </p:txBody>
      </p:sp>
      <p:sp>
        <p:nvSpPr>
          <p:cNvPr id="782" name="Google Shape;782;p11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orio: Resultados filtrados por dermatología" id="783" name="Google Shape;78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1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 Editorial: Catálogo de Temas (/blog/): Captura 1 de 3</a:t>
            </a:r>
            <a:endParaRPr/>
          </a:p>
        </p:txBody>
      </p:sp>
      <p:sp>
        <p:nvSpPr>
          <p:cNvPr id="789" name="Google Shape;789;p11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 Editorial: Catálogo de Temas (/blog/): Captura 1 de 3" id="790" name="Google Shape;790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1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 Editorial: Catálogo de Temas (/blog/): Captura 2 de 3</a:t>
            </a:r>
            <a:endParaRPr/>
          </a:p>
        </p:txBody>
      </p:sp>
      <p:sp>
        <p:nvSpPr>
          <p:cNvPr id="796" name="Google Shape;796;p11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 Editorial: Catálogo de Temas (/blog/): Captura 2 de 3" id="797" name="Google Shape;79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1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 Editorial: Catálogo de Temas (/blog/): Captura 3 de 3</a:t>
            </a:r>
            <a:endParaRPr/>
          </a:p>
        </p:txBody>
      </p:sp>
      <p:sp>
        <p:nvSpPr>
          <p:cNvPr id="803" name="Google Shape;803;p11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 Editorial: Catálogo de Temas (/blog/): Captura 3 de 3" id="804" name="Google Shape;80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1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Blog: ¿Qué significa UCE?: Captura 1 de </a:t>
            </a:r>
            <a:r>
              <a:rPr b="1" lang="en-US" sz="17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0" name="Google Shape;810;p11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: ¿Qué significa UCE?: Captura 1 de 4" id="811" name="Google Shape;81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1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Blog: Mitos sobre dietas restrictivas: Captura </a:t>
            </a:r>
            <a:r>
              <a:rPr b="1" lang="en-US" sz="17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n-US" sz="17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7" name="Google Shape;817;p11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: Mitos sobre dietas restrictivas: Captura 1 de 3" id="818" name="Google Shape;81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Cómo se personaliza el sitio: hora, clima y ubicación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0000"/>
            <a:ext cx="3553866" cy="3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8640" y="1190000"/>
            <a:ext cx="640000" cy="60000"/>
          </a:xfrm>
          <a:prstGeom prst="rect">
            <a:avLst/>
          </a:prstGeom>
          <a:solidFill>
            <a:srgbClr val="E05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640" y="1330000"/>
            <a:ext cx="3353866" cy="30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2383F"/>
                </a:solidFill>
                <a:latin typeface="Calibri"/>
              </a:rPr>
              <a:t>Hora del día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A6D"/>
                </a:solidFill>
                <a:latin typeface="Calibri"/>
              </a:rPr>
              <a:t>Se toma la hora del dispositivo de la persona.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Mañana: 6:00 a 11:59 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Tarde: 12:00 a 21:59 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Noche y madrugada: 22:00 a 5:59 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7506" y="1000000"/>
            <a:ext cx="3553866" cy="3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7506" y="1190000"/>
            <a:ext cx="640000" cy="60000"/>
          </a:xfrm>
          <a:prstGeom prst="rect">
            <a:avLst/>
          </a:prstGeom>
          <a:solidFill>
            <a:srgbClr val="008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7506" y="1330000"/>
            <a:ext cx="3353866" cy="30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2383F"/>
                </a:solidFill>
                <a:latin typeface="Calibri"/>
              </a:rPr>
              <a:t>Clima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A6D"/>
                </a:solidFill>
                <a:latin typeface="Calibri"/>
              </a:rPr>
              <a:t>Se consulta la temperatura actual de la zona.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Calor: 27 °C o más de día, 24 °C o más de noche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Frío: 15 °C o menos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Sin dato de clima: se usa la estación del año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6372" y="1000000"/>
            <a:ext cx="3553866" cy="3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6372" y="1190000"/>
            <a:ext cx="640000" cy="600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6372" y="1330000"/>
            <a:ext cx="3353866" cy="30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2383F"/>
                </a:solidFill>
                <a:latin typeface="Calibri"/>
              </a:rPr>
              <a:t>Ubicación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A6A6D"/>
                </a:solidFill>
                <a:latin typeface="Calibri"/>
              </a:rPr>
              <a:t>La ciudad se estima a partir de la conexión a internet, sin usar el GPS.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Se muestra en el texto de la cabecera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No se guarda en ningún servidor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83F"/>
                </a:solidFill>
                <a:latin typeface="Calibri"/>
              </a:rPr>
              <a:t>•  Si no se detecta, el sitio funciona igual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000"/>
            <a:ext cx="11091600" cy="1250000"/>
          </a:xfrm>
          <a:prstGeom prst="roundRect">
            <a:avLst>
              <a:gd name="adj" fmla="val 8000"/>
            </a:avLst>
          </a:prstGeom>
          <a:solidFill>
            <a:srgbClr val="223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 rIns="25000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0A69F"/>
                </a:solidFill>
                <a:latin typeface="Calibri"/>
              </a:rPr>
              <a:t>Qué cambia y qué no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La hora y el clima cambian solo la imagen, los colores y el texto de la cabecera. No son una causa de la urticaria crónica espontánea.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El contenido del sitio es informativo y no sustituye la consulta con un profesional de la salud.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Escenarios del Inicio: qué cambia en cada combinación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0000"/>
          <a:ext cx="11091600" cy="3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3900000"/>
                <a:gridCol w="4891600"/>
              </a:tblGrid>
              <a:tr h="5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anchor="ctr" marL="140000" marR="140000">
                    <a:solidFill>
                      <a:srgbClr val="223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anchor="ctr" marL="140000" marR="140000">
                    <a:solidFill>
                      <a:srgbClr val="223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cambia en la cabecera</a:t>
                      </a:r>
                    </a:p>
                  </a:txBody>
                  <a:tcPr anchor="ctr" marL="140000" marR="140000">
                    <a:solidFill>
                      <a:srgbClr val="22383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383F"/>
                          </a:solidFill>
                          <a:latin typeface="Calibri"/>
                        </a:rPr>
                        <a:t>Mañana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6:00 a 11:59 h, de 16 a 26 °C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Imagen y colores de día. Texto de mañana.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383F"/>
                          </a:solidFill>
                          <a:latin typeface="Calibri"/>
                        </a:rPr>
                        <a:t>Tarde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12:00 a 21:59 h, de 16 a 26 °C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Imagen y colores de día. Texto de tarde.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383F"/>
                          </a:solidFill>
                          <a:latin typeface="Calibri"/>
                        </a:rPr>
                        <a:t>Calor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De día, con 27 °C o más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Colores cálidos. Texto de mañana o tarde con calor.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383F"/>
                          </a:solidFill>
                          <a:latin typeface="Calibri"/>
                        </a:rPr>
                        <a:t>Frío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De día, con 15 °C o menos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Colores fríos. Texto de mañana o tarde con frío.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383F"/>
                          </a:solidFill>
                          <a:latin typeface="Calibri"/>
                        </a:rPr>
                        <a:t>Madrugada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22:00 a 5:59 h, con menos de 24 °C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Fondo oscuro e imagen nocturna. Texto de noche.</a:t>
                      </a:r>
                    </a:p>
                  </a:txBody>
                  <a:tcPr anchor="ctr" marL="140000" marR="1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383F"/>
                          </a:solidFill>
                          <a:latin typeface="Calibri"/>
                        </a:rPr>
                        <a:t>Noche cálida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22:00 a 5:59 h, con 24 °C o más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A6D"/>
                          </a:solidFill>
                          <a:latin typeface="Calibri"/>
                        </a:rPr>
                        <a:t>Fondo oscuro con tonos cálidos. Texto de noche con calor.</a:t>
                      </a:r>
                    </a:p>
                  </a:txBody>
                  <a:tcPr anchor="ctr" marL="140000" marR="140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500000"/>
            <a:ext cx="110916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6D"/>
                </a:solidFill>
                <a:latin typeface="Calibri"/>
              </a:rPr>
              <a:t>Los textos de cabecera de Síntomas, Tratamientos y Test siguen la misma regla de hora y clima. </a:t>
            </a:r>
            <a:r>
              <a:rPr sz="1200" b="1">
                <a:solidFill>
                  <a:srgbClr val="22383F"/>
                </a:solidFill>
                <a:latin typeface="Calibri"/>
              </a:rPr>
              <a:t>Cada captura lleva la leyenda «Imagen ilustrativa: no representa a una persona real».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0000"/>
            <a:ext cx="110916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Inicio: escenario mañana</a:t>
            </a:r>
          </a:p>
          <a:p>
            <a:pPr algn="l"/>
            <a:r>
              <a:rPr sz="1100" b="1">
                <a:solidFill>
                  <a:srgbClr val="22383F"/>
                </a:solidFill>
                <a:latin typeface="Calibri"/>
              </a:rPr>
              <a:t>Cuándo: </a:t>
            </a:r>
            <a:r>
              <a:rPr sz="1100" b="0">
                <a:solidFill>
                  <a:srgbClr val="5A6A6D"/>
                </a:solidFill>
                <a:latin typeface="Calibri"/>
              </a:rPr>
              <a:t>6:00 a 11:59 h, de 16 a 26 °C   </a:t>
            </a:r>
            <a:r>
              <a:rPr sz="1100" b="1">
                <a:solidFill>
                  <a:srgbClr val="22383F"/>
                </a:solidFill>
                <a:latin typeface="Calibri"/>
              </a:rPr>
              <a:t>Titular: </a:t>
            </a:r>
            <a:r>
              <a:rPr sz="1100" b="0">
                <a:solidFill>
                  <a:srgbClr val="5A6A6D"/>
                </a:solidFill>
                <a:latin typeface="Calibri"/>
              </a:rPr>
              <a:t>«Empieza tu Día Libre de Comezón: Haz de la Urticaria la Parte Más Pequeña de tu Vida»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1000000"/>
            <a:ext cx="10215760" cy="5700000"/>
          </a:xfrm>
          <a:prstGeom prst="rect">
            <a:avLst/>
          </a:prstGeom>
          <a:solidFill>
            <a:srgbClr val="DC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383F"/>
                </a:solidFill>
                <a:latin typeface="Calibri"/>
              </a:rPr>
              <a:t>Captura pendiente</a:t>
            </a:r>
          </a:p>
          <a:p>
            <a:pPr algn="ctr"/>
            <a:r>
              <a:rPr sz="1300" b="0">
                <a:solidFill>
                  <a:srgbClr val="5A6A6D"/>
                </a:solidFill>
                <a:latin typeface="Calibri"/>
              </a:rPr>
              <a:t>Se agrega en la corrida final, con el texto y la leyenda ya aplicados en el sitio.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0000"/>
            <a:ext cx="110916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Inicio: escenario tarde</a:t>
            </a:r>
          </a:p>
          <a:p>
            <a:pPr algn="l"/>
            <a:r>
              <a:rPr sz="1100" b="1">
                <a:solidFill>
                  <a:srgbClr val="22383F"/>
                </a:solidFill>
                <a:latin typeface="Calibri"/>
              </a:rPr>
              <a:t>Cuándo: </a:t>
            </a:r>
            <a:r>
              <a:rPr sz="1100" b="0">
                <a:solidFill>
                  <a:srgbClr val="5A6A6D"/>
                </a:solidFill>
                <a:latin typeface="Calibri"/>
              </a:rPr>
              <a:t>12:00 a 21:59 h, de 16 a 26 °C   </a:t>
            </a:r>
            <a:r>
              <a:rPr sz="1100" b="1">
                <a:solidFill>
                  <a:srgbClr val="22383F"/>
                </a:solidFill>
                <a:latin typeface="Calibri"/>
              </a:rPr>
              <a:t>Titular: </a:t>
            </a:r>
            <a:r>
              <a:rPr sz="1100" b="0">
                <a:solidFill>
                  <a:srgbClr val="5A6A6D"/>
                </a:solidFill>
                <a:latin typeface="Calibri"/>
              </a:rPr>
              <a:t>«Recupera tu Tarde y para la Comezón: Haz de la Urticaria la Parte Más Pequeña de tu Vida»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1000000"/>
            <a:ext cx="10215760" cy="5700000"/>
          </a:xfrm>
          <a:prstGeom prst="rect">
            <a:avLst/>
          </a:prstGeom>
          <a:solidFill>
            <a:srgbClr val="DC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383F"/>
                </a:solidFill>
                <a:latin typeface="Calibri"/>
              </a:rPr>
              <a:t>Captura pendiente</a:t>
            </a:r>
          </a:p>
          <a:p>
            <a:pPr algn="ctr"/>
            <a:r>
              <a:rPr sz="1300" b="0">
                <a:solidFill>
                  <a:srgbClr val="5A6A6D"/>
                </a:solidFill>
                <a:latin typeface="Calibri"/>
              </a:rPr>
              <a:t>Se agrega en la corrida final, con el texto y la leyenda ya aplicados en el sitio.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0000"/>
            <a:ext cx="110916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Inicio: escenario calor</a:t>
            </a:r>
          </a:p>
          <a:p>
            <a:pPr algn="l"/>
            <a:r>
              <a:rPr sz="1100" b="1">
                <a:solidFill>
                  <a:srgbClr val="22383F"/>
                </a:solidFill>
                <a:latin typeface="Calibri"/>
              </a:rPr>
              <a:t>Cuándo: </a:t>
            </a:r>
            <a:r>
              <a:rPr sz="1100" b="0">
                <a:solidFill>
                  <a:srgbClr val="5A6A6D"/>
                </a:solidFill>
                <a:latin typeface="Calibri"/>
              </a:rPr>
              <a:t>De día, con 27 °C o más (ejemplo: tarde)   </a:t>
            </a:r>
            <a:r>
              <a:rPr sz="1100" b="1">
                <a:solidFill>
                  <a:srgbClr val="22383F"/>
                </a:solidFill>
                <a:latin typeface="Calibri"/>
              </a:rPr>
              <a:t>Titular: </a:t>
            </a:r>
            <a:r>
              <a:rPr sz="1100" b="0">
                <a:solidFill>
                  <a:srgbClr val="5A6A6D"/>
                </a:solidFill>
                <a:latin typeface="Calibri"/>
              </a:rPr>
              <a:t>«Que el Calor de la Tarde No Detenga tu Día: Haz de la Urticaria la Parte Más Pequeña de tu Vida»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1000000"/>
            <a:ext cx="10215760" cy="5700000"/>
          </a:xfrm>
          <a:prstGeom prst="rect">
            <a:avLst/>
          </a:prstGeom>
          <a:solidFill>
            <a:srgbClr val="DC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383F"/>
                </a:solidFill>
                <a:latin typeface="Calibri"/>
              </a:rPr>
              <a:t>Captura pendiente</a:t>
            </a:r>
          </a:p>
          <a:p>
            <a:pPr algn="ctr"/>
            <a:r>
              <a:rPr sz="1300" b="0">
                <a:solidFill>
                  <a:srgbClr val="5A6A6D"/>
                </a:solidFill>
                <a:latin typeface="Calibri"/>
              </a:rPr>
              <a:t>Se agrega en la corrida final, con el texto y la leyenda ya aplicados en el sitio.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0000"/>
            <a:ext cx="110916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Inicio: escenario frío</a:t>
            </a:r>
          </a:p>
          <a:p>
            <a:pPr algn="l"/>
            <a:r>
              <a:rPr sz="1100" b="1">
                <a:solidFill>
                  <a:srgbClr val="22383F"/>
                </a:solidFill>
                <a:latin typeface="Calibri"/>
              </a:rPr>
              <a:t>Cuándo: </a:t>
            </a:r>
            <a:r>
              <a:rPr sz="1100" b="0">
                <a:solidFill>
                  <a:srgbClr val="5A6A6D"/>
                </a:solidFill>
                <a:latin typeface="Calibri"/>
              </a:rPr>
              <a:t>De día, con 15 °C o menos (ejemplo: mañana)   </a:t>
            </a:r>
            <a:r>
              <a:rPr sz="1100" b="1">
                <a:solidFill>
                  <a:srgbClr val="22383F"/>
                </a:solidFill>
                <a:latin typeface="Calibri"/>
              </a:rPr>
              <a:t>Titular: </a:t>
            </a:r>
            <a:r>
              <a:rPr sz="1100" b="0">
                <a:solidFill>
                  <a:srgbClr val="5A6A6D"/>
                </a:solidFill>
                <a:latin typeface="Calibri"/>
              </a:rPr>
              <a:t>«¿Mañanas Frías y Piel Sensible? Haz de la Urticaria la Parte Más Pequeña de tu Vida»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1000000"/>
            <a:ext cx="10215760" cy="5700000"/>
          </a:xfrm>
          <a:prstGeom prst="rect">
            <a:avLst/>
          </a:prstGeom>
          <a:solidFill>
            <a:srgbClr val="DC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383F"/>
                </a:solidFill>
                <a:latin typeface="Calibri"/>
              </a:rPr>
              <a:t>Captura pendiente</a:t>
            </a:r>
          </a:p>
          <a:p>
            <a:pPr algn="ctr"/>
            <a:r>
              <a:rPr sz="1300" b="0">
                <a:solidFill>
                  <a:srgbClr val="5A6A6D"/>
                </a:solidFill>
                <a:latin typeface="Calibri"/>
              </a:rPr>
              <a:t>Se agrega en la corrida final, con el texto y la leyenda ya aplicados en el sitio.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0000"/>
            <a:ext cx="110916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Inicio: escenario madrugada</a:t>
            </a:r>
          </a:p>
          <a:p>
            <a:pPr algn="l"/>
            <a:r>
              <a:rPr sz="1100" b="1">
                <a:solidFill>
                  <a:srgbClr val="22383F"/>
                </a:solidFill>
                <a:latin typeface="Calibri"/>
              </a:rPr>
              <a:t>Cuándo: </a:t>
            </a:r>
            <a:r>
              <a:rPr sz="1100" b="0">
                <a:solidFill>
                  <a:srgbClr val="5A6A6D"/>
                </a:solidFill>
                <a:latin typeface="Calibri"/>
              </a:rPr>
              <a:t>22:00 a 5:59 h, con menos de 24 °C   </a:t>
            </a:r>
            <a:r>
              <a:rPr sz="1100" b="1">
                <a:solidFill>
                  <a:srgbClr val="22383F"/>
                </a:solidFill>
                <a:latin typeface="Calibri"/>
              </a:rPr>
              <a:t>Titular: </a:t>
            </a:r>
            <a:r>
              <a:rPr sz="1100" b="0">
                <a:solidFill>
                  <a:srgbClr val="5A6A6D"/>
                </a:solidFill>
                <a:latin typeface="Calibri"/>
              </a:rPr>
              <a:t>«¿La Comezón No Te Deja Dormir? Haz de la Urticaria la Parte Más Pequeña de tu Vida»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1000000"/>
            <a:ext cx="10215760" cy="5700000"/>
          </a:xfrm>
          <a:prstGeom prst="rect">
            <a:avLst/>
          </a:prstGeom>
          <a:solidFill>
            <a:srgbClr val="DC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383F"/>
                </a:solidFill>
                <a:latin typeface="Calibri"/>
              </a:rPr>
              <a:t>Captura pendiente</a:t>
            </a:r>
          </a:p>
          <a:p>
            <a:pPr algn="ctr"/>
            <a:r>
              <a:rPr sz="1300" b="0">
                <a:solidFill>
                  <a:srgbClr val="5A6A6D"/>
                </a:solidFill>
                <a:latin typeface="Calibri"/>
              </a:rPr>
              <a:t>Se agrega en la corrida final, con el texto y la leyenda ya aplicados en el sitio.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0000"/>
            <a:ext cx="110916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584D"/>
                </a:solidFill>
                <a:latin typeface="Calibri"/>
              </a:rPr>
              <a:t>SECCIÓN: HOME</a:t>
            </a:r>
          </a:p>
          <a:p>
            <a:pPr algn="l"/>
            <a:r>
              <a:rPr sz="1700" b="1">
                <a:solidFill>
                  <a:srgbClr val="22383F"/>
                </a:solidFill>
                <a:latin typeface="Calibri"/>
              </a:rPr>
              <a:t>Inicio: escenario noche cálida</a:t>
            </a:r>
          </a:p>
          <a:p>
            <a:pPr algn="l"/>
            <a:r>
              <a:rPr sz="1100" b="1">
                <a:solidFill>
                  <a:srgbClr val="22383F"/>
                </a:solidFill>
                <a:latin typeface="Calibri"/>
              </a:rPr>
              <a:t>Cuándo: </a:t>
            </a:r>
            <a:r>
              <a:rPr sz="1100" b="0">
                <a:solidFill>
                  <a:srgbClr val="5A6A6D"/>
                </a:solidFill>
                <a:latin typeface="Calibri"/>
              </a:rPr>
              <a:t>22:00 a 5:59 h, con 24 °C o más   </a:t>
            </a:r>
            <a:r>
              <a:rPr sz="1100" b="1">
                <a:solidFill>
                  <a:srgbClr val="22383F"/>
                </a:solidFill>
                <a:latin typeface="Calibri"/>
              </a:rPr>
              <a:t>Titular: </a:t>
            </a:r>
            <a:r>
              <a:rPr sz="1100" b="0">
                <a:solidFill>
                  <a:srgbClr val="5A6A6D"/>
                </a:solidFill>
                <a:latin typeface="Calibri"/>
              </a:rPr>
              <a:t>«¿El calor de la noche y la comezón no te dejan dormir? Haz de las Ronchas la Parte Más Pequeña de tu Vida»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1000000"/>
            <a:ext cx="10215760" cy="5700000"/>
          </a:xfrm>
          <a:prstGeom prst="rect">
            <a:avLst/>
          </a:prstGeom>
          <a:solidFill>
            <a:srgbClr val="DC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383F"/>
                </a:solidFill>
                <a:latin typeface="Calibri"/>
              </a:rPr>
              <a:t>Captura pendiente</a:t>
            </a:r>
          </a:p>
          <a:p>
            <a:pPr algn="ctr"/>
            <a:r>
              <a:rPr sz="1300" b="0">
                <a:solidFill>
                  <a:srgbClr val="5A6A6D"/>
                </a:solidFill>
                <a:latin typeface="Calibri"/>
              </a:rPr>
              <a:t>Se agrega en la corrida final, con el texto y la leyenda ya aplicados en el sitio.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