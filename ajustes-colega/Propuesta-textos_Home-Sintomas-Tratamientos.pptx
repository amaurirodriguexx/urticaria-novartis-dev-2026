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238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228600"/>
          </a:xfrm>
          <a:prstGeom prst="rect">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10058400" cy="1800000"/>
          </a:xfrm>
          <a:prstGeom prst="rect">
            <a:avLst/>
          </a:prstGeom>
          <a:noFill/>
        </p:spPr>
        <p:txBody>
          <a:bodyPr wrap="square" anchor="t" lIns="0" rIns="0" tIns="0" bIns="0">
            <a:spAutoFit/>
          </a:bodyPr>
          <a:lstStyle/>
          <a:p>
            <a:pPr>
              <a:spcAft>
                <a:spcPts val="1000"/>
              </a:spcAft>
            </a:pPr>
            <a:r>
              <a:rPr sz="1200" b="1">
                <a:solidFill>
                  <a:srgbClr val="E0584D"/>
                </a:solidFill>
                <a:latin typeface="Calibri"/>
              </a:rPr>
              <a:t>NOVARTIS · MÁS QUE URTICARIA</a:t>
            </a:r>
          </a:p>
          <a:p>
            <a:pPr>
              <a:spcAft>
                <a:spcPts val="800"/>
              </a:spcAft>
            </a:pPr>
            <a:r>
              <a:rPr sz="3400" b="1">
                <a:solidFill>
                  <a:srgbClr val="FFFFFF"/>
                </a:solidFill>
                <a:latin typeface="Calibri"/>
              </a:rPr>
              <a:t>Catálogo Visual de Pantallas y Flujos</a:t>
            </a:r>
          </a:p>
          <a:p>
            <a:r>
              <a:rPr sz="1600" b="0">
                <a:solidFill>
                  <a:srgbClr val="CBD5E1"/>
                </a:solidFill>
                <a:latin typeface="Calibri"/>
              </a:rPr>
              <a:t>Home, información, recursos, quiz y directorio médico.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2</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ÍNDICE</a:t>
            </a:r>
          </a:p>
          <a:p>
            <a:r>
              <a:rPr sz="2000" b="1">
                <a:solidFill>
                  <a:srgbClr val="22383F"/>
                </a:solidFill>
                <a:latin typeface="Calibri"/>
              </a:rPr>
              <a:t>Contenido de esta propuesta</a:t>
            </a:r>
          </a:p>
        </p:txBody>
      </p:sp>
      <p:sp>
        <p:nvSpPr>
          <p:cNvPr id="4" name="Rectangle 3"/>
          <p:cNvSpPr/>
          <p:nvPr/>
        </p:nvSpPr>
        <p:spPr>
          <a:xfrm>
            <a:off x="355000" y="1050000"/>
            <a:ext cx="11480000" cy="56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0000" y="1130000"/>
            <a:ext cx="3500000" cy="450000"/>
          </a:xfrm>
          <a:prstGeom prst="rect">
            <a:avLst/>
          </a:prstGeom>
          <a:noFill/>
        </p:spPr>
        <p:txBody>
          <a:bodyPr wrap="square" anchor="t" lIns="0" rIns="0" tIns="0" bIns="0">
            <a:spAutoFit/>
          </a:bodyPr>
          <a:lstStyle/>
          <a:p>
            <a:r>
              <a:rPr sz="1500" b="1">
                <a:solidFill>
                  <a:srgbClr val="22383F"/>
                </a:solidFill>
                <a:latin typeface="Calibri"/>
              </a:rPr>
              <a:t>Mapa del sitio</a:t>
            </a:r>
          </a:p>
        </p:txBody>
      </p:sp>
      <p:sp>
        <p:nvSpPr>
          <p:cNvPr id="6" name="TextBox 5"/>
          <p:cNvSpPr txBox="1"/>
          <p:nvPr/>
        </p:nvSpPr>
        <p:spPr>
          <a:xfrm>
            <a:off x="4100000" y="1140000"/>
            <a:ext cx="6400000" cy="450000"/>
          </a:xfrm>
          <a:prstGeom prst="rect">
            <a:avLst/>
          </a:prstGeom>
          <a:noFill/>
        </p:spPr>
        <p:txBody>
          <a:bodyPr wrap="square" anchor="t" lIns="0" rIns="0" tIns="0" bIns="0">
            <a:spAutoFit/>
          </a:bodyPr>
          <a:lstStyle/>
          <a:p>
            <a:r>
              <a:rPr sz="1150" b="0">
                <a:solidFill>
                  <a:srgbClr val="5A6A6D"/>
                </a:solidFill>
                <a:latin typeface="Calibri"/>
              </a:rPr>
              <a:t>Cómo se organiza el sitio y qué partes cubre esta propuesta</a:t>
            </a:r>
          </a:p>
        </p:txBody>
      </p:sp>
      <p:sp>
        <p:nvSpPr>
          <p:cNvPr id="7" name="TextBox 6"/>
          <p:cNvSpPr txBox="1"/>
          <p:nvPr/>
        </p:nvSpPr>
        <p:spPr>
          <a:xfrm>
            <a:off x="10600000" y="1130000"/>
            <a:ext cx="1100000" cy="450000"/>
          </a:xfrm>
          <a:prstGeom prst="rect">
            <a:avLst/>
          </a:prstGeom>
          <a:noFill/>
        </p:spPr>
        <p:txBody>
          <a:bodyPr wrap="square" anchor="t" lIns="0" rIns="0" tIns="0" bIns="0">
            <a:spAutoFit/>
          </a:bodyPr>
          <a:lstStyle/>
          <a:p>
            <a:pPr algn="r"/>
            <a:r>
              <a:rPr sz="1500" b="1">
                <a:solidFill>
                  <a:srgbClr val="E0584D"/>
                </a:solidFill>
                <a:latin typeface="Calibri"/>
              </a:rPr>
              <a:t>3</a:t>
            </a:r>
          </a:p>
        </p:txBody>
      </p:sp>
      <p:sp>
        <p:nvSpPr>
          <p:cNvPr id="8" name="Rectangle 7"/>
          <p:cNvSpPr/>
          <p:nvPr/>
        </p:nvSpPr>
        <p:spPr>
          <a:xfrm>
            <a:off x="355000" y="1690000"/>
            <a:ext cx="11480000" cy="560000"/>
          </a:xfrm>
          <a:prstGeom prst="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0000" y="1770000"/>
            <a:ext cx="3500000" cy="450000"/>
          </a:xfrm>
          <a:prstGeom prst="rect">
            <a:avLst/>
          </a:prstGeom>
          <a:noFill/>
        </p:spPr>
        <p:txBody>
          <a:bodyPr wrap="square" anchor="t" lIns="0" rIns="0" tIns="0" bIns="0">
            <a:spAutoFit/>
          </a:bodyPr>
          <a:lstStyle/>
          <a:p>
            <a:r>
              <a:rPr sz="1500" b="1">
                <a:solidFill>
                  <a:srgbClr val="22383F"/>
                </a:solidFill>
                <a:latin typeface="Calibri"/>
              </a:rPr>
              <a:t>01  Home</a:t>
            </a:r>
          </a:p>
        </p:txBody>
      </p:sp>
      <p:sp>
        <p:nvSpPr>
          <p:cNvPr id="10" name="TextBox 9"/>
          <p:cNvSpPr txBox="1"/>
          <p:nvPr/>
        </p:nvSpPr>
        <p:spPr>
          <a:xfrm>
            <a:off x="4100000" y="1780000"/>
            <a:ext cx="6400000" cy="450000"/>
          </a:xfrm>
          <a:prstGeom prst="rect">
            <a:avLst/>
          </a:prstGeom>
          <a:noFill/>
        </p:spPr>
        <p:txBody>
          <a:bodyPr wrap="square" anchor="t" lIns="0" rIns="0" tIns="0" bIns="0">
            <a:spAutoFit/>
          </a:bodyPr>
          <a:lstStyle/>
          <a:p>
            <a:r>
              <a:rPr sz="1150" b="0">
                <a:solidFill>
                  <a:srgbClr val="5A6A6D"/>
                </a:solidFill>
                <a:latin typeface="Calibri"/>
              </a:rPr>
              <a:t>La cabecera de la página de inicio cambia según la hora, el clima y la ciudad. Aquí se proponen los textos de cada escenario.</a:t>
            </a:r>
          </a:p>
        </p:txBody>
      </p:sp>
      <p:sp>
        <p:nvSpPr>
          <p:cNvPr id="11" name="TextBox 10"/>
          <p:cNvSpPr txBox="1"/>
          <p:nvPr/>
        </p:nvSpPr>
        <p:spPr>
          <a:xfrm>
            <a:off x="10600000" y="1770000"/>
            <a:ext cx="1100000" cy="450000"/>
          </a:xfrm>
          <a:prstGeom prst="rect">
            <a:avLst/>
          </a:prstGeom>
          <a:noFill/>
        </p:spPr>
        <p:txBody>
          <a:bodyPr wrap="square" anchor="t" lIns="0" rIns="0" tIns="0" bIns="0">
            <a:spAutoFit/>
          </a:bodyPr>
          <a:lstStyle/>
          <a:p>
            <a:pPr algn="r"/>
            <a:r>
              <a:rPr sz="1500" b="1">
                <a:solidFill>
                  <a:srgbClr val="E0584D"/>
                </a:solidFill>
                <a:latin typeface="Calibri"/>
              </a:rPr>
              <a:t>4–12</a:t>
            </a:r>
          </a:p>
        </p:txBody>
      </p:sp>
      <p:sp>
        <p:nvSpPr>
          <p:cNvPr id="12" name="Rectangle 11"/>
          <p:cNvSpPr/>
          <p:nvPr/>
        </p:nvSpPr>
        <p:spPr>
          <a:xfrm>
            <a:off x="355000" y="2330000"/>
            <a:ext cx="11480000" cy="56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0000" y="2410000"/>
            <a:ext cx="3500000" cy="450000"/>
          </a:xfrm>
          <a:prstGeom prst="rect">
            <a:avLst/>
          </a:prstGeom>
          <a:noFill/>
        </p:spPr>
        <p:txBody>
          <a:bodyPr wrap="square" anchor="t" lIns="0" rIns="0" tIns="0" bIns="0">
            <a:spAutoFit/>
          </a:bodyPr>
          <a:lstStyle/>
          <a:p>
            <a:r>
              <a:rPr sz="1500" b="1">
                <a:solidFill>
                  <a:srgbClr val="22383F"/>
                </a:solidFill>
                <a:latin typeface="Calibri"/>
              </a:rPr>
              <a:t>02  Síntomas</a:t>
            </a:r>
          </a:p>
        </p:txBody>
      </p:sp>
      <p:sp>
        <p:nvSpPr>
          <p:cNvPr id="14" name="TextBox 13"/>
          <p:cNvSpPr txBox="1"/>
          <p:nvPr/>
        </p:nvSpPr>
        <p:spPr>
          <a:xfrm>
            <a:off x="4100000" y="2420000"/>
            <a:ext cx="6400000" cy="450000"/>
          </a:xfrm>
          <a:prstGeom prst="rect">
            <a:avLst/>
          </a:prstGeom>
          <a:noFill/>
        </p:spPr>
        <p:txBody>
          <a:bodyPr wrap="square" anchor="t" lIns="0" rIns="0" tIns="0" bIns="0">
            <a:spAutoFit/>
          </a:bodyPr>
          <a:lstStyle/>
          <a:p>
            <a:r>
              <a:rPr sz="1150" b="0">
                <a:solidFill>
                  <a:srgbClr val="5A6A6D"/>
                </a:solidFill>
                <a:latin typeface="Calibri"/>
              </a:rPr>
              <a:t>La página que explica qué es la urticaria crónica espontánea y cómo se reconoce, sin diagnosticar.</a:t>
            </a:r>
          </a:p>
        </p:txBody>
      </p:sp>
      <p:sp>
        <p:nvSpPr>
          <p:cNvPr id="15" name="TextBox 14"/>
          <p:cNvSpPr txBox="1"/>
          <p:nvPr/>
        </p:nvSpPr>
        <p:spPr>
          <a:xfrm>
            <a:off x="10600000" y="2410000"/>
            <a:ext cx="1100000" cy="450000"/>
          </a:xfrm>
          <a:prstGeom prst="rect">
            <a:avLst/>
          </a:prstGeom>
          <a:noFill/>
        </p:spPr>
        <p:txBody>
          <a:bodyPr wrap="square" anchor="t" lIns="0" rIns="0" tIns="0" bIns="0">
            <a:spAutoFit/>
          </a:bodyPr>
          <a:lstStyle/>
          <a:p>
            <a:pPr algn="r"/>
            <a:r>
              <a:rPr sz="1500" b="1">
                <a:solidFill>
                  <a:srgbClr val="E0584D"/>
                </a:solidFill>
                <a:latin typeface="Calibri"/>
              </a:rPr>
              <a:t>13–19</a:t>
            </a:r>
          </a:p>
        </p:txBody>
      </p:sp>
      <p:sp>
        <p:nvSpPr>
          <p:cNvPr id="16" name="Rectangle 15"/>
          <p:cNvSpPr/>
          <p:nvPr/>
        </p:nvSpPr>
        <p:spPr>
          <a:xfrm>
            <a:off x="355000" y="2970000"/>
            <a:ext cx="11480000" cy="560000"/>
          </a:xfrm>
          <a:prstGeom prst="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0000" y="3050000"/>
            <a:ext cx="3500000" cy="450000"/>
          </a:xfrm>
          <a:prstGeom prst="rect">
            <a:avLst/>
          </a:prstGeom>
          <a:noFill/>
        </p:spPr>
        <p:txBody>
          <a:bodyPr wrap="square" anchor="t" lIns="0" rIns="0" tIns="0" bIns="0">
            <a:spAutoFit/>
          </a:bodyPr>
          <a:lstStyle/>
          <a:p>
            <a:r>
              <a:rPr sz="1500" b="1">
                <a:solidFill>
                  <a:srgbClr val="22383F"/>
                </a:solidFill>
                <a:latin typeface="Calibri"/>
              </a:rPr>
              <a:t>03  Tratamientos</a:t>
            </a:r>
          </a:p>
        </p:txBody>
      </p:sp>
      <p:sp>
        <p:nvSpPr>
          <p:cNvPr id="18" name="TextBox 17"/>
          <p:cNvSpPr txBox="1"/>
          <p:nvPr/>
        </p:nvSpPr>
        <p:spPr>
          <a:xfrm>
            <a:off x="4100000" y="3060000"/>
            <a:ext cx="6400000" cy="450000"/>
          </a:xfrm>
          <a:prstGeom prst="rect">
            <a:avLst/>
          </a:prstGeom>
          <a:noFill/>
        </p:spPr>
        <p:txBody>
          <a:bodyPr wrap="square" anchor="t" lIns="0" rIns="0" tIns="0" bIns="0">
            <a:spAutoFit/>
          </a:bodyPr>
          <a:lstStyle/>
          <a:p>
            <a:r>
              <a:rPr sz="1150" b="0">
                <a:solidFill>
                  <a:srgbClr val="5A6A6D"/>
                </a:solidFill>
                <a:latin typeface="Calibri"/>
              </a:rPr>
              <a:t>La página que orienta hacia el médico. Se eliminan los medicamentos y los remedios, y se redirige al directorio.</a:t>
            </a:r>
          </a:p>
        </p:txBody>
      </p:sp>
      <p:sp>
        <p:nvSpPr>
          <p:cNvPr id="19" name="TextBox 18"/>
          <p:cNvSpPr txBox="1"/>
          <p:nvPr/>
        </p:nvSpPr>
        <p:spPr>
          <a:xfrm>
            <a:off x="10600000" y="3050000"/>
            <a:ext cx="1100000" cy="450000"/>
          </a:xfrm>
          <a:prstGeom prst="rect">
            <a:avLst/>
          </a:prstGeom>
          <a:noFill/>
        </p:spPr>
        <p:txBody>
          <a:bodyPr wrap="square" anchor="t" lIns="0" rIns="0" tIns="0" bIns="0">
            <a:spAutoFit/>
          </a:bodyPr>
          <a:lstStyle/>
          <a:p>
            <a:pPr algn="r"/>
            <a:r>
              <a:rPr sz="1500" b="1">
                <a:solidFill>
                  <a:srgbClr val="E0584D"/>
                </a:solidFill>
                <a:latin typeface="Calibri"/>
              </a:rPr>
              <a:t>20–25</a:t>
            </a:r>
          </a:p>
        </p:txBody>
      </p:sp>
      <p:sp>
        <p:nvSpPr>
          <p:cNvPr id="20" name="Rectangle 19"/>
          <p:cNvSpPr/>
          <p:nvPr/>
        </p:nvSpPr>
        <p:spPr>
          <a:xfrm>
            <a:off x="355000" y="3610000"/>
            <a:ext cx="11480000" cy="56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0000" y="3690000"/>
            <a:ext cx="3500000" cy="450000"/>
          </a:xfrm>
          <a:prstGeom prst="rect">
            <a:avLst/>
          </a:prstGeom>
          <a:noFill/>
        </p:spPr>
        <p:txBody>
          <a:bodyPr wrap="square" anchor="t" lIns="0" rIns="0" tIns="0" bIns="0">
            <a:spAutoFit/>
          </a:bodyPr>
          <a:lstStyle/>
          <a:p>
            <a:r>
              <a:rPr sz="1500" b="1">
                <a:solidFill>
                  <a:srgbClr val="22383F"/>
                </a:solidFill>
                <a:latin typeface="Calibri"/>
              </a:rPr>
              <a:t>Fuentes</a:t>
            </a:r>
          </a:p>
        </p:txBody>
      </p:sp>
      <p:sp>
        <p:nvSpPr>
          <p:cNvPr id="22" name="TextBox 21"/>
          <p:cNvSpPr txBox="1"/>
          <p:nvPr/>
        </p:nvSpPr>
        <p:spPr>
          <a:xfrm>
            <a:off x="4100000" y="3700000"/>
            <a:ext cx="6400000" cy="450000"/>
          </a:xfrm>
          <a:prstGeom prst="rect">
            <a:avLst/>
          </a:prstGeom>
          <a:noFill/>
        </p:spPr>
        <p:txBody>
          <a:bodyPr wrap="square" anchor="t" lIns="0" rIns="0" tIns="0" bIns="0">
            <a:spAutoFit/>
          </a:bodyPr>
          <a:lstStyle/>
          <a:p>
            <a:r>
              <a:rPr sz="1150" b="0">
                <a:solidFill>
                  <a:srgbClr val="5A6A6D"/>
                </a:solidFill>
                <a:latin typeface="Calibri"/>
              </a:rPr>
              <a:t>Referencias y citas textuales</a:t>
            </a:r>
          </a:p>
        </p:txBody>
      </p:sp>
      <p:sp>
        <p:nvSpPr>
          <p:cNvPr id="23" name="TextBox 22"/>
          <p:cNvSpPr txBox="1"/>
          <p:nvPr/>
        </p:nvSpPr>
        <p:spPr>
          <a:xfrm>
            <a:off x="10600000" y="3690000"/>
            <a:ext cx="1100000" cy="450000"/>
          </a:xfrm>
          <a:prstGeom prst="rect">
            <a:avLst/>
          </a:prstGeom>
          <a:noFill/>
        </p:spPr>
        <p:txBody>
          <a:bodyPr wrap="square" anchor="t" lIns="0" rIns="0" tIns="0" bIns="0">
            <a:spAutoFit/>
          </a:bodyPr>
          <a:lstStyle/>
          <a:p>
            <a:pPr algn="r"/>
            <a:r>
              <a:rPr sz="1500" b="1">
                <a:solidFill>
                  <a:srgbClr val="E0584D"/>
                </a:solidFill>
                <a:latin typeface="Calibri"/>
              </a:rPr>
              <a:t>26</a:t>
            </a:r>
          </a:p>
        </p:txBody>
      </p:sp>
      <p:sp>
        <p:nvSpPr>
          <p:cNvPr id="24" name="Rectangle 23"/>
          <p:cNvSpPr/>
          <p:nvPr/>
        </p:nvSpPr>
        <p:spPr>
          <a:xfrm>
            <a:off x="355000" y="4250000"/>
            <a:ext cx="11480000" cy="560000"/>
          </a:xfrm>
          <a:prstGeom prst="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0000" y="4330000"/>
            <a:ext cx="3500000" cy="450000"/>
          </a:xfrm>
          <a:prstGeom prst="rect">
            <a:avLst/>
          </a:prstGeom>
          <a:noFill/>
        </p:spPr>
        <p:txBody>
          <a:bodyPr wrap="square" anchor="t" lIns="0" rIns="0" tIns="0" bIns="0">
            <a:spAutoFit/>
          </a:bodyPr>
          <a:lstStyle/>
          <a:p>
            <a:r>
              <a:rPr sz="1500" b="1">
                <a:solidFill>
                  <a:srgbClr val="22383F"/>
                </a:solidFill>
                <a:latin typeface="Calibri"/>
              </a:rPr>
              <a:t>Aprobación</a:t>
            </a:r>
          </a:p>
        </p:txBody>
      </p:sp>
      <p:sp>
        <p:nvSpPr>
          <p:cNvPr id="26" name="TextBox 25"/>
          <p:cNvSpPr txBox="1"/>
          <p:nvPr/>
        </p:nvSpPr>
        <p:spPr>
          <a:xfrm>
            <a:off x="4100000" y="4340000"/>
            <a:ext cx="6400000" cy="450000"/>
          </a:xfrm>
          <a:prstGeom prst="rect">
            <a:avLst/>
          </a:prstGeom>
          <a:noFill/>
        </p:spPr>
        <p:txBody>
          <a:bodyPr wrap="square" anchor="t" lIns="0" rIns="0" tIns="0" bIns="0">
            <a:spAutoFit/>
          </a:bodyPr>
          <a:lstStyle/>
          <a:p>
            <a:r>
              <a:rPr sz="1150" b="0">
                <a:solidFill>
                  <a:srgbClr val="5A6A6D"/>
                </a:solidFill>
                <a:latin typeface="Calibri"/>
              </a:rPr>
              <a:t>Firma o respuesta por correo</a:t>
            </a:r>
          </a:p>
        </p:txBody>
      </p:sp>
      <p:sp>
        <p:nvSpPr>
          <p:cNvPr id="27" name="TextBox 26"/>
          <p:cNvSpPr txBox="1"/>
          <p:nvPr/>
        </p:nvSpPr>
        <p:spPr>
          <a:xfrm>
            <a:off x="10600000" y="4330000"/>
            <a:ext cx="1100000" cy="450000"/>
          </a:xfrm>
          <a:prstGeom prst="rect">
            <a:avLst/>
          </a:prstGeom>
          <a:noFill/>
        </p:spPr>
        <p:txBody>
          <a:bodyPr wrap="square" anchor="t" lIns="0" rIns="0" tIns="0" bIns="0">
            <a:spAutoFit/>
          </a:bodyPr>
          <a:lstStyle/>
          <a:p>
            <a:pPr algn="r"/>
            <a:r>
              <a:rPr sz="1500" b="1">
                <a:solidFill>
                  <a:srgbClr val="E0584D"/>
                </a:solidFill>
                <a:latin typeface="Calibri"/>
              </a:rPr>
              <a:t>27</a:t>
            </a:r>
          </a:p>
        </p:txBody>
      </p:sp>
      <p:sp>
        <p:nvSpPr>
          <p:cNvPr id="28" name="Rounded Rectangle 27"/>
          <p:cNvSpPr/>
          <p:nvPr/>
        </p:nvSpPr>
        <p:spPr>
          <a:xfrm>
            <a:off x="355000" y="5050000"/>
            <a:ext cx="11480000" cy="1250000"/>
          </a:xfrm>
          <a:prstGeom prst="roundRect">
            <a:avLst>
              <a:gd name="adj" fmla="val 12000"/>
            </a:avLst>
          </a:prstGeom>
          <a:solidFill>
            <a:srgbClr val="2238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0000" y="5170000"/>
            <a:ext cx="11000000" cy="1100000"/>
          </a:xfrm>
          <a:prstGeom prst="rect">
            <a:avLst/>
          </a:prstGeom>
          <a:noFill/>
        </p:spPr>
        <p:txBody>
          <a:bodyPr wrap="square" anchor="t" lIns="0" rIns="0" tIns="0" bIns="0">
            <a:spAutoFit/>
          </a:bodyPr>
          <a:lstStyle/>
          <a:p>
            <a:pPr>
              <a:spcAft>
                <a:spcPts val="300"/>
              </a:spcAft>
            </a:pPr>
            <a:r>
              <a:rPr sz="1200" b="1">
                <a:solidFill>
                  <a:srgbClr val="F0A69F"/>
                </a:solidFill>
                <a:latin typeface="Calibri"/>
              </a:rPr>
              <a:t>Cómo responder</a:t>
            </a:r>
          </a:p>
          <a:p>
            <a:pPr>
              <a:spcAft>
                <a:spcPts val="200"/>
              </a:spcAft>
            </a:pPr>
            <a:r>
              <a:rPr sz="1200" b="0">
                <a:solidFill>
                  <a:srgbClr val="FFFFFF"/>
                </a:solidFill>
                <a:latin typeface="Calibri"/>
              </a:rPr>
              <a:t>Comenten solo lo que quieran corregir. Lo que no tenga comentario lo tomaremos como aprobado.</a:t>
            </a:r>
          </a:p>
          <a:p>
            <a:pPr>
              <a:spcAft>
                <a:spcPts val="200"/>
              </a:spcAft>
            </a:pPr>
            <a:r>
              <a:rPr sz="1200" b="0">
                <a:solidFill>
                  <a:srgbClr val="FFFFFF"/>
                </a:solidFill>
                <a:latin typeface="Calibri"/>
              </a:rPr>
              <a:t>Los números rojos de la captura son los números de las filas. «✕» indica algo que se elimina.</a:t>
            </a:r>
          </a:p>
          <a:p>
            <a:r>
              <a:rPr sz="1200" b="1">
                <a:solidFill>
                  <a:srgbClr val="FFFFFF"/>
                </a:solidFill>
                <a:latin typeface="Calibri"/>
              </a:rPr>
              <a:t>Las capturas muestran los textos propuestos, que redactamos nosotros y necesitan validación médica.</a:t>
            </a:r>
          </a:p>
        </p:txBody>
      </p:sp>
      <p:sp>
        <p:nvSpPr>
          <p:cNvPr id="30" name="TextBox 29"/>
          <p:cNvSpPr txBox="1"/>
          <p:nvPr/>
        </p:nvSpPr>
        <p:spPr>
          <a:xfrm>
            <a:off x="355000" y="6400000"/>
            <a:ext cx="10500000" cy="300000"/>
          </a:xfrm>
          <a:prstGeom prst="rect">
            <a:avLst/>
          </a:prstGeom>
          <a:noFill/>
        </p:spPr>
        <p:txBody>
          <a:bodyPr wrap="square" anchor="t" lIns="0" rIns="0" tIns="0" bIns="0">
            <a:spAutoFit/>
          </a:bodyPr>
          <a:lstStyle/>
          <a:p>
            <a:r>
              <a:rPr sz="1000" b="0">
                <a:solidFill>
                  <a:srgbClr val="5A6A6D"/>
                </a:solidFill>
                <a:latin typeface="Calibri"/>
              </a:rPr>
              <a:t>Quedan para una siguiente entrega: Recursos y Diario, Testimonios, Directorio médico, Blog, Acerca de y el Quiz orientativo.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3</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MAPA DEL SITIO</a:t>
            </a:r>
          </a:p>
          <a:p>
            <a:r>
              <a:rPr sz="2000" b="1">
                <a:solidFill>
                  <a:srgbClr val="22383F"/>
                </a:solidFill>
                <a:latin typeface="Calibri"/>
              </a:rPr>
              <a:t>Cómo se organiza masqueurticaria.org</a:t>
            </a:r>
          </a:p>
        </p:txBody>
      </p:sp>
      <p:sp>
        <p:nvSpPr>
          <p:cNvPr id="4" name="Rounded Rectangle 3"/>
          <p:cNvSpPr/>
          <p:nvPr/>
        </p:nvSpPr>
        <p:spPr>
          <a:xfrm>
            <a:off x="4595000" y="1000000"/>
            <a:ext cx="3000000" cy="420000"/>
          </a:xfrm>
          <a:prstGeom prst="roundRect">
            <a:avLst>
              <a:gd name="adj" fmla="val 12000"/>
            </a:avLst>
          </a:prstGeom>
          <a:solidFill>
            <a:srgbClr val="2238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200" b="1">
                <a:solidFill>
                  <a:srgbClr val="FFFFFF"/>
                </a:solidFill>
                <a:latin typeface="Calibri"/>
              </a:rPr>
              <a:t>masqueurticaria.org</a:t>
            </a:r>
          </a:p>
        </p:txBody>
      </p:sp>
      <p:cxnSp>
        <p:nvCxnSpPr>
          <p:cNvPr id="5" name="Connector 4"/>
          <p:cNvCxnSpPr/>
          <p:nvPr/>
        </p:nvCxnSpPr>
        <p:spPr>
          <a:xfrm>
            <a:off x="6095000" y="14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3125" y="1620000"/>
            <a:ext cx="10123750" cy="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3125" y="16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55000" y="1820000"/>
            <a:ext cx="1356250" cy="43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22383F"/>
                </a:solidFill>
                <a:latin typeface="Calibri"/>
              </a:rPr>
              <a:t>Inicio</a:t>
            </a:r>
          </a:p>
        </p:txBody>
      </p:sp>
      <p:sp>
        <p:nvSpPr>
          <p:cNvPr id="9" name="Rounded Rectangle 8"/>
          <p:cNvSpPr/>
          <p:nvPr/>
        </p:nvSpPr>
        <p:spPr>
          <a:xfrm>
            <a:off x="973125" y="2270000"/>
            <a:ext cx="120000" cy="120000"/>
          </a:xfrm>
          <a:prstGeom prst="roundRect">
            <a:avLst>
              <a:gd name="adj" fmla="val 12000"/>
            </a:avLst>
          </a:prstGeom>
          <a:solidFill>
            <a:srgbClr val="008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5000" y="240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Cabecera por hora y clima</a:t>
            </a:r>
          </a:p>
        </p:txBody>
      </p:sp>
      <p:sp>
        <p:nvSpPr>
          <p:cNvPr id="11" name="Rounded Rectangle 10"/>
          <p:cNvSpPr/>
          <p:nvPr/>
        </p:nvSpPr>
        <p:spPr>
          <a:xfrm>
            <a:off x="355000" y="281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Contenido inferior</a:t>
            </a:r>
          </a:p>
        </p:txBody>
      </p:sp>
      <p:cxnSp>
        <p:nvCxnSpPr>
          <p:cNvPr id="12" name="Connector 11"/>
          <p:cNvCxnSpPr/>
          <p:nvPr/>
        </p:nvCxnSpPr>
        <p:spPr>
          <a:xfrm>
            <a:off x="2479375" y="16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801250" y="1820000"/>
            <a:ext cx="1356250" cy="43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22383F"/>
                </a:solidFill>
                <a:latin typeface="Calibri"/>
              </a:rPr>
              <a:t>Recursos</a:t>
            </a:r>
          </a:p>
        </p:txBody>
      </p:sp>
      <p:sp>
        <p:nvSpPr>
          <p:cNvPr id="14" name="Rounded Rectangle 13"/>
          <p:cNvSpPr/>
          <p:nvPr/>
        </p:nvSpPr>
        <p:spPr>
          <a:xfrm>
            <a:off x="1801250" y="240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Test orientativo</a:t>
            </a:r>
          </a:p>
        </p:txBody>
      </p:sp>
      <p:sp>
        <p:nvSpPr>
          <p:cNvPr id="15" name="Rounded Rectangle 14"/>
          <p:cNvSpPr/>
          <p:nvPr/>
        </p:nvSpPr>
        <p:spPr>
          <a:xfrm>
            <a:off x="1801250" y="281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Diario de síntomas</a:t>
            </a:r>
          </a:p>
        </p:txBody>
      </p:sp>
      <p:sp>
        <p:nvSpPr>
          <p:cNvPr id="16" name="Rounded Rectangle 15"/>
          <p:cNvSpPr/>
          <p:nvPr/>
        </p:nvSpPr>
        <p:spPr>
          <a:xfrm>
            <a:off x="1801250" y="322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Biblioteca visual</a:t>
            </a:r>
          </a:p>
        </p:txBody>
      </p:sp>
      <p:cxnSp>
        <p:nvCxnSpPr>
          <p:cNvPr id="17" name="Connector 16"/>
          <p:cNvCxnSpPr/>
          <p:nvPr/>
        </p:nvCxnSpPr>
        <p:spPr>
          <a:xfrm>
            <a:off x="3925625" y="16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247500" y="1820000"/>
            <a:ext cx="1356250" cy="43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22383F"/>
                </a:solidFill>
                <a:latin typeface="Calibri"/>
              </a:rPr>
              <a:t>Síntomas</a:t>
            </a:r>
          </a:p>
        </p:txBody>
      </p:sp>
      <p:sp>
        <p:nvSpPr>
          <p:cNvPr id="19" name="Rounded Rectangle 18"/>
          <p:cNvSpPr/>
          <p:nvPr/>
        </p:nvSpPr>
        <p:spPr>
          <a:xfrm>
            <a:off x="3865625" y="2270000"/>
            <a:ext cx="120000" cy="120000"/>
          </a:xfrm>
          <a:prstGeom prst="roundRect">
            <a:avLst>
              <a:gd name="adj" fmla="val 12000"/>
            </a:avLst>
          </a:prstGeom>
          <a:solidFill>
            <a:srgbClr val="008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5371875" y="16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693750" y="1820000"/>
            <a:ext cx="1356250" cy="43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22383F"/>
                </a:solidFill>
                <a:latin typeface="Calibri"/>
              </a:rPr>
              <a:t>Tratamientos</a:t>
            </a:r>
          </a:p>
        </p:txBody>
      </p:sp>
      <p:sp>
        <p:nvSpPr>
          <p:cNvPr id="22" name="Rounded Rectangle 21"/>
          <p:cNvSpPr/>
          <p:nvPr/>
        </p:nvSpPr>
        <p:spPr>
          <a:xfrm>
            <a:off x="5311875" y="2270000"/>
            <a:ext cx="120000" cy="120000"/>
          </a:xfrm>
          <a:prstGeom prst="roundRect">
            <a:avLst>
              <a:gd name="adj" fmla="val 12000"/>
            </a:avLst>
          </a:prstGeom>
          <a:solidFill>
            <a:srgbClr val="008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6818125" y="16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140000" y="1820000"/>
            <a:ext cx="1356250" cy="43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22383F"/>
                </a:solidFill>
                <a:latin typeface="Calibri"/>
              </a:rPr>
              <a:t>Directorio médico</a:t>
            </a:r>
          </a:p>
        </p:txBody>
      </p:sp>
      <p:sp>
        <p:nvSpPr>
          <p:cNvPr id="25" name="Rounded Rectangle 24"/>
          <p:cNvSpPr/>
          <p:nvPr/>
        </p:nvSpPr>
        <p:spPr>
          <a:xfrm>
            <a:off x="6140000" y="240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Mapa y listado</a:t>
            </a:r>
          </a:p>
        </p:txBody>
      </p:sp>
      <p:cxnSp>
        <p:nvCxnSpPr>
          <p:cNvPr id="26" name="Connector 25"/>
          <p:cNvCxnSpPr/>
          <p:nvPr/>
        </p:nvCxnSpPr>
        <p:spPr>
          <a:xfrm>
            <a:off x="8264375" y="16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586250" y="1820000"/>
            <a:ext cx="1356250" cy="43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22383F"/>
                </a:solidFill>
                <a:latin typeface="Calibri"/>
              </a:rPr>
              <a:t>Testimonios</a:t>
            </a:r>
          </a:p>
        </p:txBody>
      </p:sp>
      <p:sp>
        <p:nvSpPr>
          <p:cNvPr id="28" name="Rounded Rectangle 27"/>
          <p:cNvSpPr/>
          <p:nvPr/>
        </p:nvSpPr>
        <p:spPr>
          <a:xfrm>
            <a:off x="7586250" y="240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Compartir mi historia</a:t>
            </a:r>
          </a:p>
        </p:txBody>
      </p:sp>
      <p:cxnSp>
        <p:nvCxnSpPr>
          <p:cNvPr id="29" name="Connector 28"/>
          <p:cNvCxnSpPr/>
          <p:nvPr/>
        </p:nvCxnSpPr>
        <p:spPr>
          <a:xfrm>
            <a:off x="9710625" y="16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032500" y="1820000"/>
            <a:ext cx="1356250" cy="43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22383F"/>
                </a:solidFill>
                <a:latin typeface="Calibri"/>
              </a:rPr>
              <a:t>Blog</a:t>
            </a:r>
          </a:p>
        </p:txBody>
      </p:sp>
      <p:sp>
        <p:nvSpPr>
          <p:cNvPr id="31" name="Rounded Rectangle 30"/>
          <p:cNvSpPr/>
          <p:nvPr/>
        </p:nvSpPr>
        <p:spPr>
          <a:xfrm>
            <a:off x="9032500" y="240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Qué es la urticaria crónica espontánea</a:t>
            </a:r>
          </a:p>
        </p:txBody>
      </p:sp>
      <p:sp>
        <p:nvSpPr>
          <p:cNvPr id="32" name="Rounded Rectangle 31"/>
          <p:cNvSpPr/>
          <p:nvPr/>
        </p:nvSpPr>
        <p:spPr>
          <a:xfrm>
            <a:off x="9032500" y="281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Preparar tu consulta</a:t>
            </a:r>
          </a:p>
        </p:txBody>
      </p:sp>
      <p:sp>
        <p:nvSpPr>
          <p:cNvPr id="33" name="Rounded Rectangle 32"/>
          <p:cNvSpPr/>
          <p:nvPr/>
        </p:nvSpPr>
        <p:spPr>
          <a:xfrm>
            <a:off x="9032500" y="322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¿La urticaria empeora con el estrés?</a:t>
            </a:r>
          </a:p>
        </p:txBody>
      </p:sp>
      <p:sp>
        <p:nvSpPr>
          <p:cNvPr id="34" name="Rounded Rectangle 33"/>
          <p:cNvSpPr/>
          <p:nvPr/>
        </p:nvSpPr>
        <p:spPr>
          <a:xfrm>
            <a:off x="9032500" y="363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Dietas restrictivas</a:t>
            </a:r>
          </a:p>
        </p:txBody>
      </p:sp>
      <p:cxnSp>
        <p:nvCxnSpPr>
          <p:cNvPr id="35" name="Connector 34"/>
          <p:cNvCxnSpPr/>
          <p:nvPr/>
        </p:nvCxnSpPr>
        <p:spPr>
          <a:xfrm>
            <a:off x="11156875" y="16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0478750" y="1820000"/>
            <a:ext cx="1356250" cy="43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22383F"/>
                </a:solidFill>
                <a:latin typeface="Calibri"/>
              </a:rPr>
              <a:t>Acerca de</a:t>
            </a:r>
          </a:p>
        </p:txBody>
      </p:sp>
      <p:sp>
        <p:nvSpPr>
          <p:cNvPr id="37" name="Rounded Rectangle 36"/>
          <p:cNvSpPr/>
          <p:nvPr/>
        </p:nvSpPr>
        <p:spPr>
          <a:xfrm>
            <a:off x="355000" y="4800000"/>
            <a:ext cx="11480000" cy="520000"/>
          </a:xfrm>
          <a:prstGeom prst="roundRect">
            <a:avLst>
              <a:gd name="adj" fmla="val 12000"/>
            </a:avLst>
          </a:prstGeom>
          <a:solidFill>
            <a:srgbClr val="F8FAFC"/>
          </a:solidFill>
          <a:ln w="12700">
            <a:solidFill>
              <a:srgbClr val="E2E8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0">
                <a:solidFill>
                  <a:srgbClr val="5A6A6D"/>
                </a:solidFill>
                <a:latin typeface="Calibri"/>
              </a:rPr>
              <a:t>Ventana flotante: Quiz orientativo (se abre desde los botones «Hacer el test orientativo» de varias páginas; incluye pregunta de urgencia y resumen para el médico)</a:t>
            </a:r>
          </a:p>
        </p:txBody>
      </p:sp>
      <p:sp>
        <p:nvSpPr>
          <p:cNvPr id="38" name="Rounded Rectangle 37"/>
          <p:cNvSpPr/>
          <p:nvPr/>
        </p:nvSpPr>
        <p:spPr>
          <a:xfrm>
            <a:off x="355000" y="5500000"/>
            <a:ext cx="160000" cy="160000"/>
          </a:xfrm>
          <a:prstGeom prst="roundRect">
            <a:avLst>
              <a:gd name="adj" fmla="val 12000"/>
            </a:avLst>
          </a:prstGeom>
          <a:solidFill>
            <a:srgbClr val="008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0000" y="5470000"/>
            <a:ext cx="6000000" cy="250000"/>
          </a:xfrm>
          <a:prstGeom prst="rect">
            <a:avLst/>
          </a:prstGeom>
          <a:noFill/>
        </p:spPr>
        <p:txBody>
          <a:bodyPr wrap="square" anchor="t" lIns="0" rIns="0" tIns="0" bIns="0">
            <a:spAutoFit/>
          </a:bodyPr>
          <a:lstStyle/>
          <a:p>
            <a:r>
              <a:rPr sz="1100" b="1">
                <a:solidFill>
                  <a:srgbClr val="22383F"/>
                </a:solidFill>
                <a:latin typeface="Calibri"/>
              </a:rPr>
              <a:t>Incluida en esta propuesta</a:t>
            </a:r>
          </a:p>
        </p:txBody>
      </p:sp>
      <p:sp>
        <p:nvSpPr>
          <p:cNvPr id="40" name="Rounded Rectangle 39"/>
          <p:cNvSpPr/>
          <p:nvPr/>
        </p:nvSpPr>
        <p:spPr>
          <a:xfrm>
            <a:off x="4200000" y="5500000"/>
            <a:ext cx="160000" cy="160000"/>
          </a:xfrm>
          <a:prstGeom prst="roundRect">
            <a:avLst>
              <a:gd name="adj" fmla="val 12000"/>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50000" y="5470000"/>
            <a:ext cx="6000000" cy="250000"/>
          </a:xfrm>
          <a:prstGeom prst="rect">
            <a:avLst/>
          </a:prstGeom>
          <a:noFill/>
        </p:spPr>
        <p:txBody>
          <a:bodyPr wrap="square" anchor="t" lIns="0" rIns="0" tIns="0" bIns="0">
            <a:spAutoFit/>
          </a:bodyPr>
          <a:lstStyle/>
          <a:p>
            <a:r>
              <a:rPr sz="1100" b="1">
                <a:solidFill>
                  <a:srgbClr val="22383F"/>
                </a:solidFill>
                <a:latin typeface="Calibri"/>
              </a:rPr>
              <a:t>Sección que se está mostrando (en las diapositivas de cada bloque)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238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228600"/>
          </a:xfrm>
          <a:prstGeom prst="rect">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0000" y="800000"/>
            <a:ext cx="5600000" cy="3000000"/>
          </a:xfrm>
          <a:prstGeom prst="rect">
            <a:avLst/>
          </a:prstGeom>
          <a:noFill/>
        </p:spPr>
        <p:txBody>
          <a:bodyPr wrap="square" anchor="t" lIns="0" rIns="0" tIns="0" bIns="0">
            <a:spAutoFit/>
          </a:bodyPr>
          <a:lstStyle/>
          <a:p>
            <a:pPr>
              <a:spcAft>
                <a:spcPts val="400"/>
              </a:spcAft>
            </a:pPr>
            <a:r>
              <a:rPr sz="1300" b="1">
                <a:solidFill>
                  <a:srgbClr val="F0A69F"/>
                </a:solidFill>
                <a:latin typeface="Calibri"/>
              </a:rPr>
              <a:t>SECCIÓN 01</a:t>
            </a:r>
          </a:p>
          <a:p>
            <a:pPr>
              <a:spcAft>
                <a:spcPts val="600"/>
              </a:spcAft>
            </a:pPr>
            <a:r>
              <a:rPr sz="4000" b="1">
                <a:solidFill>
                  <a:srgbClr val="FFFFFF"/>
                </a:solidFill>
                <a:latin typeface="Calibri"/>
              </a:rPr>
              <a:t>HOME</a:t>
            </a:r>
          </a:p>
          <a:p>
            <a:pPr>
              <a:spcAft>
                <a:spcPts val="1600"/>
              </a:spcAft>
            </a:pPr>
            <a:r>
              <a:rPr sz="1300" b="0">
                <a:solidFill>
                  <a:srgbClr val="CBD5E1"/>
                </a:solidFill>
                <a:latin typeface="Calibri"/>
              </a:rPr>
              <a:t>masqueurticaria.org</a:t>
            </a:r>
          </a:p>
          <a:p>
            <a:r>
              <a:rPr sz="1500" b="0">
                <a:solidFill>
                  <a:srgbClr val="FFFFFF"/>
                </a:solidFill>
                <a:latin typeface="Calibri"/>
              </a:rPr>
              <a:t>La cabecera de la página de inicio cambia según la hora, el clima y la ciudad. Aquí se proponen los textos de cada escenario.</a:t>
            </a:r>
          </a:p>
        </p:txBody>
      </p:sp>
      <p:sp>
        <p:nvSpPr>
          <p:cNvPr id="5" name="TextBox 4"/>
          <p:cNvSpPr txBox="1"/>
          <p:nvPr/>
        </p:nvSpPr>
        <p:spPr>
          <a:xfrm>
            <a:off x="7200000" y="800000"/>
            <a:ext cx="4500000" cy="3000000"/>
          </a:xfrm>
          <a:prstGeom prst="rect">
            <a:avLst/>
          </a:prstGeom>
          <a:noFill/>
        </p:spPr>
        <p:txBody>
          <a:bodyPr wrap="square" anchor="t" lIns="0" rIns="0" tIns="0" bIns="0">
            <a:spAutoFit/>
          </a:bodyPr>
          <a:lstStyle/>
          <a:p>
            <a:pPr>
              <a:spcAft>
                <a:spcPts val="600"/>
              </a:spcAft>
            </a:pPr>
            <a:r>
              <a:rPr sz="1300" b="1">
                <a:solidFill>
                  <a:srgbClr val="F0A69F"/>
                </a:solidFill>
                <a:latin typeface="Calibri"/>
              </a:rPr>
              <a:t>Qué incluye</a:t>
            </a:r>
          </a:p>
          <a:p>
            <a:pPr>
              <a:spcAft>
                <a:spcPts val="500"/>
              </a:spcAft>
            </a:pPr>
            <a:r>
              <a:rPr sz="1400" b="0">
                <a:solidFill>
                  <a:srgbClr val="FFFFFF"/>
                </a:solidFill>
                <a:latin typeface="Calibri"/>
              </a:rPr>
              <a:t>•  Cómo se personaliza el sitio</a:t>
            </a:r>
          </a:p>
          <a:p>
            <a:pPr>
              <a:spcAft>
                <a:spcPts val="500"/>
              </a:spcAft>
            </a:pPr>
            <a:r>
              <a:rPr sz="1400" b="0">
                <a:solidFill>
                  <a:srgbClr val="FFFFFF"/>
                </a:solidFill>
                <a:latin typeface="Calibri"/>
              </a:rPr>
              <a:t>•  Mañana y tarde</a:t>
            </a:r>
          </a:p>
          <a:p>
            <a:pPr>
              <a:spcAft>
                <a:spcPts val="500"/>
              </a:spcAft>
            </a:pPr>
            <a:r>
              <a:rPr sz="1400" b="0">
                <a:solidFill>
                  <a:srgbClr val="FFFFFF"/>
                </a:solidFill>
                <a:latin typeface="Calibri"/>
              </a:rPr>
              <a:t>•  Tarde con calor y con frío</a:t>
            </a:r>
          </a:p>
          <a:p>
            <a:pPr>
              <a:spcAft>
                <a:spcPts val="500"/>
              </a:spcAft>
            </a:pPr>
            <a:r>
              <a:rPr sz="1400" b="0">
                <a:solidFill>
                  <a:srgbClr val="FFFFFF"/>
                </a:solidFill>
                <a:latin typeface="Calibri"/>
              </a:rPr>
              <a:t>•  Noche y madrugada</a:t>
            </a:r>
          </a:p>
          <a:p>
            <a:pPr>
              <a:spcAft>
                <a:spcPts val="500"/>
              </a:spcAft>
            </a:pPr>
            <a:r>
              <a:rPr sz="1400" b="0">
                <a:solidFill>
                  <a:srgbClr val="FFFFFF"/>
                </a:solidFill>
                <a:latin typeface="Calibri"/>
              </a:rPr>
              <a:t>•  Noche cálida</a:t>
            </a:r>
          </a:p>
          <a:p>
            <a:pPr>
              <a:spcAft>
                <a:spcPts val="500"/>
              </a:spcAft>
            </a:pPr>
            <a:r>
              <a:rPr sz="1400" b="0">
                <a:solidFill>
                  <a:srgbClr val="FFFFFF"/>
                </a:solidFill>
                <a:latin typeface="Calibri"/>
              </a:rPr>
              <a:t>•  Otras variantes con calor, frío y ciudad</a:t>
            </a:r>
          </a:p>
        </p:txBody>
      </p:sp>
      <p:sp>
        <p:nvSpPr>
          <p:cNvPr id="6" name="TextBox 5"/>
          <p:cNvSpPr txBox="1"/>
          <p:nvPr/>
        </p:nvSpPr>
        <p:spPr>
          <a:xfrm>
            <a:off x="1000000" y="3950000"/>
            <a:ext cx="6000000" cy="300000"/>
          </a:xfrm>
          <a:prstGeom prst="rect">
            <a:avLst/>
          </a:prstGeom>
          <a:noFill/>
        </p:spPr>
        <p:txBody>
          <a:bodyPr wrap="square" anchor="t" lIns="0" rIns="0" tIns="0" bIns="0">
            <a:spAutoFit/>
          </a:bodyPr>
          <a:lstStyle/>
          <a:p>
            <a:r>
              <a:rPr sz="1200" b="1">
                <a:solidFill>
                  <a:srgbClr val="F0A69F"/>
                </a:solidFill>
                <a:latin typeface="Calibri"/>
              </a:rPr>
              <a:t>Estás aquí en el mapa del sitio</a:t>
            </a:r>
          </a:p>
        </p:txBody>
      </p:sp>
      <p:sp>
        <p:nvSpPr>
          <p:cNvPr id="7" name="Rounded Rectangle 6"/>
          <p:cNvSpPr/>
          <p:nvPr/>
        </p:nvSpPr>
        <p:spPr>
          <a:xfrm>
            <a:off x="4600000" y="4300000"/>
            <a:ext cx="3000000" cy="420000"/>
          </a:xfrm>
          <a:prstGeom prst="roundRect">
            <a:avLst>
              <a:gd name="adj" fmla="val 12000"/>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200" b="1">
                <a:solidFill>
                  <a:srgbClr val="FFFFFF"/>
                </a:solidFill>
                <a:latin typeface="Calibri"/>
              </a:rPr>
              <a:t>masqueurticaria.org</a:t>
            </a:r>
          </a:p>
        </p:txBody>
      </p:sp>
      <p:cxnSp>
        <p:nvCxnSpPr>
          <p:cNvPr id="8" name="Connector 7"/>
          <p:cNvCxnSpPr/>
          <p:nvPr/>
        </p:nvCxnSpPr>
        <p:spPr>
          <a:xfrm>
            <a:off x="6100000" y="47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598125" y="4920000"/>
            <a:ext cx="9003750" cy="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5981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00000" y="5120000"/>
            <a:ext cx="1196250" cy="430000"/>
          </a:xfrm>
          <a:prstGeom prst="roundRect">
            <a:avLst>
              <a:gd name="adj" fmla="val 12000"/>
            </a:avLst>
          </a:prstGeom>
          <a:solidFill>
            <a:srgbClr val="E0584D"/>
          </a:solidFill>
          <a:ln w="12700">
            <a:solidFill>
              <a:srgbClr val="E0584D"/>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Inicio</a:t>
            </a:r>
          </a:p>
        </p:txBody>
      </p:sp>
      <p:cxnSp>
        <p:nvCxnSpPr>
          <p:cNvPr id="12" name="Connector 11"/>
          <p:cNvCxnSpPr/>
          <p:nvPr/>
        </p:nvCxnSpPr>
        <p:spPr>
          <a:xfrm>
            <a:off x="28843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2862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Recursos</a:t>
            </a:r>
          </a:p>
        </p:txBody>
      </p:sp>
      <p:cxnSp>
        <p:nvCxnSpPr>
          <p:cNvPr id="14" name="Connector 13"/>
          <p:cNvCxnSpPr/>
          <p:nvPr/>
        </p:nvCxnSpPr>
        <p:spPr>
          <a:xfrm>
            <a:off x="41706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725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Síntomas</a:t>
            </a:r>
          </a:p>
        </p:txBody>
      </p:sp>
      <p:cxnSp>
        <p:nvCxnSpPr>
          <p:cNvPr id="16" name="Connector 15"/>
          <p:cNvCxnSpPr/>
          <p:nvPr/>
        </p:nvCxnSpPr>
        <p:spPr>
          <a:xfrm>
            <a:off x="54568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8587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Tratamientos</a:t>
            </a:r>
          </a:p>
        </p:txBody>
      </p:sp>
      <p:cxnSp>
        <p:nvCxnSpPr>
          <p:cNvPr id="18" name="Connector 17"/>
          <p:cNvCxnSpPr/>
          <p:nvPr/>
        </p:nvCxnSpPr>
        <p:spPr>
          <a:xfrm>
            <a:off x="67431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450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Directorio médico</a:t>
            </a:r>
          </a:p>
        </p:txBody>
      </p:sp>
      <p:cxnSp>
        <p:nvCxnSpPr>
          <p:cNvPr id="20" name="Connector 19"/>
          <p:cNvCxnSpPr/>
          <p:nvPr/>
        </p:nvCxnSpPr>
        <p:spPr>
          <a:xfrm>
            <a:off x="80293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4312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Testimonios</a:t>
            </a:r>
          </a:p>
        </p:txBody>
      </p:sp>
      <p:cxnSp>
        <p:nvCxnSpPr>
          <p:cNvPr id="22" name="Connector 21"/>
          <p:cNvCxnSpPr/>
          <p:nvPr/>
        </p:nvCxnSpPr>
        <p:spPr>
          <a:xfrm>
            <a:off x="93156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7175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Blog</a:t>
            </a:r>
          </a:p>
        </p:txBody>
      </p:sp>
      <p:cxnSp>
        <p:nvCxnSpPr>
          <p:cNvPr id="24" name="Connector 23"/>
          <p:cNvCxnSpPr/>
          <p:nvPr/>
        </p:nvCxnSpPr>
        <p:spPr>
          <a:xfrm>
            <a:off x="106018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00037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Acerca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5</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01 · HOME</a:t>
            </a:r>
          </a:p>
          <a:p>
            <a:r>
              <a:rPr sz="2000" b="1">
                <a:solidFill>
                  <a:srgbClr val="22383F"/>
                </a:solidFill>
                <a:latin typeface="Calibri"/>
              </a:rPr>
              <a:t>Un sitio que acompaña: se personaliza según la hora, el clima y la ciudad</a:t>
            </a:r>
          </a:p>
        </p:txBody>
      </p:sp>
      <p:sp>
        <p:nvSpPr>
          <p:cNvPr id="4" name="TextBox 3"/>
          <p:cNvSpPr txBox="1"/>
          <p:nvPr/>
        </p:nvSpPr>
        <p:spPr>
          <a:xfrm>
            <a:off x="355000" y="900000"/>
            <a:ext cx="11480000" cy="600000"/>
          </a:xfrm>
          <a:prstGeom prst="rect">
            <a:avLst/>
          </a:prstGeom>
          <a:noFill/>
        </p:spPr>
        <p:txBody>
          <a:bodyPr wrap="square" anchor="t" lIns="0" rIns="0" tIns="0" bIns="0">
            <a:spAutoFit/>
          </a:bodyPr>
          <a:lstStyle/>
          <a:p>
            <a:r>
              <a:rPr sz="1400" b="0">
                <a:solidFill>
                  <a:srgbClr val="5A6A6D"/>
                </a:solidFill>
                <a:latin typeface="Calibri"/>
              </a:rPr>
              <a:t>Cuando alguien entra al sitio, la cabecera se ajusta a su momento. Es un detalle de experiencia (UX) para que la persona se sienta acompañada, sin pedirle ningún dato.</a:t>
            </a:r>
          </a:p>
        </p:txBody>
      </p:sp>
      <p:sp>
        <p:nvSpPr>
          <p:cNvPr id="5" name="Rounded Rectangle 4"/>
          <p:cNvSpPr/>
          <p:nvPr/>
        </p:nvSpPr>
        <p:spPr>
          <a:xfrm>
            <a:off x="355000" y="1650000"/>
            <a:ext cx="3683333" cy="275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5000" y="1820000"/>
            <a:ext cx="640000" cy="55000"/>
          </a:xfrm>
          <a:prstGeom prst="rect">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5000" y="1980000"/>
            <a:ext cx="3303333" cy="2350000"/>
          </a:xfrm>
          <a:prstGeom prst="rect">
            <a:avLst/>
          </a:prstGeom>
          <a:noFill/>
        </p:spPr>
        <p:txBody>
          <a:bodyPr wrap="square" anchor="t" lIns="0" rIns="0" tIns="0" bIns="0">
            <a:spAutoFit/>
          </a:bodyPr>
          <a:lstStyle/>
          <a:p>
            <a:pPr>
              <a:spcAft>
                <a:spcPts val="600"/>
              </a:spcAft>
            </a:pPr>
            <a:r>
              <a:rPr sz="2000" b="1">
                <a:solidFill>
                  <a:srgbClr val="22383F"/>
                </a:solidFill>
                <a:latin typeface="Calibri"/>
              </a:rPr>
              <a:t>Hora del día</a:t>
            </a:r>
          </a:p>
          <a:p>
            <a:pPr>
              <a:spcAft>
                <a:spcPts val="800"/>
              </a:spcAft>
            </a:pPr>
            <a:r>
              <a:rPr sz="1250" b="0">
                <a:solidFill>
                  <a:srgbClr val="5A6A6D"/>
                </a:solidFill>
                <a:latin typeface="Calibri"/>
              </a:rPr>
              <a:t>Se toma la hora del dispositivo de la persona.</a:t>
            </a:r>
          </a:p>
          <a:p>
            <a:pPr>
              <a:spcAft>
                <a:spcPts val="400"/>
              </a:spcAft>
            </a:pPr>
            <a:r>
              <a:rPr sz="1150" b="0">
                <a:solidFill>
                  <a:srgbClr val="22383F"/>
                </a:solidFill>
                <a:latin typeface="Calibri"/>
              </a:rPr>
              <a:t>•  Mañana: 6:00 a 11:59 h</a:t>
            </a:r>
          </a:p>
          <a:p>
            <a:pPr>
              <a:spcAft>
                <a:spcPts val="400"/>
              </a:spcAft>
            </a:pPr>
            <a:r>
              <a:rPr sz="1150" b="0">
                <a:solidFill>
                  <a:srgbClr val="22383F"/>
                </a:solidFill>
                <a:latin typeface="Calibri"/>
              </a:rPr>
              <a:t>•  Tarde: 12:00 a 21:59 h</a:t>
            </a:r>
          </a:p>
          <a:p>
            <a:pPr>
              <a:spcAft>
                <a:spcPts val="400"/>
              </a:spcAft>
            </a:pPr>
            <a:r>
              <a:rPr sz="1150" b="0">
                <a:solidFill>
                  <a:srgbClr val="22383F"/>
                </a:solidFill>
                <a:latin typeface="Calibri"/>
              </a:rPr>
              <a:t>•  Noche y madrugada: 22:00 a 5:59 h</a:t>
            </a:r>
          </a:p>
          <a:p>
            <a:r>
              <a:rPr sz="1150" b="1">
                <a:solidFill>
                  <a:srgbClr val="E0584D"/>
                </a:solidFill>
                <a:latin typeface="Calibri"/>
              </a:rPr>
              <a:t>Cambia el titular, el texto y la imagen.</a:t>
            </a:r>
          </a:p>
        </p:txBody>
      </p:sp>
      <p:sp>
        <p:nvSpPr>
          <p:cNvPr id="8" name="Rounded Rectangle 7"/>
          <p:cNvSpPr/>
          <p:nvPr/>
        </p:nvSpPr>
        <p:spPr>
          <a:xfrm>
            <a:off x="4253333" y="1650000"/>
            <a:ext cx="3683333" cy="275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43333" y="1820000"/>
            <a:ext cx="640000" cy="55000"/>
          </a:xfrm>
          <a:prstGeom prst="rect">
            <a:avLst/>
          </a:prstGeom>
          <a:solidFill>
            <a:srgbClr val="008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43333" y="1980000"/>
            <a:ext cx="3303333" cy="2350000"/>
          </a:xfrm>
          <a:prstGeom prst="rect">
            <a:avLst/>
          </a:prstGeom>
          <a:noFill/>
        </p:spPr>
        <p:txBody>
          <a:bodyPr wrap="square" anchor="t" lIns="0" rIns="0" tIns="0" bIns="0">
            <a:spAutoFit/>
          </a:bodyPr>
          <a:lstStyle/>
          <a:p>
            <a:pPr>
              <a:spcAft>
                <a:spcPts val="600"/>
              </a:spcAft>
            </a:pPr>
            <a:r>
              <a:rPr sz="2000" b="1">
                <a:solidFill>
                  <a:srgbClr val="22383F"/>
                </a:solidFill>
                <a:latin typeface="Calibri"/>
              </a:rPr>
              <a:t>Clima</a:t>
            </a:r>
          </a:p>
          <a:p>
            <a:pPr>
              <a:spcAft>
                <a:spcPts val="800"/>
              </a:spcAft>
            </a:pPr>
            <a:r>
              <a:rPr sz="1250" b="0">
                <a:solidFill>
                  <a:srgbClr val="5A6A6D"/>
                </a:solidFill>
                <a:latin typeface="Calibri"/>
              </a:rPr>
              <a:t>Se consulta la temperatura actual de la zona.</a:t>
            </a:r>
          </a:p>
          <a:p>
            <a:pPr>
              <a:spcAft>
                <a:spcPts val="400"/>
              </a:spcAft>
            </a:pPr>
            <a:r>
              <a:rPr sz="1150" b="0">
                <a:solidFill>
                  <a:srgbClr val="22383F"/>
                </a:solidFill>
                <a:latin typeface="Calibri"/>
              </a:rPr>
              <a:t>•  Calor: 27 °C o más de día, 24 °C o más de noche</a:t>
            </a:r>
          </a:p>
          <a:p>
            <a:pPr>
              <a:spcAft>
                <a:spcPts val="400"/>
              </a:spcAft>
            </a:pPr>
            <a:r>
              <a:rPr sz="1150" b="0">
                <a:solidFill>
                  <a:srgbClr val="22383F"/>
                </a:solidFill>
                <a:latin typeface="Calibri"/>
              </a:rPr>
              <a:t>•  Frío: 15 °C o menos</a:t>
            </a:r>
          </a:p>
          <a:p>
            <a:pPr>
              <a:spcAft>
                <a:spcPts val="400"/>
              </a:spcAft>
            </a:pPr>
            <a:r>
              <a:rPr sz="1150" b="0">
                <a:solidFill>
                  <a:srgbClr val="22383F"/>
                </a:solidFill>
                <a:latin typeface="Calibri"/>
              </a:rPr>
              <a:t>•  Sin dato de clima: se usa la estación del año</a:t>
            </a:r>
          </a:p>
          <a:p>
            <a:r>
              <a:rPr sz="1150" b="1">
                <a:solidFill>
                  <a:srgbClr val="0081A8"/>
                </a:solidFill>
                <a:latin typeface="Calibri"/>
              </a:rPr>
              <a:t>Cambia los colores y el texto.</a:t>
            </a:r>
          </a:p>
        </p:txBody>
      </p:sp>
      <p:sp>
        <p:nvSpPr>
          <p:cNvPr id="11" name="Rounded Rectangle 10"/>
          <p:cNvSpPr/>
          <p:nvPr/>
        </p:nvSpPr>
        <p:spPr>
          <a:xfrm>
            <a:off x="8151666" y="1650000"/>
            <a:ext cx="3683333" cy="275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41666" y="1820000"/>
            <a:ext cx="640000" cy="5500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1666" y="1980000"/>
            <a:ext cx="3303333" cy="2350000"/>
          </a:xfrm>
          <a:prstGeom prst="rect">
            <a:avLst/>
          </a:prstGeom>
          <a:noFill/>
        </p:spPr>
        <p:txBody>
          <a:bodyPr wrap="square" anchor="t" lIns="0" rIns="0" tIns="0" bIns="0">
            <a:spAutoFit/>
          </a:bodyPr>
          <a:lstStyle/>
          <a:p>
            <a:pPr>
              <a:spcAft>
                <a:spcPts val="600"/>
              </a:spcAft>
            </a:pPr>
            <a:r>
              <a:rPr sz="2000" b="1">
                <a:solidFill>
                  <a:srgbClr val="22383F"/>
                </a:solidFill>
                <a:latin typeface="Calibri"/>
              </a:rPr>
              <a:t>Ciudad</a:t>
            </a:r>
          </a:p>
          <a:p>
            <a:pPr>
              <a:spcAft>
                <a:spcPts val="800"/>
              </a:spcAft>
            </a:pPr>
            <a:r>
              <a:rPr sz="1250" b="0">
                <a:solidFill>
                  <a:srgbClr val="5A6A6D"/>
                </a:solidFill>
                <a:latin typeface="Calibri"/>
              </a:rPr>
              <a:t>Se estima por la conexión a internet, sin usar el GPS.</a:t>
            </a:r>
          </a:p>
          <a:p>
            <a:pPr>
              <a:spcAft>
                <a:spcPts val="400"/>
              </a:spcAft>
            </a:pPr>
            <a:r>
              <a:rPr sz="1150" b="0">
                <a:solidFill>
                  <a:srgbClr val="22383F"/>
                </a:solidFill>
                <a:latin typeface="Calibri"/>
              </a:rPr>
              <a:t>•  Aparece en el titular: «Tarde de calor en tu ciudad»</a:t>
            </a:r>
          </a:p>
          <a:p>
            <a:pPr>
              <a:spcAft>
                <a:spcPts val="400"/>
              </a:spcAft>
            </a:pPr>
            <a:r>
              <a:rPr sz="1150" b="0">
                <a:solidFill>
                  <a:srgbClr val="22383F"/>
                </a:solidFill>
                <a:latin typeface="Calibri"/>
              </a:rPr>
              <a:t>•  Si no se detecta, dice «tu ciudad»</a:t>
            </a:r>
          </a:p>
          <a:p>
            <a:pPr>
              <a:spcAft>
                <a:spcPts val="400"/>
              </a:spcAft>
            </a:pPr>
            <a:r>
              <a:rPr sz="1150" b="0">
                <a:solidFill>
                  <a:srgbClr val="22383F"/>
                </a:solidFill>
                <a:latin typeface="Calibri"/>
              </a:rPr>
              <a:t>•  No se guarda en ningún servidor</a:t>
            </a:r>
          </a:p>
          <a:p>
            <a:r>
              <a:rPr sz="1150" b="1">
                <a:solidFill>
                  <a:srgbClr val="E9A23B"/>
                </a:solidFill>
                <a:latin typeface="Calibri"/>
              </a:rPr>
              <a:t>Cambia solo el texto del titular.</a:t>
            </a:r>
          </a:p>
        </p:txBody>
      </p:sp>
      <p:sp>
        <p:nvSpPr>
          <p:cNvPr id="14" name="Rounded Rectangle 13"/>
          <p:cNvSpPr/>
          <p:nvPr/>
        </p:nvSpPr>
        <p:spPr>
          <a:xfrm>
            <a:off x="355000" y="4600000"/>
            <a:ext cx="5600000" cy="1500000"/>
          </a:xfrm>
          <a:prstGeom prst="roundRect">
            <a:avLst>
              <a:gd name="adj" fmla="val 12000"/>
            </a:avLst>
          </a:prstGeom>
          <a:solidFill>
            <a:srgbClr val="2238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0000" y="4720000"/>
            <a:ext cx="5200000" cy="1300000"/>
          </a:xfrm>
          <a:prstGeom prst="rect">
            <a:avLst/>
          </a:prstGeom>
          <a:noFill/>
        </p:spPr>
        <p:txBody>
          <a:bodyPr wrap="square" anchor="t" lIns="0" rIns="0" tIns="0" bIns="0">
            <a:spAutoFit/>
          </a:bodyPr>
          <a:lstStyle/>
          <a:p>
            <a:pPr>
              <a:spcAft>
                <a:spcPts val="400"/>
              </a:spcAft>
            </a:pPr>
            <a:r>
              <a:rPr sz="1200" b="1">
                <a:solidFill>
                  <a:srgbClr val="F0A69F"/>
                </a:solidFill>
                <a:latin typeface="Calibri"/>
              </a:rPr>
              <a:t>Para qué sirve</a:t>
            </a:r>
          </a:p>
          <a:p>
            <a:r>
              <a:rPr sz="1250" b="0">
                <a:solidFill>
                  <a:srgbClr val="FFFFFF"/>
                </a:solidFill>
                <a:latin typeface="Calibri"/>
              </a:rPr>
              <a:t>Que quien llega a las 3 de la mañana con comezón, o en una tarde de calor, encuentre un mensaje pensado para su momento y no uno genérico.</a:t>
            </a:r>
          </a:p>
        </p:txBody>
      </p:sp>
      <p:sp>
        <p:nvSpPr>
          <p:cNvPr id="16" name="Rounded Rectangle 15"/>
          <p:cNvSpPr/>
          <p:nvPr/>
        </p:nvSpPr>
        <p:spPr>
          <a:xfrm>
            <a:off x="6235000" y="4600000"/>
            <a:ext cx="5600000" cy="150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0000" y="4720000"/>
            <a:ext cx="5200000" cy="1300000"/>
          </a:xfrm>
          <a:prstGeom prst="rect">
            <a:avLst/>
          </a:prstGeom>
          <a:noFill/>
        </p:spPr>
        <p:txBody>
          <a:bodyPr wrap="square" anchor="t" lIns="0" rIns="0" tIns="0" bIns="0">
            <a:spAutoFit/>
          </a:bodyPr>
          <a:lstStyle/>
          <a:p>
            <a:pPr>
              <a:spcAft>
                <a:spcPts val="400"/>
              </a:spcAft>
            </a:pPr>
            <a:r>
              <a:rPr sz="1200" b="1">
                <a:solidFill>
                  <a:srgbClr val="E0584D"/>
                </a:solidFill>
                <a:latin typeface="Calibri"/>
              </a:rPr>
              <a:t>Qué no hace</a:t>
            </a:r>
          </a:p>
          <a:p>
            <a:r>
              <a:rPr sz="1250" b="0">
                <a:solidFill>
                  <a:srgbClr val="22383F"/>
                </a:solidFill>
                <a:latin typeface="Calibri"/>
              </a:rPr>
              <a:t>No diagnostica ni recomienda tratamientos, y no guarda datos de la persona. La hora y el clima no son causa de la urticaria crónica espontánea: solo cambian la imagen, los colores y el texto de la cabecera.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6</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01 · HOME</a:t>
            </a:r>
          </a:p>
          <a:p>
            <a:r>
              <a:rPr sz="2000" b="1">
                <a:solidFill>
                  <a:srgbClr val="22383F"/>
                </a:solidFill>
                <a:latin typeface="Calibri"/>
              </a:rPr>
              <a:t>Cabecera · Mañana</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_manana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02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Titular: «¿Empiezas el día con comezón? Haz de la Urticaria la Parte Más Pequeña de tu Vida». Antes: «Empieza tu Día Libre de Comezón…»</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Texto: «Comenzar la mañana con ronchas o comezón puede afectar tu día. Un profesional de la salud puede valorar tus síntomas.»</a:t>
                      </a:r>
                    </a:p>
                  </a:txBody>
                  <a:tcPr marL="60000" marR="60000" marT="40000" marB="40000" anchor="t">
                    <a:solidFill>
                      <a:srgbClr val="F8FAF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7</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01 · HOME</a:t>
            </a:r>
          </a:p>
          <a:p>
            <a:r>
              <a:rPr sz="2000" b="1">
                <a:solidFill>
                  <a:srgbClr val="22383F"/>
                </a:solidFill>
                <a:latin typeface="Calibri"/>
              </a:rPr>
              <a:t>Cabecera · Tarde</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_tarde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78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Titular: «¿La comezón te interrumpe por la tarde? Haz de la Urticaria la Parte Más Pequeña de tu Vida»</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Texto: «Si la comezón interfiere con tu trabajo o tu rutina, un profesional de la salud puede valorar tus síntomas.»</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3</a:t>
                      </a:r>
                    </a:p>
                  </a:txBody>
                  <a:tcPr marL="60000" marR="60000" marT="40000" marB="40000" anchor="t">
                    <a:solidFill>
                      <a:srgbClr val="FFFFFF"/>
                    </a:solidFill>
                  </a:tcPr>
                </a:tc>
                <a:tc>
                  <a:txBody>
                    <a:bodyPr wrap="square"/>
                    <a:lstStyle/>
                    <a:p>
                      <a:r>
                        <a:rPr sz="1050" b="0">
                          <a:solidFill>
                            <a:srgbClr val="22383F"/>
                          </a:solidFill>
                          <a:latin typeface="Calibri"/>
                        </a:rPr>
                        <a:t>Botones: «Hacer el test orientativo» y «Encuentra a un especialista cerca de ti».</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4</a:t>
                      </a:r>
                    </a:p>
                  </a:txBody>
                  <a:tcPr marL="60000" marR="60000" marT="40000" marB="40000" anchor="t">
                    <a:solidFill>
                      <a:srgbClr val="F8FAFC"/>
                    </a:solidFill>
                  </a:tcPr>
                </a:tc>
                <a:tc>
                  <a:txBody>
                    <a:bodyPr wrap="square"/>
                    <a:lstStyle/>
                    <a:p>
                      <a:r>
                        <a:rPr sz="1050" b="0">
                          <a:solidFill>
                            <a:srgbClr val="22383F"/>
                          </a:solidFill>
                          <a:latin typeface="Calibri"/>
                        </a:rPr>
                        <a:t>Leyenda abajo a la derecha: «Imagen ilustrativa: no representa a una persona real.»</a:t>
                      </a:r>
                    </a:p>
                  </a:txBody>
                  <a:tcPr marL="60000" marR="60000" marT="40000" marB="40000" anchor="t">
                    <a:solidFill>
                      <a:srgbClr val="F8FAFC"/>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8</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01 · HOME</a:t>
            </a:r>
          </a:p>
          <a:p>
            <a:r>
              <a:rPr sz="2000" b="1">
                <a:solidFill>
                  <a:srgbClr val="22383F"/>
                </a:solidFill>
                <a:latin typeface="Calibri"/>
              </a:rPr>
              <a:t>Cabecera · Tarde con calor</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_calor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40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Titular: «Tarde de calor en [ciudad]: Haz de la Urticaria la Parte Más Pequeña de tu Vida». Antes: «Que el Calor de la Tarde No Detenga tu Día…»</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Texto: «Si tienes ronchas o comezón, conversa con un profesional de la salud.» Antes: «El calor sofocante de la tarde suele empeorar la hinchazón y las ronchas…»</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a:t>
                      </a:r>
                    </a:p>
                  </a:txBody>
                  <a:tcPr marL="60000" marR="60000" marT="40000" marB="40000" anchor="t">
                    <a:solidFill>
                      <a:srgbClr val="FFFFFF"/>
                    </a:solidFill>
                  </a:tcPr>
                </a:tc>
                <a:tc>
                  <a:txBody>
                    <a:bodyPr wrap="square"/>
                    <a:lstStyle/>
                    <a:p>
                      <a:r>
                        <a:rPr sz="1050" b="0">
                          <a:solidFill>
                            <a:srgbClr val="22383F"/>
                          </a:solidFill>
                          <a:latin typeface="Calibri"/>
                        </a:rPr>
                        <a:t>Opción para los asesores: agregar la línea «El clima no es la causa de la urticaria crónica espontánea».</a:t>
                      </a:r>
                    </a:p>
                  </a:txBody>
                  <a:tcPr marL="60000" marR="60000" marT="40000" marB="40000" anchor="t">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9</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01 · HOME</a:t>
            </a:r>
          </a:p>
          <a:p>
            <a:r>
              <a:rPr sz="2000" b="1">
                <a:solidFill>
                  <a:srgbClr val="22383F"/>
                </a:solidFill>
                <a:latin typeface="Calibri"/>
              </a:rPr>
              <a:t>Cabecera · Tarde con frío</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_frio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02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Titular: «Tarde fría en [ciudad]: Haz de la Urticaria la Parte Más Pequeña de tu Vida». Antes: «Protégete del Frío de la Tarde…»</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Texto: «Si tienes ronchas o comezón, conversa con un profesional de la salud.» Antes: «…la piel sensible puede reaccionar con mayor ardor. Descubre opciones de tratamiento médico aprobadas…»</a:t>
                      </a:r>
                    </a:p>
                  </a:txBody>
                  <a:tcPr marL="60000" marR="60000" marT="40000" marB="40000" anchor="t">
                    <a:solidFill>
                      <a:srgbClr val="F8FAFC"/>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10</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01 · HOME</a:t>
            </a:r>
          </a:p>
          <a:p>
            <a:r>
              <a:rPr sz="2000" b="1">
                <a:solidFill>
                  <a:srgbClr val="22383F"/>
                </a:solidFill>
                <a:latin typeface="Calibri"/>
              </a:rPr>
              <a:t>Cabecera · Noche y madrugada</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_noche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02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Titular: «¿La comezón no te deja dormir? Haz de la Urticaria la Parte Más Pequeña de tu Vida». La captura anterior mostraba un titular de la tarde con una foto de una persona durmiendo.</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Texto: «La comezón de noche puede afectar tu descanso. Anota cuándo aparece y conversa con un profesional de la salud.» Se quita la explicación de la histamina.</a:t>
                      </a:r>
                    </a:p>
                  </a:txBody>
                  <a:tcPr marL="60000" marR="60000" marT="40000" marB="40000" anchor="t">
                    <a:solidFill>
                      <a:srgbClr val="F8FAFC"/>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11</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01 · HOME</a:t>
            </a:r>
          </a:p>
          <a:p>
            <a:r>
              <a:rPr sz="2000" b="1">
                <a:solidFill>
                  <a:srgbClr val="22383F"/>
                </a:solidFill>
                <a:latin typeface="Calibri"/>
              </a:rPr>
              <a:t>Cabecera · Noche cálida</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_ncalida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02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Titular: «Noche calurosa en [ciudad]: ¿la comezón no te deja dormir?». La captura anterior mostraba el titular «Que el Calor de la Tarde No Detenga tu Día…» con una escena de noche.</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Texto: «Si la comezón afecta tu descanso, anota cuándo aparece y conversa con un profesional de la salud.»</a:t>
                      </a:r>
                    </a:p>
                  </a:txBody>
                  <a:tcPr marL="60000" marR="60000" marT="40000" marB="40000" anchor="t">
                    <a:solidFill>
                      <a:srgbClr val="F8FAFC"/>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12</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01 · HOME</a:t>
            </a:r>
          </a:p>
          <a:p>
            <a:r>
              <a:rPr sz="2000" b="1">
                <a:solidFill>
                  <a:srgbClr val="22383F"/>
                </a:solidFill>
                <a:latin typeface="Calibri"/>
              </a:rPr>
              <a:t>Cabecera · Otras variantes (calor, frío y ciudad)</a:t>
            </a:r>
          </a:p>
        </p:txBody>
      </p:sp>
      <p:graphicFrame>
        <p:nvGraphicFramePr>
          <p:cNvPr id="4" name="Table 3"/>
          <p:cNvGraphicFramePr>
            <a:graphicFrameLocks noGrp="1"/>
          </p:cNvGraphicFramePr>
          <p:nvPr/>
        </p:nvGraphicFramePr>
        <p:xfrm>
          <a:off x="355000" y="930000"/>
          <a:ext cx="11480000" cy="2160000"/>
        </p:xfrm>
        <a:graphic>
          <a:graphicData uri="http://schemas.openxmlformats.org/drawingml/2006/table">
            <a:tbl>
              <a:tblPr firstRow="1" bandRow="1">
                <a:tableStyleId>{5C22544A-7EE6-4342-B048-85BDC9FD1C3A}</a:tableStyleId>
              </a:tblPr>
              <a:tblGrid>
                <a:gridCol w="330000"/>
                <a:gridCol w="11150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200" b="1">
                          <a:solidFill>
                            <a:srgbClr val="E0584D"/>
                          </a:solidFill>
                          <a:latin typeface="Calibri"/>
                        </a:rPr>
                        <a:t>·</a:t>
                      </a:r>
                    </a:p>
                  </a:txBody>
                  <a:tcPr marL="60000" marR="60000" marT="40000" marB="40000" anchor="t">
                    <a:solidFill>
                      <a:srgbClr val="FFFFFF"/>
                    </a:solidFill>
                  </a:tcPr>
                </a:tc>
                <a:tc>
                  <a:txBody>
                    <a:bodyPr wrap="square"/>
                    <a:lstStyle/>
                    <a:p>
                      <a:r>
                        <a:rPr sz="1100" b="0">
                          <a:solidFill>
                            <a:srgbClr val="22383F"/>
                          </a:solidFill>
                          <a:latin typeface="Calibri"/>
                        </a:rPr>
                        <a:t>Mañana con calor · «Mañana de calor en [ciudad]: Haz de la Urticaria la Parte Más Pequeña de tu Vida». Texto: «Si tienes ronchas o comezón, conversa con un profesional de la salud.» Antes: «Afronta el Calor de la Mañana Sin Ronchas… las altas temperaturas matutinas ya están detonando ardor…»</a:t>
                      </a:r>
                    </a:p>
                  </a:txBody>
                  <a:tcPr marL="60000" marR="60000" marT="40000" marB="40000" anchor="t">
                    <a:solidFill>
                      <a:srgbClr val="FFFFFF"/>
                    </a:solidFill>
                  </a:tcPr>
                </a:tc>
              </a:tr>
              <a:tr h="380000">
                <a:tc>
                  <a:txBody>
                    <a:bodyPr wrap="square"/>
                    <a:lstStyle/>
                    <a:p>
                      <a:pPr algn="ctr"/>
                      <a:r>
                        <a:rPr sz="1200" b="1">
                          <a:solidFill>
                            <a:srgbClr val="E0584D"/>
                          </a:solidFill>
                          <a:latin typeface="Calibri"/>
                        </a:rPr>
                        <a:t>·</a:t>
                      </a:r>
                    </a:p>
                  </a:txBody>
                  <a:tcPr marL="60000" marR="60000" marT="40000" marB="40000" anchor="t">
                    <a:solidFill>
                      <a:srgbClr val="F8FAFC"/>
                    </a:solidFill>
                  </a:tcPr>
                </a:tc>
                <a:tc>
                  <a:txBody>
                    <a:bodyPr wrap="square"/>
                    <a:lstStyle/>
                    <a:p>
                      <a:r>
                        <a:rPr sz="1100" b="0">
                          <a:solidFill>
                            <a:srgbClr val="22383F"/>
                          </a:solidFill>
                          <a:latin typeface="Calibri"/>
                        </a:rPr>
                        <a:t>Mañana con frío · «Mañana fría en [ciudad]: Haz de la Urticaria la Parte Más Pequeña de tu Vida». Texto: «Si tienes ronchas o comezón, conversa con un profesional de la salud.» Antes: «…Te orientamos para identificar si tus brotes matutinos son Urticaria Crónica y cómo tratarlos.»</a:t>
                      </a:r>
                    </a:p>
                  </a:txBody>
                  <a:tcPr marL="60000" marR="60000" marT="40000" marB="40000" anchor="t">
                    <a:solidFill>
                      <a:srgbClr val="F8FAFC"/>
                    </a:solidFill>
                  </a:tcPr>
                </a:tc>
              </a:tr>
              <a:tr h="380000">
                <a:tc>
                  <a:txBody>
                    <a:bodyPr wrap="square"/>
                    <a:lstStyle/>
                    <a:p>
                      <a:pPr algn="ctr"/>
                      <a:r>
                        <a:rPr sz="1200" b="1">
                          <a:solidFill>
                            <a:srgbClr val="E0584D"/>
                          </a:solidFill>
                          <a:latin typeface="Calibri"/>
                        </a:rPr>
                        <a:t>·</a:t>
                      </a:r>
                    </a:p>
                  </a:txBody>
                  <a:tcPr marL="60000" marR="60000" marT="40000" marB="40000" anchor="t">
                    <a:solidFill>
                      <a:srgbClr val="FFFFFF"/>
                    </a:solidFill>
                  </a:tcPr>
                </a:tc>
                <a:tc>
                  <a:txBody>
                    <a:bodyPr wrap="square"/>
                    <a:lstStyle/>
                    <a:p>
                      <a:r>
                        <a:rPr sz="1100" b="0">
                          <a:solidFill>
                            <a:srgbClr val="22383F"/>
                          </a:solidFill>
                          <a:latin typeface="Calibri"/>
                        </a:rPr>
                        <a:t>Noche fría · «Noche fría en [ciudad]: Haz de la Urticaria la Parte Más Pequeña de tu Vida». Texto: «Si tienes ronchas o comezón, conversa con un profesional de la salud.» Antes: «Las bajas temperaturas nocturnas pueden aumentar la sensibilidad en tu piel y desencadenar picazón…»</a:t>
                      </a:r>
                    </a:p>
                  </a:txBody>
                  <a:tcPr marL="60000" marR="60000" marT="40000" marB="40000" anchor="t">
                    <a:solidFill>
                      <a:srgbClr val="FFFFFF"/>
                    </a:solidFill>
                  </a:tcPr>
                </a:tc>
              </a:tr>
              <a:tr h="380000">
                <a:tc>
                  <a:txBody>
                    <a:bodyPr wrap="square"/>
                    <a:lstStyle/>
                    <a:p>
                      <a:pPr algn="ctr"/>
                      <a:r>
                        <a:rPr sz="1200" b="1">
                          <a:solidFill>
                            <a:srgbClr val="E0584D"/>
                          </a:solidFill>
                          <a:latin typeface="Calibri"/>
                        </a:rPr>
                        <a:t>·</a:t>
                      </a:r>
                    </a:p>
                  </a:txBody>
                  <a:tcPr marL="60000" marR="60000" marT="40000" marB="40000" anchor="t">
                    <a:solidFill>
                      <a:srgbClr val="F8FAFC"/>
                    </a:solidFill>
                  </a:tcPr>
                </a:tc>
                <a:tc>
                  <a:txBody>
                    <a:bodyPr wrap="square"/>
                    <a:lstStyle/>
                    <a:p>
                      <a:r>
                        <a:rPr sz="1100" b="0">
                          <a:solidFill>
                            <a:srgbClr val="22383F"/>
                          </a:solidFill>
                          <a:latin typeface="Calibri"/>
                        </a:rPr>
                        <a:t>Calor con ciudad · «Calor en [ciudad]: Haz de las Ronchas la Parte Más Pequeña de tu Vida». Texto: «Si tienes ronchas o comezón, conversa con un profesional de la salud.» Antes: «…pueden intensificar la picazón y los habones. Te acompañamos a comprender tus brotes por calor…»</a:t>
                      </a:r>
                    </a:p>
                  </a:txBody>
                  <a:tcPr marL="60000" marR="60000" marT="40000" marB="40000" anchor="t">
                    <a:solidFill>
                      <a:srgbClr val="F8FAFC"/>
                    </a:solidFill>
                  </a:tcPr>
                </a:tc>
              </a:tr>
              <a:tr h="380000">
                <a:tc>
                  <a:txBody>
                    <a:bodyPr wrap="square"/>
                    <a:lstStyle/>
                    <a:p>
                      <a:pPr algn="ctr"/>
                      <a:r>
                        <a:rPr sz="1200" b="1">
                          <a:solidFill>
                            <a:srgbClr val="E0584D"/>
                          </a:solidFill>
                          <a:latin typeface="Calibri"/>
                        </a:rPr>
                        <a:t>·</a:t>
                      </a:r>
                    </a:p>
                  </a:txBody>
                  <a:tcPr marL="60000" marR="60000" marT="40000" marB="40000" anchor="t">
                    <a:solidFill>
                      <a:srgbClr val="FFFFFF"/>
                    </a:solidFill>
                  </a:tcPr>
                </a:tc>
                <a:tc>
                  <a:txBody>
                    <a:bodyPr wrap="square"/>
                    <a:lstStyle/>
                    <a:p>
                      <a:r>
                        <a:rPr sz="1100" b="0">
                          <a:solidFill>
                            <a:srgbClr val="22383F"/>
                          </a:solidFill>
                          <a:latin typeface="Calibri"/>
                        </a:rPr>
                        <a:t>Frío con ciudad · «Frío en [ciudad]: Haz de la Urticaria la Parte Más Pequeña de tu Vida». Texto: «Si tienes ronchas o comezón, conversa con un profesional de la salud.» Antes: «…pueden reactivar las ronchas y el ardor…»</a:t>
                      </a:r>
                    </a:p>
                  </a:txBody>
                  <a:tcPr marL="60000" marR="60000" marT="40000" marB="40000" anchor="t">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238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228600"/>
          </a:xfrm>
          <a:prstGeom prst="rect">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0000" y="800000"/>
            <a:ext cx="5600000" cy="3000000"/>
          </a:xfrm>
          <a:prstGeom prst="rect">
            <a:avLst/>
          </a:prstGeom>
          <a:noFill/>
        </p:spPr>
        <p:txBody>
          <a:bodyPr wrap="square" anchor="t" lIns="0" rIns="0" tIns="0" bIns="0">
            <a:spAutoFit/>
          </a:bodyPr>
          <a:lstStyle/>
          <a:p>
            <a:pPr>
              <a:spcAft>
                <a:spcPts val="400"/>
              </a:spcAft>
            </a:pPr>
            <a:r>
              <a:rPr sz="1300" b="1">
                <a:solidFill>
                  <a:srgbClr val="F0A69F"/>
                </a:solidFill>
                <a:latin typeface="Calibri"/>
              </a:rPr>
              <a:t>SECCIÓN 02</a:t>
            </a:r>
          </a:p>
          <a:p>
            <a:pPr>
              <a:spcAft>
                <a:spcPts val="600"/>
              </a:spcAft>
            </a:pPr>
            <a:r>
              <a:rPr sz="4000" b="1">
                <a:solidFill>
                  <a:srgbClr val="FFFFFF"/>
                </a:solidFill>
                <a:latin typeface="Calibri"/>
              </a:rPr>
              <a:t>SÍNTOMAS</a:t>
            </a:r>
          </a:p>
          <a:p>
            <a:pPr>
              <a:spcAft>
                <a:spcPts val="1600"/>
              </a:spcAft>
            </a:pPr>
            <a:r>
              <a:rPr sz="1300" b="0">
                <a:solidFill>
                  <a:srgbClr val="CBD5E1"/>
                </a:solidFill>
                <a:latin typeface="Calibri"/>
              </a:rPr>
              <a:t>masqueurticaria.org/sintomas/</a:t>
            </a:r>
          </a:p>
          <a:p>
            <a:r>
              <a:rPr sz="1500" b="0">
                <a:solidFill>
                  <a:srgbClr val="FFFFFF"/>
                </a:solidFill>
                <a:latin typeface="Calibri"/>
              </a:rPr>
              <a:t>La página que explica qué es la urticaria crónica espontánea y cómo se reconoce, sin diagnosticar.</a:t>
            </a:r>
          </a:p>
        </p:txBody>
      </p:sp>
      <p:sp>
        <p:nvSpPr>
          <p:cNvPr id="5" name="TextBox 4"/>
          <p:cNvSpPr txBox="1"/>
          <p:nvPr/>
        </p:nvSpPr>
        <p:spPr>
          <a:xfrm>
            <a:off x="7200000" y="800000"/>
            <a:ext cx="4500000" cy="3000000"/>
          </a:xfrm>
          <a:prstGeom prst="rect">
            <a:avLst/>
          </a:prstGeom>
          <a:noFill/>
        </p:spPr>
        <p:txBody>
          <a:bodyPr wrap="square" anchor="t" lIns="0" rIns="0" tIns="0" bIns="0">
            <a:spAutoFit/>
          </a:bodyPr>
          <a:lstStyle/>
          <a:p>
            <a:pPr>
              <a:spcAft>
                <a:spcPts val="600"/>
              </a:spcAft>
            </a:pPr>
            <a:r>
              <a:rPr sz="1300" b="1">
                <a:solidFill>
                  <a:srgbClr val="F0A69F"/>
                </a:solidFill>
                <a:latin typeface="Calibri"/>
              </a:rPr>
              <a:t>Qué incluye</a:t>
            </a:r>
          </a:p>
          <a:p>
            <a:pPr>
              <a:spcAft>
                <a:spcPts val="500"/>
              </a:spcAft>
            </a:pPr>
            <a:r>
              <a:rPr sz="1400" b="0">
                <a:solidFill>
                  <a:srgbClr val="FFFFFF"/>
                </a:solidFill>
                <a:latin typeface="Calibri"/>
              </a:rPr>
              <a:t>•  Encabezado</a:t>
            </a:r>
          </a:p>
          <a:p>
            <a:pPr>
              <a:spcAft>
                <a:spcPts val="500"/>
              </a:spcAft>
            </a:pPr>
            <a:r>
              <a:rPr sz="1400" b="0">
                <a:solidFill>
                  <a:srgbClr val="FFFFFF"/>
                </a:solidFill>
                <a:latin typeface="Calibri"/>
              </a:rPr>
              <a:t>•  Síntomas principales</a:t>
            </a:r>
          </a:p>
          <a:p>
            <a:pPr>
              <a:spcAft>
                <a:spcPts val="500"/>
              </a:spcAft>
            </a:pPr>
            <a:r>
              <a:rPr sz="1400" b="0">
                <a:solidFill>
                  <a:srgbClr val="FFFFFF"/>
                </a:solidFill>
                <a:latin typeface="Calibri"/>
              </a:rPr>
              <a:t>•  Diferencias con otros tipos de urticaria</a:t>
            </a:r>
          </a:p>
          <a:p>
            <a:pPr>
              <a:spcAft>
                <a:spcPts val="500"/>
              </a:spcAft>
            </a:pPr>
            <a:r>
              <a:rPr sz="1400" b="0">
                <a:solidFill>
                  <a:srgbClr val="FFFFFF"/>
                </a:solidFill>
                <a:latin typeface="Calibri"/>
              </a:rPr>
              <a:t>•  Guía visual</a:t>
            </a:r>
          </a:p>
          <a:p>
            <a:pPr>
              <a:spcAft>
                <a:spcPts val="500"/>
              </a:spcAft>
            </a:pPr>
            <a:r>
              <a:rPr sz="1400" b="0">
                <a:solidFill>
                  <a:srgbClr val="FFFFFF"/>
                </a:solidFill>
                <a:latin typeface="Calibri"/>
              </a:rPr>
              <a:t>•  Preguntas frecuentes</a:t>
            </a:r>
          </a:p>
          <a:p>
            <a:pPr>
              <a:spcAft>
                <a:spcPts val="500"/>
              </a:spcAft>
            </a:pPr>
            <a:r>
              <a:rPr sz="1400" b="0">
                <a:solidFill>
                  <a:srgbClr val="FFFFFF"/>
                </a:solidFill>
                <a:latin typeface="Calibri"/>
              </a:rPr>
              <a:t>•  Cierre y pie de página</a:t>
            </a:r>
          </a:p>
        </p:txBody>
      </p:sp>
      <p:sp>
        <p:nvSpPr>
          <p:cNvPr id="6" name="TextBox 5"/>
          <p:cNvSpPr txBox="1"/>
          <p:nvPr/>
        </p:nvSpPr>
        <p:spPr>
          <a:xfrm>
            <a:off x="1000000" y="3950000"/>
            <a:ext cx="6000000" cy="300000"/>
          </a:xfrm>
          <a:prstGeom prst="rect">
            <a:avLst/>
          </a:prstGeom>
          <a:noFill/>
        </p:spPr>
        <p:txBody>
          <a:bodyPr wrap="square" anchor="t" lIns="0" rIns="0" tIns="0" bIns="0">
            <a:spAutoFit/>
          </a:bodyPr>
          <a:lstStyle/>
          <a:p>
            <a:r>
              <a:rPr sz="1200" b="1">
                <a:solidFill>
                  <a:srgbClr val="F0A69F"/>
                </a:solidFill>
                <a:latin typeface="Calibri"/>
              </a:rPr>
              <a:t>Estás aquí en el mapa del sitio</a:t>
            </a:r>
          </a:p>
        </p:txBody>
      </p:sp>
      <p:sp>
        <p:nvSpPr>
          <p:cNvPr id="7" name="Rounded Rectangle 6"/>
          <p:cNvSpPr/>
          <p:nvPr/>
        </p:nvSpPr>
        <p:spPr>
          <a:xfrm>
            <a:off x="4600000" y="4300000"/>
            <a:ext cx="3000000" cy="420000"/>
          </a:xfrm>
          <a:prstGeom prst="roundRect">
            <a:avLst>
              <a:gd name="adj" fmla="val 12000"/>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200" b="1">
                <a:solidFill>
                  <a:srgbClr val="FFFFFF"/>
                </a:solidFill>
                <a:latin typeface="Calibri"/>
              </a:rPr>
              <a:t>masqueurticaria.org</a:t>
            </a:r>
          </a:p>
        </p:txBody>
      </p:sp>
      <p:cxnSp>
        <p:nvCxnSpPr>
          <p:cNvPr id="8" name="Connector 7"/>
          <p:cNvCxnSpPr/>
          <p:nvPr/>
        </p:nvCxnSpPr>
        <p:spPr>
          <a:xfrm>
            <a:off x="6100000" y="47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598125" y="4920000"/>
            <a:ext cx="9003750" cy="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5981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000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Inicio</a:t>
            </a:r>
          </a:p>
        </p:txBody>
      </p:sp>
      <p:cxnSp>
        <p:nvCxnSpPr>
          <p:cNvPr id="12" name="Connector 11"/>
          <p:cNvCxnSpPr/>
          <p:nvPr/>
        </p:nvCxnSpPr>
        <p:spPr>
          <a:xfrm>
            <a:off x="28843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2862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Recursos</a:t>
            </a:r>
          </a:p>
        </p:txBody>
      </p:sp>
      <p:cxnSp>
        <p:nvCxnSpPr>
          <p:cNvPr id="14" name="Connector 13"/>
          <p:cNvCxnSpPr/>
          <p:nvPr/>
        </p:nvCxnSpPr>
        <p:spPr>
          <a:xfrm>
            <a:off x="41706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72500" y="5120000"/>
            <a:ext cx="1196250" cy="430000"/>
          </a:xfrm>
          <a:prstGeom prst="roundRect">
            <a:avLst>
              <a:gd name="adj" fmla="val 12000"/>
            </a:avLst>
          </a:prstGeom>
          <a:solidFill>
            <a:srgbClr val="E0584D"/>
          </a:solidFill>
          <a:ln w="12700">
            <a:solidFill>
              <a:srgbClr val="E0584D"/>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Síntomas</a:t>
            </a:r>
          </a:p>
        </p:txBody>
      </p:sp>
      <p:cxnSp>
        <p:nvCxnSpPr>
          <p:cNvPr id="16" name="Connector 15"/>
          <p:cNvCxnSpPr/>
          <p:nvPr/>
        </p:nvCxnSpPr>
        <p:spPr>
          <a:xfrm>
            <a:off x="54568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8587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Tratamientos</a:t>
            </a:r>
          </a:p>
        </p:txBody>
      </p:sp>
      <p:cxnSp>
        <p:nvCxnSpPr>
          <p:cNvPr id="18" name="Connector 17"/>
          <p:cNvCxnSpPr/>
          <p:nvPr/>
        </p:nvCxnSpPr>
        <p:spPr>
          <a:xfrm>
            <a:off x="67431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450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Directorio médico</a:t>
            </a:r>
          </a:p>
        </p:txBody>
      </p:sp>
      <p:cxnSp>
        <p:nvCxnSpPr>
          <p:cNvPr id="20" name="Connector 19"/>
          <p:cNvCxnSpPr/>
          <p:nvPr/>
        </p:nvCxnSpPr>
        <p:spPr>
          <a:xfrm>
            <a:off x="80293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4312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Testimonios</a:t>
            </a:r>
          </a:p>
        </p:txBody>
      </p:sp>
      <p:cxnSp>
        <p:nvCxnSpPr>
          <p:cNvPr id="22" name="Connector 21"/>
          <p:cNvCxnSpPr/>
          <p:nvPr/>
        </p:nvCxnSpPr>
        <p:spPr>
          <a:xfrm>
            <a:off x="93156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7175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Blog</a:t>
            </a:r>
          </a:p>
        </p:txBody>
      </p:sp>
      <p:cxnSp>
        <p:nvCxnSpPr>
          <p:cNvPr id="24" name="Connector 23"/>
          <p:cNvCxnSpPr/>
          <p:nvPr/>
        </p:nvCxnSpPr>
        <p:spPr>
          <a:xfrm>
            <a:off x="106018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00037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Acerca 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14</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02 · SÍNTOMAS</a:t>
            </a:r>
          </a:p>
          <a:p>
            <a:r>
              <a:rPr sz="2000" b="1">
                <a:solidFill>
                  <a:srgbClr val="22383F"/>
                </a:solidFill>
                <a:latin typeface="Calibri"/>
              </a:rPr>
              <a:t>Encabezado de la página</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_head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78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Titular: «¿Comezón por la tarde? Conoce los síntomas de la urticaria crónica espontánea». Antes: «¿Picazón por la tarde? Conoce los síntomas y sus causas»</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Texto: «Llegar a la tarde con la piel irritada o con comezón puede dificultar tus actividades. Conocer los signos te ayuda a conversarlos con un profesional de la salud.»</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3</a:t>
                      </a:r>
                    </a:p>
                  </a:txBody>
                  <a:tcPr marL="60000" marR="60000" marT="40000" marB="40000" anchor="t">
                    <a:solidFill>
                      <a:srgbClr val="FFFFFF"/>
                    </a:solidFill>
                  </a:tcPr>
                </a:tc>
                <a:tc>
                  <a:txBody>
                    <a:bodyPr wrap="square"/>
                    <a:lstStyle/>
                    <a:p>
                      <a:r>
                        <a:rPr sz="1050" b="0">
                          <a:solidFill>
                            <a:srgbClr val="22383F"/>
                          </a:solidFill>
                          <a:latin typeface="Calibri"/>
                        </a:rPr>
                        <a:t>Botón «Hacer el test orientativo», con la nota «Este test no es un diagnóstico». Antes: «Comenzar Test de Síntomas»</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4</a:t>
                      </a:r>
                    </a:p>
                  </a:txBody>
                  <a:tcPr marL="60000" marR="60000" marT="40000" marB="40000" anchor="t">
                    <a:solidFill>
                      <a:srgbClr val="F8FAFC"/>
                    </a:solidFill>
                  </a:tcPr>
                </a:tc>
                <a:tc>
                  <a:txBody>
                    <a:bodyPr wrap="square"/>
                    <a:lstStyle/>
                    <a:p>
                      <a:r>
                        <a:rPr sz="1050" b="0">
                          <a:solidFill>
                            <a:srgbClr val="22383F"/>
                          </a:solidFill>
                          <a:latin typeface="Calibri"/>
                        </a:rPr>
                        <a:t>El índice queda con 4 secciones. Se elimina la de perfiles (mujeres, niños, hombres).</a:t>
                      </a:r>
                    </a:p>
                  </a:txBody>
                  <a:tcPr marL="60000" marR="60000" marT="40000" marB="40000" anchor="t">
                    <a:solidFill>
                      <a:srgbClr val="F8FAFC"/>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15</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02 · SÍNTOMAS</a:t>
            </a:r>
          </a:p>
          <a:p>
            <a:r>
              <a:rPr sz="2000" b="1">
                <a:solidFill>
                  <a:srgbClr val="22383F"/>
                </a:solidFill>
                <a:latin typeface="Calibri"/>
              </a:rPr>
              <a:t>Sección 01: síntomas principales</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_01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216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Intro: «La urticaria crónica espontánea se caracteriza por ronchas, hinchazón (angioedema) o ambas, que reaparecen durante más de seis semanas sin un desencadenante identificable. Solo un profesional de la salud puede diagnosticarla.»</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Ronchas (habones): elevaciones rojizas o rosadas en la piel que dan comezón. Irá con una imagen y el nombre debajo.</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3</a:t>
                      </a:r>
                    </a:p>
                  </a:txBody>
                  <a:tcPr marL="60000" marR="60000" marT="40000" marB="40000" anchor="t">
                    <a:solidFill>
                      <a:srgbClr val="FFFFFF"/>
                    </a:solidFill>
                  </a:tcPr>
                </a:tc>
                <a:tc>
                  <a:txBody>
                    <a:bodyPr wrap="square"/>
                    <a:lstStyle/>
                    <a:p>
                      <a:r>
                        <a:rPr sz="1050" b="0">
                          <a:solidFill>
                            <a:srgbClr val="22383F"/>
                          </a:solidFill>
                          <a:latin typeface="Calibri"/>
                        </a:rPr>
                        <a:t>Comezón: puede afectar las actividades diarias, el sueño y el trabajo. Antes: «sensación de prurito que puede interferir con el descanso y las actividades»</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4</a:t>
                      </a:r>
                    </a:p>
                  </a:txBody>
                  <a:tcPr marL="60000" marR="60000" marT="40000" marB="40000" anchor="t">
                    <a:solidFill>
                      <a:srgbClr val="F8FAFC"/>
                    </a:solidFill>
                  </a:tcPr>
                </a:tc>
                <a:tc>
                  <a:txBody>
                    <a:bodyPr wrap="square"/>
                    <a:lstStyle/>
                    <a:p>
                      <a:r>
                        <a:rPr sz="1050" b="0">
                          <a:solidFill>
                            <a:srgbClr val="22383F"/>
                          </a:solidFill>
                          <a:latin typeface="Calibri"/>
                        </a:rPr>
                        <a:t>Ardor: sensación de quemazón en la zona afectada. Antes: «sensación de quemazón, calor o dolor»</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5</a:t>
                      </a:r>
                    </a:p>
                  </a:txBody>
                  <a:tcPr marL="60000" marR="60000" marT="40000" marB="40000" anchor="t">
                    <a:solidFill>
                      <a:srgbClr val="FFFFFF"/>
                    </a:solidFill>
                  </a:tcPr>
                </a:tc>
                <a:tc>
                  <a:txBody>
                    <a:bodyPr wrap="square"/>
                    <a:lstStyle/>
                    <a:p>
                      <a:r>
                        <a:rPr sz="1050" b="0">
                          <a:solidFill>
                            <a:srgbClr val="22383F"/>
                          </a:solidFill>
                          <a:latin typeface="Calibri"/>
                        </a:rPr>
                        <a:t>Ronchas que cambian: cambian de forma, desaparecen y reaparecen en minutos u horas. Es poco común que una dure más de 48 horas. Antes: «menos de 24 horas»</a:t>
                      </a:r>
                    </a:p>
                  </a:txBody>
                  <a:tcPr marL="60000" marR="60000" marT="40000" marB="40000" anchor="t">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16</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02 · SÍNTOMAS</a:t>
            </a:r>
          </a:p>
          <a:p>
            <a:r>
              <a:rPr sz="2000" b="1">
                <a:solidFill>
                  <a:srgbClr val="22383F"/>
                </a:solidFill>
                <a:latin typeface="Calibri"/>
              </a:rPr>
              <a:t>Sección 02: diferencias con otros tipos de urticaria</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_02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78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Texto de apoyo: «Esta comparación es una orientación general. Solo un profesional de la salud puede determinar qué tipo de urticaria tienes.»</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Detonante. Crónica espontánea: «Aparece sin un desencadenante identificable». Inducible: «Se provoca por un estímulo físico específico», sin listar frío ni calor. Antes: «frío, calor, fricción o presión»</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3</a:t>
                      </a:r>
                    </a:p>
                  </a:txBody>
                  <a:tcPr marL="60000" marR="60000" marT="40000" marB="40000" anchor="t">
                    <a:solidFill>
                      <a:srgbClr val="FFFFFF"/>
                    </a:solidFill>
                  </a:tcPr>
                </a:tc>
                <a:tc>
                  <a:txBody>
                    <a:bodyPr wrap="square"/>
                    <a:lstStyle/>
                    <a:p>
                      <a:r>
                        <a:rPr sz="1050" b="0">
                          <a:solidFill>
                            <a:srgbClr val="22383F"/>
                          </a:solidFill>
                          <a:latin typeface="Calibri"/>
                        </a:rPr>
                        <a:t>Duración. Crónica espontánea: «Más de seis semanas, con ronchas que reaparecen». Aguda: menos de seis semanas.</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4</a:t>
                      </a:r>
                    </a:p>
                  </a:txBody>
                  <a:tcPr marL="60000" marR="60000" marT="40000" marB="40000" anchor="t">
                    <a:solidFill>
                      <a:srgbClr val="F8FAFC"/>
                    </a:solidFill>
                  </a:tcPr>
                </a:tc>
                <a:tc>
                  <a:txBody>
                    <a:bodyPr wrap="square"/>
                    <a:lstStyle/>
                    <a:p>
                      <a:r>
                        <a:rPr sz="1050" b="0">
                          <a:solidFill>
                            <a:srgbClr val="22383F"/>
                          </a:solidFill>
                          <a:latin typeface="Calibri"/>
                        </a:rPr>
                        <a:t>Evaluación: una sola frase en las tres columnas: «Solo un profesional de la salud puede determinar el tipo y el manejo».</a:t>
                      </a:r>
                    </a:p>
                  </a:txBody>
                  <a:tcPr marL="60000" marR="60000" marT="40000" marB="40000" anchor="t">
                    <a:solidFill>
                      <a:srgbClr val="F8FAFC"/>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17</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02 · SÍNTOMAS</a:t>
            </a:r>
          </a:p>
          <a:p>
            <a:r>
              <a:rPr sz="2000" b="1">
                <a:solidFill>
                  <a:srgbClr val="22383F"/>
                </a:solidFill>
                <a:latin typeface="Calibri"/>
              </a:rPr>
              <a:t>Sección 03: guía visual (y perfiles)</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_03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78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Ronchas (habones): una imagen con el nombre debajo, sin texto pequeño. Antes: «pueden aparecer en distintas partes del cuerpo y variar de tamaño»</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Hinchazón (angioedema): puede afectar párpados, labios, manos o pies. Si afecta la lengua o la garganta, o te cuesta respirar, llama a emergencias (911).</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a:t>
                      </a:r>
                    </a:p>
                  </a:txBody>
                  <a:tcPr marL="60000" marR="60000" marT="40000" marB="40000" anchor="t">
                    <a:solidFill>
                      <a:srgbClr val="FFFFFF"/>
                    </a:solidFill>
                  </a:tcPr>
                </a:tc>
                <a:tc>
                  <a:txBody>
                    <a:bodyPr wrap="square"/>
                    <a:lstStyle/>
                    <a:p>
                      <a:r>
                        <a:rPr sz="1050" b="0">
                          <a:solidFill>
                            <a:srgbClr val="22383F"/>
                          </a:solidFill>
                          <a:latin typeface="Calibri"/>
                        </a:rPr>
                        <a:t>Se retira la tarjeta «Reacción al roce». Decisión médica.</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a:t>
                      </a:r>
                    </a:p>
                  </a:txBody>
                  <a:tcPr marL="60000" marR="60000" marT="40000" marB="40000" anchor="t">
                    <a:solidFill>
                      <a:srgbClr val="F8FAFC"/>
                    </a:solidFill>
                  </a:tcPr>
                </a:tc>
                <a:tc>
                  <a:txBody>
                    <a:bodyPr wrap="square"/>
                    <a:lstStyle/>
                    <a:p>
                      <a:r>
                        <a:rPr sz="1050" b="0">
                          <a:solidFill>
                            <a:srgbClr val="22383F"/>
                          </a:solidFill>
                          <a:latin typeface="Calibri"/>
                        </a:rPr>
                        <a:t>Se elimina la sección «Síntomas en distintas etapas y perfiles» (Mujeres, Niños, Hombres).</a:t>
                      </a:r>
                    </a:p>
                  </a:txBody>
                  <a:tcPr marL="60000" marR="60000" marT="40000" marB="40000" anchor="t">
                    <a:solidFill>
                      <a:srgbClr val="F8FAFC"/>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18</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02 · SÍNTOMAS</a:t>
            </a:r>
          </a:p>
          <a:p>
            <a:r>
              <a:rPr sz="2000" b="1">
                <a:solidFill>
                  <a:srgbClr val="22383F"/>
                </a:solidFill>
                <a:latin typeface="Calibri"/>
              </a:rPr>
              <a:t>Preguntas frecuentes (desplegadas)</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_faq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216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a:t>
                      </a:r>
                    </a:p>
                  </a:txBody>
                  <a:tcPr marL="60000" marR="60000" marT="40000" marB="40000" anchor="t">
                    <a:solidFill>
                      <a:srgbClr val="FFFFFF"/>
                    </a:solidFill>
                  </a:tcPr>
                </a:tc>
                <a:tc>
                  <a:txBody>
                    <a:bodyPr wrap="square"/>
                    <a:lstStyle/>
                    <a:p>
                      <a:r>
                        <a:rPr sz="1050" b="0">
                          <a:solidFill>
                            <a:srgbClr val="22383F"/>
                          </a:solidFill>
                          <a:latin typeface="Calibri"/>
                        </a:rPr>
                        <a:t>Se elimina «¿Por qué la comezón empeora por la noche?» hasta tener una fuente confiable.</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8FAFC"/>
                    </a:solidFill>
                  </a:tcPr>
                </a:tc>
                <a:tc>
                  <a:txBody>
                    <a:bodyPr wrap="square"/>
                    <a:lstStyle/>
                    <a:p>
                      <a:r>
                        <a:rPr sz="1050" b="0">
                          <a:solidFill>
                            <a:srgbClr val="22383F"/>
                          </a:solidFill>
                          <a:latin typeface="Calibri"/>
                        </a:rPr>
                        <a:t>P: «¿El estrés causa la urticaria crónica espontánea?» R: «No se identifica un desencadenante en esta enfermedad. Vivir con ronchas y comezón sí puede generar estrés. Coméntalo con tu médico.» Antes: «¿El estrés puede causar los brotes?»</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FFFFF"/>
                    </a:solidFill>
                  </a:tcPr>
                </a:tc>
                <a:tc>
                  <a:txBody>
                    <a:bodyPr wrap="square"/>
                    <a:lstStyle/>
                    <a:p>
                      <a:r>
                        <a:rPr sz="1050" b="0">
                          <a:solidFill>
                            <a:srgbClr val="22383F"/>
                          </a:solidFill>
                          <a:latin typeface="Calibri"/>
                        </a:rPr>
                        <a:t>P: «¿Cuánto dura una roncha?» R: «Las ronchas cambian, desaparecen y reaparecen en minutos u horas; es poco común que una dure más de 48 horas. Si los síntomas duran más de seis semanas, se considera urticaria crónica.» Antes: «¿Cuánto dura un brote?»</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3</a:t>
                      </a:r>
                    </a:p>
                  </a:txBody>
                  <a:tcPr marL="60000" marR="60000" marT="40000" marB="40000" anchor="t">
                    <a:solidFill>
                      <a:srgbClr val="F8FAFC"/>
                    </a:solidFill>
                  </a:tcPr>
                </a:tc>
                <a:tc>
                  <a:txBody>
                    <a:bodyPr wrap="square"/>
                    <a:lstStyle/>
                    <a:p>
                      <a:r>
                        <a:rPr sz="1050" b="0">
                          <a:solidFill>
                            <a:srgbClr val="5A6A6D"/>
                          </a:solidFill>
                          <a:latin typeface="Calibri"/>
                        </a:rPr>
                        <a:t>Sin cambio: «¿La urticaria deja cicatrices?» No se afirma nada sobre cicatrices.</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4</a:t>
                      </a:r>
                    </a:p>
                  </a:txBody>
                  <a:tcPr marL="60000" marR="60000" marT="40000" marB="40000" anchor="t">
                    <a:solidFill>
                      <a:srgbClr val="FFFFFF"/>
                    </a:solidFill>
                  </a:tcPr>
                </a:tc>
                <a:tc>
                  <a:txBody>
                    <a:bodyPr wrap="square"/>
                    <a:lstStyle/>
                    <a:p>
                      <a:r>
                        <a:rPr sz="1050" b="0">
                          <a:solidFill>
                            <a:srgbClr val="5A6A6D"/>
                          </a:solidFill>
                          <a:latin typeface="Calibri"/>
                        </a:rPr>
                        <a:t>Sin cambio: «¿Es contagiosa?», pendiente de cita.</a:t>
                      </a:r>
                    </a:p>
                  </a:txBody>
                  <a:tcPr marL="60000" marR="60000" marT="40000" marB="40000" anchor="t">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19</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02 · SÍNTOMAS</a:t>
            </a:r>
          </a:p>
          <a:p>
            <a:r>
              <a:rPr sz="2000" b="1">
                <a:solidFill>
                  <a:srgbClr val="22383F"/>
                </a:solidFill>
                <a:latin typeface="Calibri"/>
              </a:rPr>
              <a:t>Cierre y pie de página</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_cierre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02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«Lleva un registro para tu próxima consulta. Anota cuándo aparecen las ronchas, su intensidad y cómo afectan tu día a día. Llegar a tu cita con tus síntomas anotados facilita que tu médico los valore.»</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Pie con: logotipo de Novartis y «Una iniciativa de Novartis Reimagining Medicine»; «Consulte a su médico»; «Recuerda: únicamente un profesional de la salud puede hacer un diagnóstico de esta enfermedad y sugerir un tratamiento específico»; ID de contenido; fecha de vigencia; «Imágenes ilustrativas: no corresponden a pacientes reales».</a:t>
                      </a:r>
                    </a:p>
                  </a:txBody>
                  <a:tcPr marL="60000" marR="60000" marT="40000" marB="40000" anchor="t">
                    <a:solidFill>
                      <a:srgbClr val="F8FAFC"/>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238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228600"/>
          </a:xfrm>
          <a:prstGeom prst="rect">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0000" y="800000"/>
            <a:ext cx="5600000" cy="3000000"/>
          </a:xfrm>
          <a:prstGeom prst="rect">
            <a:avLst/>
          </a:prstGeom>
          <a:noFill/>
        </p:spPr>
        <p:txBody>
          <a:bodyPr wrap="square" anchor="t" lIns="0" rIns="0" tIns="0" bIns="0">
            <a:spAutoFit/>
          </a:bodyPr>
          <a:lstStyle/>
          <a:p>
            <a:pPr>
              <a:spcAft>
                <a:spcPts val="400"/>
              </a:spcAft>
            </a:pPr>
            <a:r>
              <a:rPr sz="1300" b="1">
                <a:solidFill>
                  <a:srgbClr val="F0A69F"/>
                </a:solidFill>
                <a:latin typeface="Calibri"/>
              </a:rPr>
              <a:t>SECCIÓN 03</a:t>
            </a:r>
          </a:p>
          <a:p>
            <a:pPr>
              <a:spcAft>
                <a:spcPts val="600"/>
              </a:spcAft>
            </a:pPr>
            <a:r>
              <a:rPr sz="4000" b="1">
                <a:solidFill>
                  <a:srgbClr val="FFFFFF"/>
                </a:solidFill>
                <a:latin typeface="Calibri"/>
              </a:rPr>
              <a:t>TRATAMIENTOS</a:t>
            </a:r>
          </a:p>
          <a:p>
            <a:pPr>
              <a:spcAft>
                <a:spcPts val="1600"/>
              </a:spcAft>
            </a:pPr>
            <a:r>
              <a:rPr sz="1300" b="0">
                <a:solidFill>
                  <a:srgbClr val="CBD5E1"/>
                </a:solidFill>
                <a:latin typeface="Calibri"/>
              </a:rPr>
              <a:t>masqueurticaria.org/tratamiento/</a:t>
            </a:r>
          </a:p>
          <a:p>
            <a:r>
              <a:rPr sz="1500" b="0">
                <a:solidFill>
                  <a:srgbClr val="FFFFFF"/>
                </a:solidFill>
                <a:latin typeface="Calibri"/>
              </a:rPr>
              <a:t>La página que orienta hacia el médico. Se eliminan los medicamentos y los remedios, y se redirige al directorio.</a:t>
            </a:r>
          </a:p>
        </p:txBody>
      </p:sp>
      <p:sp>
        <p:nvSpPr>
          <p:cNvPr id="5" name="TextBox 4"/>
          <p:cNvSpPr txBox="1"/>
          <p:nvPr/>
        </p:nvSpPr>
        <p:spPr>
          <a:xfrm>
            <a:off x="7200000" y="800000"/>
            <a:ext cx="4500000" cy="3000000"/>
          </a:xfrm>
          <a:prstGeom prst="rect">
            <a:avLst/>
          </a:prstGeom>
          <a:noFill/>
        </p:spPr>
        <p:txBody>
          <a:bodyPr wrap="square" anchor="t" lIns="0" rIns="0" tIns="0" bIns="0">
            <a:spAutoFit/>
          </a:bodyPr>
          <a:lstStyle/>
          <a:p>
            <a:pPr>
              <a:spcAft>
                <a:spcPts val="600"/>
              </a:spcAft>
            </a:pPr>
            <a:r>
              <a:rPr sz="1300" b="1">
                <a:solidFill>
                  <a:srgbClr val="F0A69F"/>
                </a:solidFill>
                <a:latin typeface="Calibri"/>
              </a:rPr>
              <a:t>Qué incluye</a:t>
            </a:r>
          </a:p>
          <a:p>
            <a:pPr>
              <a:spcAft>
                <a:spcPts val="500"/>
              </a:spcAft>
            </a:pPr>
            <a:r>
              <a:rPr sz="1400" b="0">
                <a:solidFill>
                  <a:srgbClr val="FFFFFF"/>
                </a:solidFill>
                <a:latin typeface="Calibri"/>
              </a:rPr>
              <a:t>•  Encabezado</a:t>
            </a:r>
          </a:p>
          <a:p>
            <a:pPr>
              <a:spcAft>
                <a:spcPts val="500"/>
              </a:spcAft>
            </a:pPr>
            <a:r>
              <a:rPr sz="1400" b="0">
                <a:solidFill>
                  <a:srgbClr val="FFFFFF"/>
                </a:solidFill>
                <a:latin typeface="Calibri"/>
              </a:rPr>
              <a:t>•  Cómo se aborda y secciones que se eliminan</a:t>
            </a:r>
          </a:p>
          <a:p>
            <a:pPr>
              <a:spcAft>
                <a:spcPts val="500"/>
              </a:spcAft>
            </a:pPr>
            <a:r>
              <a:rPr sz="1400" b="0">
                <a:solidFill>
                  <a:srgbClr val="FFFFFF"/>
                </a:solidFill>
                <a:latin typeface="Calibri"/>
              </a:rPr>
              <a:t>•  Especialistas</a:t>
            </a:r>
          </a:p>
          <a:p>
            <a:pPr>
              <a:spcAft>
                <a:spcPts val="500"/>
              </a:spcAft>
            </a:pPr>
            <a:r>
              <a:rPr sz="1400" b="0">
                <a:solidFill>
                  <a:srgbClr val="FFFFFF"/>
                </a:solidFill>
                <a:latin typeface="Calibri"/>
              </a:rPr>
              <a:t>•  Preguntas frecuentes y cierre</a:t>
            </a:r>
          </a:p>
          <a:p>
            <a:pPr>
              <a:spcAft>
                <a:spcPts val="500"/>
              </a:spcAft>
            </a:pPr>
            <a:r>
              <a:rPr sz="1400" b="0">
                <a:solidFill>
                  <a:srgbClr val="FFFFFF"/>
                </a:solidFill>
                <a:latin typeface="Calibri"/>
              </a:rPr>
              <a:t>•  Pie de página y nota de diagnóstico</a:t>
            </a:r>
          </a:p>
        </p:txBody>
      </p:sp>
      <p:sp>
        <p:nvSpPr>
          <p:cNvPr id="6" name="TextBox 5"/>
          <p:cNvSpPr txBox="1"/>
          <p:nvPr/>
        </p:nvSpPr>
        <p:spPr>
          <a:xfrm>
            <a:off x="1000000" y="3950000"/>
            <a:ext cx="6000000" cy="300000"/>
          </a:xfrm>
          <a:prstGeom prst="rect">
            <a:avLst/>
          </a:prstGeom>
          <a:noFill/>
        </p:spPr>
        <p:txBody>
          <a:bodyPr wrap="square" anchor="t" lIns="0" rIns="0" tIns="0" bIns="0">
            <a:spAutoFit/>
          </a:bodyPr>
          <a:lstStyle/>
          <a:p>
            <a:r>
              <a:rPr sz="1200" b="1">
                <a:solidFill>
                  <a:srgbClr val="F0A69F"/>
                </a:solidFill>
                <a:latin typeface="Calibri"/>
              </a:rPr>
              <a:t>Estás aquí en el mapa del sitio</a:t>
            </a:r>
          </a:p>
        </p:txBody>
      </p:sp>
      <p:sp>
        <p:nvSpPr>
          <p:cNvPr id="7" name="Rounded Rectangle 6"/>
          <p:cNvSpPr/>
          <p:nvPr/>
        </p:nvSpPr>
        <p:spPr>
          <a:xfrm>
            <a:off x="4600000" y="4300000"/>
            <a:ext cx="3000000" cy="420000"/>
          </a:xfrm>
          <a:prstGeom prst="roundRect">
            <a:avLst>
              <a:gd name="adj" fmla="val 12000"/>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200" b="1">
                <a:solidFill>
                  <a:srgbClr val="FFFFFF"/>
                </a:solidFill>
                <a:latin typeface="Calibri"/>
              </a:rPr>
              <a:t>masqueurticaria.org</a:t>
            </a:r>
          </a:p>
        </p:txBody>
      </p:sp>
      <p:cxnSp>
        <p:nvCxnSpPr>
          <p:cNvPr id="8" name="Connector 7"/>
          <p:cNvCxnSpPr/>
          <p:nvPr/>
        </p:nvCxnSpPr>
        <p:spPr>
          <a:xfrm>
            <a:off x="6100000" y="47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598125" y="4920000"/>
            <a:ext cx="9003750" cy="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5981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000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Inicio</a:t>
            </a:r>
          </a:p>
        </p:txBody>
      </p:sp>
      <p:cxnSp>
        <p:nvCxnSpPr>
          <p:cNvPr id="12" name="Connector 11"/>
          <p:cNvCxnSpPr/>
          <p:nvPr/>
        </p:nvCxnSpPr>
        <p:spPr>
          <a:xfrm>
            <a:off x="28843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2862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Recursos</a:t>
            </a:r>
          </a:p>
        </p:txBody>
      </p:sp>
      <p:cxnSp>
        <p:nvCxnSpPr>
          <p:cNvPr id="14" name="Connector 13"/>
          <p:cNvCxnSpPr/>
          <p:nvPr/>
        </p:nvCxnSpPr>
        <p:spPr>
          <a:xfrm>
            <a:off x="41706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725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Síntomas</a:t>
            </a:r>
          </a:p>
        </p:txBody>
      </p:sp>
      <p:cxnSp>
        <p:nvCxnSpPr>
          <p:cNvPr id="16" name="Connector 15"/>
          <p:cNvCxnSpPr/>
          <p:nvPr/>
        </p:nvCxnSpPr>
        <p:spPr>
          <a:xfrm>
            <a:off x="54568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858750" y="5120000"/>
            <a:ext cx="1196250" cy="430000"/>
          </a:xfrm>
          <a:prstGeom prst="roundRect">
            <a:avLst>
              <a:gd name="adj" fmla="val 12000"/>
            </a:avLst>
          </a:prstGeom>
          <a:solidFill>
            <a:srgbClr val="E0584D"/>
          </a:solidFill>
          <a:ln w="12700">
            <a:solidFill>
              <a:srgbClr val="E0584D"/>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Tratamientos</a:t>
            </a:r>
          </a:p>
        </p:txBody>
      </p:sp>
      <p:cxnSp>
        <p:nvCxnSpPr>
          <p:cNvPr id="18" name="Connector 17"/>
          <p:cNvCxnSpPr/>
          <p:nvPr/>
        </p:nvCxnSpPr>
        <p:spPr>
          <a:xfrm>
            <a:off x="67431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450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Directorio médico</a:t>
            </a:r>
          </a:p>
        </p:txBody>
      </p:sp>
      <p:cxnSp>
        <p:nvCxnSpPr>
          <p:cNvPr id="20" name="Connector 19"/>
          <p:cNvCxnSpPr/>
          <p:nvPr/>
        </p:nvCxnSpPr>
        <p:spPr>
          <a:xfrm>
            <a:off x="80293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4312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Testimonios</a:t>
            </a:r>
          </a:p>
        </p:txBody>
      </p:sp>
      <p:cxnSp>
        <p:nvCxnSpPr>
          <p:cNvPr id="22" name="Connector 21"/>
          <p:cNvCxnSpPr/>
          <p:nvPr/>
        </p:nvCxnSpPr>
        <p:spPr>
          <a:xfrm>
            <a:off x="93156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7175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Blog</a:t>
            </a:r>
          </a:p>
        </p:txBody>
      </p:sp>
      <p:cxnSp>
        <p:nvCxnSpPr>
          <p:cNvPr id="24" name="Connector 23"/>
          <p:cNvCxnSpPr/>
          <p:nvPr/>
        </p:nvCxnSpPr>
        <p:spPr>
          <a:xfrm>
            <a:off x="106018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00037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Acerca 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21</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03 · TRATAMIENTOS</a:t>
            </a:r>
          </a:p>
          <a:p>
            <a:r>
              <a:rPr sz="2000" b="1">
                <a:solidFill>
                  <a:srgbClr val="22383F"/>
                </a:solidFill>
                <a:latin typeface="Calibri"/>
              </a:rPr>
              <a:t>Encabezado de la página</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_head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78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Titular: «¿La comezón de la tarde interfiere con tus actividades? Habla con tu médico sobre tu tratamiento». Antes: «…Opciones de tratamiento para mantener el control»</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Texto: «La comezón puede afectar tu vida personal y laboral. Un profesional de la salud puede valorar tu caso y orientarte sobre el tratamiento.» Se quita la promesa «te devolverán la concentración».</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3</a:t>
                      </a:r>
                    </a:p>
                  </a:txBody>
                  <a:tcPr marL="60000" marR="60000" marT="40000" marB="40000" anchor="t">
                    <a:solidFill>
                      <a:srgbClr val="FFFFFF"/>
                    </a:solidFill>
                  </a:tcPr>
                </a:tc>
                <a:tc>
                  <a:txBody>
                    <a:bodyPr wrap="square"/>
                    <a:lstStyle/>
                    <a:p>
                      <a:r>
                        <a:rPr sz="1050" b="0">
                          <a:solidFill>
                            <a:srgbClr val="22383F"/>
                          </a:solidFill>
                          <a:latin typeface="Calibri"/>
                        </a:rPr>
                        <a:t>Botón «Encuentra a un especialista cerca de ti». Antes: «Buscar Especialista»</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4</a:t>
                      </a:r>
                    </a:p>
                  </a:txBody>
                  <a:tcPr marL="60000" marR="60000" marT="40000" marB="40000" anchor="t">
                    <a:solidFill>
                      <a:srgbClr val="F8FAFC"/>
                    </a:solidFill>
                  </a:tcPr>
                </a:tc>
                <a:tc>
                  <a:txBody>
                    <a:bodyPr wrap="square"/>
                    <a:lstStyle/>
                    <a:p>
                      <a:r>
                        <a:rPr sz="1050" b="0">
                          <a:solidFill>
                            <a:srgbClr val="22383F"/>
                          </a:solidFill>
                          <a:latin typeface="Calibri"/>
                        </a:rPr>
                        <a:t>El índice queda con 3 secciones: «¿Cómo se aborda…?», «¿Con qué especialista puedo hablar?» y «Preguntas frecuentes».</a:t>
                      </a:r>
                    </a:p>
                  </a:txBody>
                  <a:tcPr marL="60000" marR="60000" marT="40000" marB="40000" anchor="t">
                    <a:solidFill>
                      <a:srgbClr val="F8FAFC"/>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22</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03 · TRATAMIENTOS</a:t>
            </a:r>
          </a:p>
          <a:p>
            <a:r>
              <a:rPr sz="2000" b="1">
                <a:solidFill>
                  <a:srgbClr val="22383F"/>
                </a:solidFill>
                <a:latin typeface="Calibri"/>
              </a:rPr>
              <a:t>Cómo se aborda (y secciones que se eliminan)</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_01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216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Sección 01: «Un profesional de la salud puede valorar tus síntomas y tu historial para indicarte el manejo adecuado. No empieces, cambies ni suspendas ningún medicamento sin hablar con tu médico.»</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a:t>
                      </a:r>
                    </a:p>
                  </a:txBody>
                  <a:tcPr marL="60000" marR="60000" marT="40000" marB="40000" anchor="t">
                    <a:solidFill>
                      <a:srgbClr val="F8FAFC"/>
                    </a:solidFill>
                  </a:tcPr>
                </a:tc>
                <a:tc>
                  <a:txBody>
                    <a:bodyPr wrap="square"/>
                    <a:lstStyle/>
                    <a:p>
                      <a:r>
                        <a:rPr sz="1050" b="0">
                          <a:solidFill>
                            <a:srgbClr val="22383F"/>
                          </a:solidFill>
                          <a:latin typeface="Calibri"/>
                        </a:rPr>
                        <a:t>Se elimina «¿Qué ocurre durante un brote?» (mastocitos e histamina). Si los asesores quieren conservarla, iría como una frase con cita aprobada.</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a:t>
                      </a:r>
                    </a:p>
                  </a:txBody>
                  <a:tcPr marL="60000" marR="60000" marT="40000" marB="40000" anchor="t">
                    <a:solidFill>
                      <a:srgbClr val="FFFFFF"/>
                    </a:solidFill>
                  </a:tcPr>
                </a:tc>
                <a:tc>
                  <a:txBody>
                    <a:bodyPr wrap="square"/>
                    <a:lstStyle/>
                    <a:p>
                      <a:r>
                        <a:rPr sz="1050" b="0">
                          <a:solidFill>
                            <a:srgbClr val="22383F"/>
                          </a:solidFill>
                          <a:latin typeface="Calibri"/>
                        </a:rPr>
                        <a:t>Se elimina la sección «Opciones de medicamento» completa (Antihistamínicos, Corticoides, Otras opciones, Terapias dirigidas).</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a:t>
                      </a:r>
                    </a:p>
                  </a:txBody>
                  <a:tcPr marL="60000" marR="60000" marT="40000" marB="40000" anchor="t">
                    <a:solidFill>
                      <a:srgbClr val="F8FAFC"/>
                    </a:solidFill>
                  </a:tcPr>
                </a:tc>
                <a:tc>
                  <a:txBody>
                    <a:bodyPr wrap="square"/>
                    <a:lstStyle/>
                    <a:p>
                      <a:r>
                        <a:rPr sz="1050" b="0">
                          <a:solidFill>
                            <a:srgbClr val="22383F"/>
                          </a:solidFill>
                          <a:latin typeface="Calibri"/>
                        </a:rPr>
                        <a:t>Opcional, solo si Novartis y los médicos lo aprueban: «Los antihistamínicos de segunda generación se consideran el tratamiento inicial de la urticaria crónica espontánea. Tu médico decide cuál, a qué dosis y por cuánto tiempo.»</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a:t>
                      </a:r>
                    </a:p>
                  </a:txBody>
                  <a:tcPr marL="60000" marR="60000" marT="40000" marB="40000" anchor="t">
                    <a:solidFill>
                      <a:srgbClr val="FFFFFF"/>
                    </a:solidFill>
                  </a:tcPr>
                </a:tc>
                <a:tc>
                  <a:txBody>
                    <a:bodyPr wrap="square"/>
                    <a:lstStyle/>
                    <a:p>
                      <a:r>
                        <a:rPr sz="1050" b="0">
                          <a:solidFill>
                            <a:srgbClr val="22383F"/>
                          </a:solidFill>
                          <a:latin typeface="Calibri"/>
                        </a:rPr>
                        <a:t>Se elimina la sección «Medidas cotidianas y remedios» (compresas, ropa holgada, medicamentos sin receta o cremas, remedios caseros, dietas restrictivas).</a:t>
                      </a:r>
                    </a:p>
                  </a:txBody>
                  <a:tcPr marL="60000" marR="60000" marT="40000" marB="40000" anchor="t">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23</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03 · TRATAMIENTOS</a:t>
            </a:r>
          </a:p>
          <a:p>
            <a:r>
              <a:rPr sz="2000" b="1">
                <a:solidFill>
                  <a:srgbClr val="22383F"/>
                </a:solidFill>
                <a:latin typeface="Calibri"/>
              </a:rPr>
              <a:t>Especialistas</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_esp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40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«Un alergólogo o dermatólogo certificado puede valorar tus síntomas y orientarte sobre los siguientes pasos.» Antes: «Un dermatólogo o alergólogo puede valorar…»</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Se quitan las tarjetas «Dermatología» y «Alergología e inmunología». Queda un enlace directo: «Encuentra a un especialista cerca de ti».</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a:t>
                      </a:r>
                    </a:p>
                  </a:txBody>
                  <a:tcPr marL="60000" marR="60000" marT="40000" marB="40000" anchor="t">
                    <a:solidFill>
                      <a:srgbClr val="FFFFFF"/>
                    </a:solidFill>
                  </a:tcPr>
                </a:tc>
                <a:tc>
                  <a:txBody>
                    <a:bodyPr wrap="square"/>
                    <a:lstStyle/>
                    <a:p>
                      <a:r>
                        <a:rPr sz="1050" b="0">
                          <a:solidFill>
                            <a:srgbClr val="22383F"/>
                          </a:solidFill>
                          <a:latin typeface="Calibri"/>
                        </a:rPr>
                        <a:t>Letras pequeñas al pie de la sección: se quitan solo si Legal confirma que no son obligatorias.</a:t>
                      </a:r>
                    </a:p>
                  </a:txBody>
                  <a:tcPr marL="60000" marR="60000" marT="40000" marB="40000" anchor="t">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24</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03 · TRATAMIENTOS</a:t>
            </a:r>
          </a:p>
          <a:p>
            <a:r>
              <a:rPr sz="2000" b="1">
                <a:solidFill>
                  <a:srgbClr val="22383F"/>
                </a:solidFill>
                <a:latin typeface="Calibri"/>
              </a:rPr>
              <a:t>Preguntas frecuentes y cierre</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_faq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40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a:t>
                      </a:r>
                    </a:p>
                  </a:txBody>
                  <a:tcPr marL="60000" marR="60000" marT="40000" marB="40000" anchor="t">
                    <a:solidFill>
                      <a:srgbClr val="FFFFFF"/>
                    </a:solidFill>
                  </a:tcPr>
                </a:tc>
                <a:tc>
                  <a:txBody>
                    <a:bodyPr wrap="square"/>
                    <a:lstStyle/>
                    <a:p>
                      <a:r>
                        <a:rPr sz="1050" b="0">
                          <a:solidFill>
                            <a:srgbClr val="22383F"/>
                          </a:solidFill>
                          <a:latin typeface="Calibri"/>
                        </a:rPr>
                        <a:t>Se eliminan «¿Puedo tomar antihistamínicos sin consultar?» y «¿Por qué debo conversar sobre los corticoides?».</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8FAFC"/>
                    </a:solidFill>
                  </a:tcPr>
                </a:tc>
                <a:tc>
                  <a:txBody>
                    <a:bodyPr wrap="square"/>
                    <a:lstStyle/>
                    <a:p>
                      <a:r>
                        <a:rPr sz="1050" b="0">
                          <a:solidFill>
                            <a:srgbClr val="22383F"/>
                          </a:solidFill>
                          <a:latin typeface="Calibri"/>
                        </a:rPr>
                        <a:t>«¿Cuánto durará mi tratamiento?»: «Lo define tu médico según tu caso. No suspendas ni cambies tu tratamiento sin hablar con él.» Antes: «¿Cuánto tiempo debo tomar el medicamento?». Se puede eliminar.</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FFFFF"/>
                    </a:solidFill>
                  </a:tcPr>
                </a:tc>
                <a:tc>
                  <a:txBody>
                    <a:bodyPr wrap="square"/>
                    <a:lstStyle/>
                    <a:p>
                      <a:r>
                        <a:rPr sz="1050" b="0">
                          <a:solidFill>
                            <a:srgbClr val="22383F"/>
                          </a:solidFill>
                          <a:latin typeface="Calibri"/>
                        </a:rPr>
                        <a:t>Cierre: «Visita a tu médico. Prepara tus preguntas y conversa con un profesional de la salud sobre tu tratamiento.» Botón «Encuentra a un especialista cerca de ti».</a:t>
                      </a:r>
                    </a:p>
                  </a:txBody>
                  <a:tcPr marL="60000" marR="60000" marT="40000" marB="40000" anchor="t">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25</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03 · TRATAMIENTOS</a:t>
            </a:r>
          </a:p>
          <a:p>
            <a:r>
              <a:rPr sz="2000" b="1">
                <a:solidFill>
                  <a:srgbClr val="22383F"/>
                </a:solidFill>
                <a:latin typeface="Calibri"/>
              </a:rPr>
              <a:t>Pie de página y nota de diagnóstico</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_pie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02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La nota «Recuerda: únicamente un profesional de la salud puede hacer un diagnóstico de esta enfermedad y sugerir un tratamiento específico» aparece en cada sección donde se hable de tratamiento.</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Pie con logotipo, «una iniciativa de Novartis Reimagining Medicine», «Consulte a su médico», ID de contenido, vigencia y leyenda de imágenes. Antes: letras pequeñas y «Sitio desarrollado con el patrocinio de Novartis».</a:t>
                      </a:r>
                    </a:p>
                  </a:txBody>
                  <a:tcPr marL="60000" marR="60000" marT="40000" marB="40000" anchor="t">
                    <a:solidFill>
                      <a:srgbClr val="F8FAFC"/>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26</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FUENTES</a:t>
            </a:r>
          </a:p>
          <a:p>
            <a:r>
              <a:rPr sz="2000" b="1">
                <a:solidFill>
                  <a:srgbClr val="22383F"/>
                </a:solidFill>
                <a:latin typeface="Calibri"/>
              </a:rPr>
              <a:t>Referencias y citas textuales</a:t>
            </a:r>
          </a:p>
        </p:txBody>
      </p:sp>
      <p:sp>
        <p:nvSpPr>
          <p:cNvPr id="4" name="TextBox 3"/>
          <p:cNvSpPr txBox="1"/>
          <p:nvPr/>
        </p:nvSpPr>
        <p:spPr>
          <a:xfrm>
            <a:off x="355000" y="930000"/>
            <a:ext cx="11500000" cy="2560000"/>
          </a:xfrm>
          <a:prstGeom prst="rect">
            <a:avLst/>
          </a:prstGeom>
          <a:noFill/>
        </p:spPr>
        <p:txBody>
          <a:bodyPr wrap="square" anchor="t" lIns="0" rIns="0" tIns="0" bIns="0">
            <a:spAutoFit/>
          </a:bodyPr>
          <a:lstStyle/>
          <a:p>
            <a:pPr>
              <a:spcAft>
                <a:spcPts val="400"/>
              </a:spcAft>
            </a:pPr>
            <a:r>
              <a:rPr sz="1200" b="1">
                <a:solidFill>
                  <a:srgbClr val="E0584D"/>
                </a:solidFill>
                <a:latin typeface="Calibri"/>
              </a:rPr>
              <a:t>[1] </a:t>
            </a:r>
            <a:r>
              <a:rPr sz="1100" b="0">
                <a:solidFill>
                  <a:srgbClr val="22383F"/>
                </a:solidFill>
                <a:latin typeface="Calibri"/>
              </a:rPr>
              <a:t>Tbakhi, B., Ware, K., Park, H.-S., Bernstein, J. S. y Bernstein, J. A. (2025). An overview of chronic spontaneous urticaria: Diagnosis, management, and treatment. Allergy, Asthma &amp; Immunology Research, 17(5). https://doi.org/10.4168/aair.2025.17.5.531 (acceso abierto en PubMed Central, PMC12511800).</a:t>
            </a:r>
          </a:p>
          <a:p>
            <a:pPr>
              <a:spcAft>
                <a:spcPts val="200"/>
              </a:spcAft>
            </a:pPr>
            <a:r>
              <a:rPr sz="1050" b="0">
                <a:solidFill>
                  <a:srgbClr val="5A6A6D"/>
                </a:solidFill>
                <a:latin typeface="Calibri"/>
              </a:rPr>
              <a:t>•  «characterized by recurrent pruritic wheals, angioedema, or both lasting over six weeks» (el pasaje define la urticaria crónica en general).</a:t>
            </a:r>
          </a:p>
          <a:p>
            <a:pPr>
              <a:spcAft>
                <a:spcPts val="200"/>
              </a:spcAft>
            </a:pPr>
            <a:r>
              <a:rPr sz="1050" b="0">
                <a:solidFill>
                  <a:srgbClr val="5A6A6D"/>
                </a:solidFill>
                <a:latin typeface="Calibri"/>
              </a:rPr>
              <a:t>•  CSU «arises without an identifiable reproducible trigger».</a:t>
            </a:r>
          </a:p>
          <a:p>
            <a:pPr>
              <a:spcAft>
                <a:spcPts val="200"/>
              </a:spcAft>
            </a:pPr>
            <a:r>
              <a:rPr sz="1050" b="0">
                <a:solidFill>
                  <a:srgbClr val="5A6A6D"/>
                </a:solidFill>
                <a:latin typeface="Calibri"/>
              </a:rPr>
              <a:t>•  «can significantly affect life functionality, including daily activities, sleep quality, and work performance».</a:t>
            </a:r>
          </a:p>
          <a:p>
            <a:pPr>
              <a:spcAft>
                <a:spcPts val="200"/>
              </a:spcAft>
            </a:pPr>
            <a:r>
              <a:rPr sz="1050" b="0">
                <a:solidFill>
                  <a:srgbClr val="5A6A6D"/>
                </a:solidFill>
                <a:latin typeface="Calibri"/>
              </a:rPr>
              <a:t>•  «Psychological stress for patients often stems from CSU’s variable range of symptom manifestations».</a:t>
            </a:r>
          </a:p>
          <a:p>
            <a:pPr>
              <a:spcAft>
                <a:spcPts val="200"/>
              </a:spcAft>
            </a:pPr>
            <a:r>
              <a:rPr sz="1050" b="0">
                <a:solidFill>
                  <a:srgbClr val="5A6A6D"/>
                </a:solidFill>
                <a:latin typeface="Calibri"/>
              </a:rPr>
              <a:t>•  Urticaria inducible: los estímulos «can include heat, cholinergic, scratching (dermatographism), cold, solar, vibratory, and pressure».</a:t>
            </a:r>
          </a:p>
          <a:p>
            <a:pPr>
              <a:spcAft>
                <a:spcPts val="200"/>
              </a:spcAft>
            </a:pPr>
            <a:r>
              <a:rPr sz="1050" b="0">
                <a:solidFill>
                  <a:srgbClr val="5A6A6D"/>
                </a:solidFill>
                <a:latin typeface="Calibri"/>
              </a:rPr>
              <a:t>•  «Second-generation antihistamines remain the cornerstone of first-line therapy for CSU».</a:t>
            </a:r>
          </a:p>
        </p:txBody>
      </p:sp>
      <p:sp>
        <p:nvSpPr>
          <p:cNvPr id="5" name="TextBox 4"/>
          <p:cNvSpPr txBox="1"/>
          <p:nvPr/>
        </p:nvSpPr>
        <p:spPr>
          <a:xfrm>
            <a:off x="355000" y="3610000"/>
            <a:ext cx="11500000" cy="2090000"/>
          </a:xfrm>
          <a:prstGeom prst="rect">
            <a:avLst/>
          </a:prstGeom>
          <a:noFill/>
        </p:spPr>
        <p:txBody>
          <a:bodyPr wrap="square" anchor="t" lIns="0" rIns="0" tIns="0" bIns="0">
            <a:spAutoFit/>
          </a:bodyPr>
          <a:lstStyle/>
          <a:p>
            <a:pPr>
              <a:spcAft>
                <a:spcPts val="400"/>
              </a:spcAft>
            </a:pPr>
            <a:r>
              <a:rPr sz="1200" b="1">
                <a:solidFill>
                  <a:srgbClr val="E0584D"/>
                </a:solidFill>
                <a:latin typeface="Calibri"/>
              </a:rPr>
              <a:t>[2] </a:t>
            </a:r>
            <a:r>
              <a:rPr sz="1100" b="0">
                <a:solidFill>
                  <a:srgbClr val="22383F"/>
                </a:solidFill>
                <a:latin typeface="Calibri"/>
              </a:rPr>
              <a:t>MedlinePlus. (2025). Hives. U.S. National Library of Medicine. Revisado el 1 de abril de 2025 por E. Hoss, MD (Mayo Clinic). https://medlineplus.gov/ency/article/000845.htm</a:t>
            </a:r>
          </a:p>
          <a:p>
            <a:pPr>
              <a:spcAft>
                <a:spcPts val="200"/>
              </a:spcAft>
            </a:pPr>
            <a:r>
              <a:rPr sz="1050" b="0">
                <a:solidFill>
                  <a:srgbClr val="5A6A6D"/>
                </a:solidFill>
                <a:latin typeface="Calibri"/>
              </a:rPr>
              <a:t>•  «Wheals often change shape, disappear, and reappear within minutes or hours».</a:t>
            </a:r>
          </a:p>
          <a:p>
            <a:pPr>
              <a:spcAft>
                <a:spcPts val="200"/>
              </a:spcAft>
            </a:pPr>
            <a:r>
              <a:rPr sz="1050" b="0">
                <a:solidFill>
                  <a:srgbClr val="5A6A6D"/>
                </a:solidFill>
                <a:latin typeface="Calibri"/>
              </a:rPr>
              <a:t>•  «It is unusual for a wheal to last more than 48 hours».</a:t>
            </a:r>
          </a:p>
          <a:p>
            <a:pPr>
              <a:spcAft>
                <a:spcPts val="200"/>
              </a:spcAft>
            </a:pPr>
            <a:r>
              <a:rPr sz="1050" b="0">
                <a:solidFill>
                  <a:srgbClr val="5A6A6D"/>
                </a:solidFill>
                <a:latin typeface="Calibri"/>
              </a:rPr>
              <a:t>•  «When the condition lasts longer than 6 weeks, it is called chronic hives».</a:t>
            </a:r>
          </a:p>
          <a:p>
            <a:pPr>
              <a:spcAft>
                <a:spcPts val="200"/>
              </a:spcAft>
            </a:pPr>
            <a:r>
              <a:rPr sz="1050" b="0">
                <a:solidFill>
                  <a:srgbClr val="5A6A6D"/>
                </a:solidFill>
                <a:latin typeface="Calibri"/>
              </a:rPr>
              <a:t>•  «Call 911 or the local emergency number if you have:» … «Tightness in your throat» … «Shortness of breath».</a:t>
            </a:r>
          </a:p>
        </p:txBody>
      </p:sp>
      <p:sp>
        <p:nvSpPr>
          <p:cNvPr id="6" name="TextBox 5"/>
          <p:cNvSpPr txBox="1"/>
          <p:nvPr/>
        </p:nvSpPr>
        <p:spPr>
          <a:xfrm>
            <a:off x="355000" y="6050000"/>
            <a:ext cx="11500000" cy="700000"/>
          </a:xfrm>
          <a:prstGeom prst="rect">
            <a:avLst/>
          </a:prstGeom>
          <a:noFill/>
        </p:spPr>
        <p:txBody>
          <a:bodyPr wrap="square" anchor="t" lIns="0" rIns="0" tIns="0" bIns="0">
            <a:spAutoFit/>
          </a:bodyPr>
          <a:lstStyle/>
          <a:p>
            <a:r>
              <a:rPr sz="1100" b="1">
                <a:solidFill>
                  <a:srgbClr val="E0584D"/>
                </a:solidFill>
                <a:latin typeface="Calibri"/>
              </a:rPr>
              <a:t>[R] </a:t>
            </a:r>
            <a:r>
              <a:rPr sz="1100" b="0">
                <a:solidFill>
                  <a:srgbClr val="22383F"/>
                </a:solidFill>
                <a:latin typeface="Calibri"/>
              </a:rPr>
              <a:t>Reunión «Revisión | Ajustes novartis», 22 de octubre de 2026 (notas de Gemini). </a:t>
            </a:r>
            <a:r>
              <a:rPr sz="1100" b="1">
                <a:solidFill>
                  <a:srgbClr val="22383F"/>
                </a:solidFill>
                <a:latin typeface="Calibri"/>
              </a:rPr>
              <a:t>Las citas están en inglés porque así están publicadas; los textos propuestos en español son redacción nuestra y requieren validación médica.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27</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APROBACIÓN</a:t>
            </a:r>
          </a:p>
          <a:p>
            <a:r>
              <a:rPr sz="2000" b="1">
                <a:solidFill>
                  <a:srgbClr val="22383F"/>
                </a:solidFill>
                <a:latin typeface="Calibri"/>
              </a:rPr>
              <a:t>Aprobación de los textos</a:t>
            </a:r>
          </a:p>
        </p:txBody>
      </p:sp>
      <p:sp>
        <p:nvSpPr>
          <p:cNvPr id="4" name="TextBox 3"/>
          <p:cNvSpPr txBox="1"/>
          <p:nvPr/>
        </p:nvSpPr>
        <p:spPr>
          <a:xfrm>
            <a:off x="355000" y="1100000"/>
            <a:ext cx="11000000" cy="1400000"/>
          </a:xfrm>
          <a:prstGeom prst="rect">
            <a:avLst/>
          </a:prstGeom>
          <a:noFill/>
        </p:spPr>
        <p:txBody>
          <a:bodyPr wrap="square" anchor="t" lIns="0" rIns="0" tIns="0" bIns="0">
            <a:spAutoFit/>
          </a:bodyPr>
          <a:lstStyle/>
          <a:p>
            <a:pPr>
              <a:spcAft>
                <a:spcPts val="1800"/>
              </a:spcAft>
            </a:pPr>
            <a:r>
              <a:rPr sz="1800" b="0">
                <a:solidFill>
                  <a:srgbClr val="22383F"/>
                </a:solidFill>
                <a:latin typeface="Calibri"/>
              </a:rPr>
              <a:t>Con los comentarios incorporados en esta presentación, los textos propuestos quedan aprobados.</a:t>
            </a:r>
          </a:p>
          <a:p>
            <a:r>
              <a:rPr sz="1400" b="0">
                <a:solidFill>
                  <a:srgbClr val="5A6A6D"/>
                </a:solidFill>
                <a:latin typeface="Calibri"/>
              </a:rPr>
              <a:t>También se puede responder por correo con una línea: «Aprobado, salvo lo comentado».</a:t>
            </a:r>
          </a:p>
        </p:txBody>
      </p:sp>
      <p:sp>
        <p:nvSpPr>
          <p:cNvPr id="5" name="TextBox 4"/>
          <p:cNvSpPr txBox="1"/>
          <p:nvPr/>
        </p:nvSpPr>
        <p:spPr>
          <a:xfrm>
            <a:off x="355000" y="3200000"/>
            <a:ext cx="2400000" cy="400000"/>
          </a:xfrm>
          <a:prstGeom prst="rect">
            <a:avLst/>
          </a:prstGeom>
          <a:noFill/>
        </p:spPr>
        <p:txBody>
          <a:bodyPr wrap="square" anchor="t" lIns="0" rIns="0" tIns="0" bIns="0">
            <a:spAutoFit/>
          </a:bodyPr>
          <a:lstStyle/>
          <a:p>
            <a:r>
              <a:rPr sz="1400" b="1">
                <a:solidFill>
                  <a:srgbClr val="22383F"/>
                </a:solidFill>
                <a:latin typeface="Calibri"/>
              </a:rPr>
              <a:t>Aprobado por</a:t>
            </a:r>
          </a:p>
        </p:txBody>
      </p:sp>
      <p:cxnSp>
        <p:nvCxnSpPr>
          <p:cNvPr id="6" name="Connector 5"/>
          <p:cNvCxnSpPr/>
          <p:nvPr/>
        </p:nvCxnSpPr>
        <p:spPr>
          <a:xfrm>
            <a:off x="2700000" y="3530000"/>
            <a:ext cx="6000000" cy="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55000" y="4100000"/>
            <a:ext cx="2400000" cy="400000"/>
          </a:xfrm>
          <a:prstGeom prst="rect">
            <a:avLst/>
          </a:prstGeom>
          <a:noFill/>
        </p:spPr>
        <p:txBody>
          <a:bodyPr wrap="square" anchor="t" lIns="0" rIns="0" tIns="0" bIns="0">
            <a:spAutoFit/>
          </a:bodyPr>
          <a:lstStyle/>
          <a:p>
            <a:r>
              <a:rPr sz="1400" b="1">
                <a:solidFill>
                  <a:srgbClr val="22383F"/>
                </a:solidFill>
                <a:latin typeface="Calibri"/>
              </a:rPr>
              <a:t>Cargo</a:t>
            </a:r>
          </a:p>
        </p:txBody>
      </p:sp>
      <p:cxnSp>
        <p:nvCxnSpPr>
          <p:cNvPr id="8" name="Connector 7"/>
          <p:cNvCxnSpPr/>
          <p:nvPr/>
        </p:nvCxnSpPr>
        <p:spPr>
          <a:xfrm>
            <a:off x="2700000" y="4430000"/>
            <a:ext cx="6000000" cy="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55000" y="5000000"/>
            <a:ext cx="2400000" cy="400000"/>
          </a:xfrm>
          <a:prstGeom prst="rect">
            <a:avLst/>
          </a:prstGeom>
          <a:noFill/>
        </p:spPr>
        <p:txBody>
          <a:bodyPr wrap="square" anchor="t" lIns="0" rIns="0" tIns="0" bIns="0">
            <a:spAutoFit/>
          </a:bodyPr>
          <a:lstStyle/>
          <a:p>
            <a:r>
              <a:rPr sz="1400" b="1">
                <a:solidFill>
                  <a:srgbClr val="22383F"/>
                </a:solidFill>
                <a:latin typeface="Calibri"/>
              </a:rPr>
              <a:t>Fecha</a:t>
            </a:r>
          </a:p>
        </p:txBody>
      </p:sp>
      <p:cxnSp>
        <p:nvCxnSpPr>
          <p:cNvPr id="10" name="Connector 9"/>
          <p:cNvCxnSpPr/>
          <p:nvPr/>
        </p:nvCxnSpPr>
        <p:spPr>
          <a:xfrm>
            <a:off x="2700000" y="5330000"/>
            <a:ext cx="6000000" cy="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