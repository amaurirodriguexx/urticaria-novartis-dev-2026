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5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584D"/>
                </a:solidFill>
              </a:defRPr>
            </a:pPr>
            <a:r>
              <a:t>NOVARTIS MÉXICO · MÁS QUE URTICARIA</a:t>
            </a:r>
          </a:p>
          <a:p>
            <a:pPr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Catálogo Visual de Pantallas &amp; Flujos</a:t>
            </a:r>
          </a:p>
          <a:p>
            <a:pPr>
              <a:spcBef>
                <a:spcPts val="1600"/>
              </a:spcBef>
              <a:defRPr sz="1800">
                <a:solidFill>
                  <a:srgbClr val="C8D7DC"/>
                </a:solidFill>
              </a:defRPr>
            </a:pPr>
            <a:r>
              <a:t>Capturas completas de la primera sección visible (viewport laptop 1366 × 768), organizadas por secciones temáticas:</a:t>
            </a:r>
            <a:br/>
            <a:r>
              <a:t>Home, Landings Informativas, Recursos, Quiz Orientativo y Directorio Médico.</a:t>
            </a:r>
          </a:p>
          <a:p>
            <a:pPr>
              <a:spcBef>
                <a:spcPts val="2800"/>
              </a:spcBef>
              <a:defRPr sz="1200">
                <a:solidFill>
                  <a:srgbClr val="A0B4B9"/>
                </a:solidFill>
              </a:defRPr>
            </a:pPr>
            <a:r>
              <a:t>Octubre 2026 | Responsables: Amauri Rodríguez Santos / Edward Alarcón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584D"/>
                </a:solidFill>
              </a:defRPr>
            </a:pPr>
            <a:r>
              <a:t>ESTRUCTURA DEL SITIO WEB</a:t>
            </a:r>
          </a:p>
          <a:p>
            <a:pPr>
              <a:defRPr sz="2400" b="1">
                <a:solidFill>
                  <a:srgbClr val="22383F"/>
                </a:solidFill>
              </a:defRPr>
            </a:pPr>
            <a:r>
              <a:t>Índice de Secciones y Pantallas (45 Pantallas)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057400" cy="4572000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DC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584D"/>
                </a:solidFill>
              </a:defRPr>
            </a:pPr>
            <a:r>
              <a:t>SECCIÓN 01</a:t>
            </a:r>
          </a:p>
          <a:p>
            <a:pPr>
              <a:spcBef>
                <a:spcPts val="600"/>
              </a:spcBef>
              <a:defRPr sz="1300" b="1">
                <a:solidFill>
                  <a:srgbClr val="22383F"/>
                </a:solidFill>
              </a:defRPr>
            </a:pPr>
            <a:r>
              <a:t>HOME Y VARIANTES CONTEXTUALES</a:t>
            </a:r>
          </a:p>
          <a:p>
            <a:pPr>
              <a:spcBef>
                <a:spcPts val="800"/>
              </a:spcBef>
              <a:defRPr sz="1200" b="1">
                <a:solidFill>
                  <a:srgbClr val="E0584D"/>
                </a:solidFill>
              </a:defRPr>
            </a:pPr>
            <a:r>
              <a:t>5 Vistas</a:t>
            </a:r>
          </a:p>
          <a:p>
            <a:pPr>
              <a:spcBef>
                <a:spcPts val="1000"/>
              </a:spcBef>
              <a:defRPr sz="950">
                <a:solidFill>
                  <a:srgbClr val="5A6A6D"/>
                </a:solidFill>
              </a:defRPr>
            </a:pPr>
            <a:r>
              <a:t>Portadas de inicio dinámicas adaptadas según clima y hora (Día, Calor, Frío, Madrugada y Noche).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53512" y="1554480"/>
            <a:ext cx="2057400" cy="4572000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DC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81A8"/>
                </a:solidFill>
              </a:defRPr>
            </a:pPr>
            <a:r>
              <a:t>SECCIÓN 02</a:t>
            </a:r>
          </a:p>
          <a:p>
            <a:pPr>
              <a:spcBef>
                <a:spcPts val="600"/>
              </a:spcBef>
              <a:defRPr sz="1300" b="1">
                <a:solidFill>
                  <a:srgbClr val="22383F"/>
                </a:solidFill>
              </a:defRPr>
            </a:pPr>
            <a:r>
              <a:t>LANDINGS INFORMATIVAS Y CLÍNICAS</a:t>
            </a:r>
          </a:p>
          <a:p>
            <a:pPr>
              <a:spcBef>
                <a:spcPts val="800"/>
              </a:spcBef>
              <a:defRPr sz="1200" b="1">
                <a:solidFill>
                  <a:srgbClr val="0081A8"/>
                </a:solidFill>
              </a:defRPr>
            </a:pPr>
            <a:r>
              <a:t>4 Vistas</a:t>
            </a:r>
          </a:p>
          <a:p>
            <a:pPr>
              <a:spcBef>
                <a:spcPts val="1000"/>
              </a:spcBef>
              <a:defRPr sz="950">
                <a:solidFill>
                  <a:srgbClr val="5A6A6D"/>
                </a:solidFill>
              </a:defRPr>
            </a:pPr>
            <a:r>
              <a:t>Páginas completas de contenidos médicos, tratamientos, información institucional y error 404.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75504" y="1554480"/>
            <a:ext cx="2057400" cy="4572000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DC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A6A6D"/>
                </a:solidFill>
              </a:defRPr>
            </a:pPr>
            <a:r>
              <a:t>SECCIÓN 03</a:t>
            </a:r>
          </a:p>
          <a:p>
            <a:pPr>
              <a:spcBef>
                <a:spcPts val="600"/>
              </a:spcBef>
              <a:defRPr sz="1300" b="1">
                <a:solidFill>
                  <a:srgbClr val="22383F"/>
                </a:solidFill>
              </a:defRPr>
            </a:pPr>
            <a:r>
              <a:t>RECURSOS Y HERRAMIENTAS</a:t>
            </a:r>
          </a:p>
          <a:p>
            <a:pPr>
              <a:spcBef>
                <a:spcPts val="800"/>
              </a:spcBef>
              <a:defRPr sz="1200" b="1">
                <a:solidFill>
                  <a:srgbClr val="5A6A6D"/>
                </a:solidFill>
              </a:defRPr>
            </a:pPr>
            <a:r>
              <a:t>4 Vistas</a:t>
            </a:r>
          </a:p>
          <a:p>
            <a:pPr>
              <a:spcBef>
                <a:spcPts val="1000"/>
              </a:spcBef>
              <a:defRPr sz="950">
                <a:solidFill>
                  <a:srgbClr val="5A6A6D"/>
                </a:solidFill>
              </a:defRPr>
            </a:pPr>
            <a:r>
              <a:t>Hub de selección de herramientas, bitácora del diario de síntomas, comunidad y biblioteca visual.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97496" y="1554480"/>
            <a:ext cx="2057400" cy="4572000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DC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584D"/>
                </a:solidFill>
              </a:defRPr>
            </a:pPr>
            <a:r>
              <a:t>SECCIÓN 04</a:t>
            </a:r>
          </a:p>
          <a:p>
            <a:pPr>
              <a:spcBef>
                <a:spcPts val="600"/>
              </a:spcBef>
              <a:defRPr sz="1300" b="1">
                <a:solidFill>
                  <a:srgbClr val="22383F"/>
                </a:solidFill>
              </a:defRPr>
            </a:pPr>
            <a:r>
              <a:t>QUIZ ORIENTATIVO &amp; URGENCIAS</a:t>
            </a:r>
          </a:p>
          <a:p>
            <a:pPr>
              <a:spcBef>
                <a:spcPts val="800"/>
              </a:spcBef>
              <a:defRPr sz="1200" b="1">
                <a:solidFill>
                  <a:srgbClr val="E0584D"/>
                </a:solidFill>
              </a:defRPr>
            </a:pPr>
            <a:r>
              <a:t>27 Vistas</a:t>
            </a:r>
          </a:p>
          <a:p>
            <a:pPr>
              <a:spcBef>
                <a:spcPts val="1000"/>
              </a:spcBef>
              <a:defRPr sz="950">
                <a:solidFill>
                  <a:srgbClr val="5A6A6D"/>
                </a:solidFill>
              </a:defRPr>
            </a:pPr>
            <a:r>
              <a:t>Flujo interactivo completo del cuestionario clínico (Q0 a Q19), alerta 911 y pantallas de resultados.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1554480"/>
            <a:ext cx="2057400" cy="4572000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DC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81A8"/>
                </a:solidFill>
              </a:defRPr>
            </a:pPr>
            <a:r>
              <a:t>SECCIÓN 05</a:t>
            </a:r>
          </a:p>
          <a:p>
            <a:pPr>
              <a:spcBef>
                <a:spcPts val="600"/>
              </a:spcBef>
              <a:defRPr sz="1300" b="1">
                <a:solidFill>
                  <a:srgbClr val="22383F"/>
                </a:solidFill>
              </a:defRPr>
            </a:pPr>
            <a:r>
              <a:t>DIRECTORIO MÉDICO &amp; BLOG EDITORIAL</a:t>
            </a:r>
          </a:p>
          <a:p>
            <a:pPr>
              <a:spcBef>
                <a:spcPts val="800"/>
              </a:spcBef>
              <a:defRPr sz="1200" b="1">
                <a:solidFill>
                  <a:srgbClr val="0081A8"/>
                </a:solidFill>
              </a:defRPr>
            </a:pPr>
            <a:r>
              <a:t>5 Vistas</a:t>
            </a:r>
          </a:p>
          <a:p>
            <a:pPr>
              <a:spcBef>
                <a:spcPts val="1000"/>
              </a:spcBef>
              <a:defRPr sz="950">
                <a:solidFill>
                  <a:srgbClr val="5A6A6D"/>
                </a:solidFill>
              </a:defRPr>
            </a:pPr>
            <a:r>
              <a:t>Landing del directorio de especialistas en México y artículos de lectura educativa.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584D"/>
                </a:solidFill>
              </a:defRPr>
            </a:pPr>
            <a:r>
              <a:t>SECCIÓN 01 · DIVISIÓN DE VISTAS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HOME Y VARIANTES CONTEXTUALES</a:t>
            </a:r>
          </a:p>
          <a:p>
            <a:pPr>
              <a:spcBef>
                <a:spcPts val="1400"/>
              </a:spcBef>
              <a:defRPr sz="1600">
                <a:solidFill>
                  <a:srgbClr val="C8D7DC"/>
                </a:solidFill>
              </a:defRPr>
            </a:pPr>
            <a:r>
              <a:t>Portadas de inicio dinámicas adaptadas según clima y hora (Día, Calor, Frío, Madrugada y Noche).</a:t>
            </a:r>
            <a:br/>
            <a:r>
              <a:t>Total de pantallas en este bloque: 5 vistas a pantalla completa.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 ·  VISTA 01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Home Principal — Escenario Día (General)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home_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 ·  VISTA 02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Home Principal — Escenario Calor (Temperatura Alta / Sol)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home_ca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 ·  VISTA 03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Home Principal — Escenario Frío (Invierno / Aire Helado)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home_f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 ·  VISTA 04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Home Principal — Escenario Madrugada (Modo Oscuro 2am - 5am)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home_madrug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HOME  ·  VISTA 05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Home Principal — Escenario Noche Cálida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home_noche_ca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584D"/>
                </a:solidFill>
              </a:defRPr>
            </a:pPr>
            <a:r>
              <a:t>SECCIÓN 02 · DIVISIÓN DE VISTAS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LANDINGS INFORMATIVAS Y CLÍNICAS</a:t>
            </a:r>
          </a:p>
          <a:p>
            <a:pPr>
              <a:spcBef>
                <a:spcPts val="1400"/>
              </a:spcBef>
              <a:defRPr sz="1600">
                <a:solidFill>
                  <a:srgbClr val="C8D7DC"/>
                </a:solidFill>
              </a:defRPr>
            </a:pPr>
            <a:r>
              <a:t>Páginas completas de contenidos médicos, tratamientos, información institucional y error 404.</a:t>
            </a:r>
            <a:br/>
            <a:r>
              <a:t>Total de pantallas en este bloque: 4 vistas a pantalla completa.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 ·  VISTA 06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Síntomas de la Urticaria Crónica Espontánea (/sintomas/)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sinto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 ·  VISTA 07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Tratamientos para la UCE (/tratamiento/)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trata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 ·  VISTA 08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Sobre Nosotros — Más que Urticaria (/sobre-nosotros/)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sobre_nosot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LANDINGS INFORMATIVAS  ·  VISTA 09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Página de Error 404 (Ruta no encontrada)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error_4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584D"/>
                </a:solidFill>
              </a:defRPr>
            </a:pPr>
            <a:r>
              <a:t>SECCIÓN 03 · DIVISIÓN DE VISTAS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RECURSOS Y HERRAMIENTAS</a:t>
            </a:r>
          </a:p>
          <a:p>
            <a:pPr>
              <a:spcBef>
                <a:spcPts val="1400"/>
              </a:spcBef>
              <a:defRPr sz="1600">
                <a:solidFill>
                  <a:srgbClr val="C8D7DC"/>
                </a:solidFill>
              </a:defRPr>
            </a:pPr>
            <a:r>
              <a:t>Hub de selección de herramientas, bitácora del diario de síntomas, comunidad y biblioteca visual.</a:t>
            </a:r>
            <a:br/>
            <a:r>
              <a:t>Total de pantallas en este bloque: 4 vistas a pantalla completa.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 ·  VISTA 10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Hub de Recursos y Herramientas (/recursos-herramientas/)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_recursos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 ·  VISTA 11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Diario de Síntomas — Bitácora Interactiva (/diario/)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_diario_sinto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 ·  VISTA 12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Testimonios y Comunidad — 'No lo estás imaginando' (/testimonios/)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testimonios_comun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RECURSOS Y HERRAMIENTAS  ·  VISTA 13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Biblioteca Visual — Ficha de Fototipo por Tono de Piel (Modal Lightbox)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9_biblioteca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584D"/>
                </a:solidFill>
              </a:defRPr>
            </a:pPr>
            <a:r>
              <a:t>SECCIÓN 04 · DIVISIÓN DE VISTAS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QUIZ ORIENTATIVO &amp; URGENCIAS</a:t>
            </a:r>
          </a:p>
          <a:p>
            <a:pPr>
              <a:spcBef>
                <a:spcPts val="1400"/>
              </a:spcBef>
              <a:defRPr sz="1600">
                <a:solidFill>
                  <a:srgbClr val="C8D7DC"/>
                </a:solidFill>
              </a:defRPr>
            </a:pPr>
            <a:r>
              <a:t>Flujo interactivo completo del cuestionario clínico (Q0 a Q19), alerta 911 y pantallas de resultados.</a:t>
            </a:r>
            <a:br/>
            <a:r>
              <a:t>Total de pantallas en este bloque: 27 vistas a pantalla completa.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14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Landing Introductoria del Test de Síntomas (/test/)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8_quiz_intro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15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0 — Nombre / Personalización (Opcional)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4_quiz_q0_n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16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1 — Síntomas Experimentados (Ronchas, Picazón, Hinchazón)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_quiz_q1_sinto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17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1b — Descarte de Urgencia Crítica (Labios, lengua, garganta)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_quiz_q1b_descarte_urg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18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🚨 Pantalla de Urgencia Médica (Alerta Inmediata 911)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1_quiz_urgencia_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19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Modal Embebido de Especialistas (Buscador dentro del Quiz)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2_quiz_modal_direc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20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2 — Tiempo con Síntomas (&lt; 1 sem hasta &gt; 6 meses)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_quiz_q2_du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21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3 — Cantidad de Ronchas en 24h (Escala UAS7)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_quiz_q3_ronch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22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4 — Intensidad de la Comezón (Escala UAS7)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8_quiz_q4_pica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23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5 — Severidad de la Hinchazón / Angioedema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9_quiz_q5_hincha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24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6 — Áreas de Calidad de Vida Afectadas (CU-Q2oL)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0_quiz_q6_calidad_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25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7 — Interferencia en Actividades Diarias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1_quiz_q7_activid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26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8 — Afectación en Relaciones Familiares y Sociales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2_quiz_q8_soci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27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8b — Afectación en Vida Sexual e Intimidad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3_quiz_q8b_sex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28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9 — Influencia en la Ropa y Vestimenta que Usas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4_quiz_q9_vestim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29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10 — Afectación en Trabajo o Estudios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5_quiz_q10_traba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30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11 — Afectación en Calidad de Sueño (Insomnio nocturno)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6_quiz_q11_sue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31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12 — Posibles Desencadenantes (Calor, frío, estrés, sudor)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7_quiz_q12_deton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32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13 — Momento del Día de Mayor Intensidad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8_quiz_q13_hor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33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14 — ¿Has Consultado Previamente a un Médico?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_quiz_q14_consulta_prev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34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15 — Frecuencia de Consulta Médica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0_quiz_q15_frecuencia_consu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35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16 — Especialistas Consultados (Dermatólogo, Alergólogo, General)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1_quiz_q16_especial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36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17 — ¿Has Tomado o Aplicado Tratamiento Previo?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2_quiz_q17_tratamiento_prev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37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18 — Tipo de Tratamiento Recibido (Básico, Intermedio, Avanzado)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3_quiz_q18_tipo_trata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38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Paso 19 — Efectividad Percibida del Tratamiento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4_quiz_q19_efectiv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39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Pantalla de Resultados — Reporte Clínico Completo (Score Ben, PDF y CTA)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5_quiz_resultado_reporte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QUIZ ORIENTATIVO  ·  VISTA 40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Pantalla de Resultados — Ruta Asintomática (Ningún síntoma en Paso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3_quiz_resultado_asintoma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584D"/>
                </a:solidFill>
              </a:defRPr>
            </a:pPr>
            <a:r>
              <a:t>SECCIÓN 05 · DIVISIÓN DE VISTAS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DIRECTORIO MÉDICO &amp; BLOG EDITORIAL</a:t>
            </a:r>
          </a:p>
          <a:p>
            <a:pPr>
              <a:spcBef>
                <a:spcPts val="1400"/>
              </a:spcBef>
              <a:defRPr sz="1600">
                <a:solidFill>
                  <a:srgbClr val="C8D7DC"/>
                </a:solidFill>
              </a:defRPr>
            </a:pPr>
            <a:r>
              <a:t>Landing del directorio de especialistas en México y artículos de lectura educativa.</a:t>
            </a:r>
            <a:br/>
            <a:r>
              <a:t>Total de pantallas en este bloque: 5 vistas a pantalla completa.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 ·  VISTA 41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Directorio Médico de Especialistas — Landing Principal (/directorio-medico/)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3_directorio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 ·  VISTA 42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Blog Editorial — Catálogo de Temas (/blog/)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4_blog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 ·  VISTA 43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Artículo Blog 1: ¿Qué significa UCE? (/blog/que-significa-uce/)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_blog_articulo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 ·  VISTA 44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Artículo Blog 2: Guía para preparar tu consulta (/blog/preparar-consulta/)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6_blog_articulo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84D"/>
                </a:solidFill>
              </a:defRPr>
            </a:pPr>
            <a:r>
              <a:t>SECCIÓN: DIRECTORIO &amp; BLOG  ·  VISTA 45 DE 45</a:t>
            </a:r>
          </a:p>
          <a:p>
            <a:pPr>
              <a:defRPr sz="1700" b="1">
                <a:solidFill>
                  <a:srgbClr val="22383F"/>
                </a:solidFill>
              </a:defRPr>
            </a:pPr>
            <a:r>
              <a:t>Artículo Blog 3: Mitos sobre dietas restrictivas (/blog/dietas-restrictivas-uce/)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7_blog_articulo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95" y="960120"/>
            <a:ext cx="10164960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